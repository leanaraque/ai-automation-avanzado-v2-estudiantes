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5143500" cx="9144000"/>
  <p:notesSz cx="6858000" cy="9144000"/>
  <p:embeddedFontLst>
    <p:embeddedFont>
      <p:font typeface="Plus Jakarta Sans ExtraBold"/>
      <p:bold r:id="rId44"/>
      <p:boldItalic r:id="rId45"/>
    </p:embeddedFont>
    <p:embeddedFont>
      <p:font typeface="Plus Jakarta Sans"/>
      <p:regular r:id="rId46"/>
      <p:bold r:id="rId47"/>
      <p:italic r:id="rId48"/>
      <p:boldItalic r:id="rId49"/>
    </p:embeddedFont>
    <p:embeddedFont>
      <p:font typeface="Plus Jakarta Sans Light"/>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4" roundtripDataSignature="AMtx7mi/iawLZ2nPzy2zE3QjANGIcSxX4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PlusJakartaSansExtraBold-bold.fntdata"/><Relationship Id="rId43" Type="http://schemas.openxmlformats.org/officeDocument/2006/relationships/slide" Target="slides/slide38.xml"/><Relationship Id="rId46" Type="http://schemas.openxmlformats.org/officeDocument/2006/relationships/font" Target="fonts/PlusJakartaSans-regular.fntdata"/><Relationship Id="rId45" Type="http://schemas.openxmlformats.org/officeDocument/2006/relationships/font" Target="fonts/PlusJakartaSansExtraBold-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PlusJakartaSans-italic.fntdata"/><Relationship Id="rId47" Type="http://schemas.openxmlformats.org/officeDocument/2006/relationships/font" Target="fonts/PlusJakartaSans-bold.fntdata"/><Relationship Id="rId49" Type="http://schemas.openxmlformats.org/officeDocument/2006/relationships/font" Target="fonts/PlusJakartaSans-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PlusJakartaSansLight-bold.fntdata"/><Relationship Id="rId50" Type="http://schemas.openxmlformats.org/officeDocument/2006/relationships/font" Target="fonts/PlusJakartaSansLight-regular.fntdata"/><Relationship Id="rId53" Type="http://schemas.openxmlformats.org/officeDocument/2006/relationships/font" Target="fonts/PlusJakartaSansLight-boldItalic.fntdata"/><Relationship Id="rId52" Type="http://schemas.openxmlformats.org/officeDocument/2006/relationships/font" Target="fonts/PlusJakartaSansLight-italic.fntdata"/><Relationship Id="rId11" Type="http://schemas.openxmlformats.org/officeDocument/2006/relationships/slide" Target="slides/slide6.xml"/><Relationship Id="rId10" Type="http://schemas.openxmlformats.org/officeDocument/2006/relationships/slide" Target="slides/slide5.xml"/><Relationship Id="rId54"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f58731ba4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g3f58731ba4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3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3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3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3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adiente">
  <p:cSld name="BLANK_1">
    <p:spTree>
      <p:nvGrpSpPr>
        <p:cNvPr id="9" name="Shape 9"/>
        <p:cNvGrpSpPr/>
        <p:nvPr/>
      </p:nvGrpSpPr>
      <p:grpSpPr>
        <a:xfrm>
          <a:off x="0" y="0"/>
          <a:ext cx="0" cy="0"/>
          <a:chOff x="0" y="0"/>
          <a:chExt cx="0" cy="0"/>
        </a:xfrm>
      </p:grpSpPr>
      <p:pic>
        <p:nvPicPr>
          <p:cNvPr id="10" name="Google Shape;10;p41" title="Coder Facebook (6).png"/>
          <p:cNvPicPr preferRelativeResize="0"/>
          <p:nvPr/>
        </p:nvPicPr>
        <p:blipFill rotWithShape="1">
          <a:blip r:embed="rId2">
            <a:alphaModFix/>
          </a:blip>
          <a:srcRect b="0" l="0" r="0" t="0"/>
          <a:stretch/>
        </p:blipFill>
        <p:spPr>
          <a:xfrm>
            <a:off x="-111725" y="0"/>
            <a:ext cx="9255725" cy="520635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co 1">
  <p:cSld name="BLANK_3">
    <p:bg>
      <p:bgPr>
        <a:solidFill>
          <a:schemeClr val="lt1"/>
        </a:solidFill>
      </p:bgPr>
    </p:bg>
    <p:spTree>
      <p:nvGrpSpPr>
        <p:cNvPr id="11" name="Shape 11"/>
        <p:cNvGrpSpPr/>
        <p:nvPr/>
      </p:nvGrpSpPr>
      <p:grpSpPr>
        <a:xfrm>
          <a:off x="0" y="0"/>
          <a:ext cx="0" cy="0"/>
          <a:chOff x="0" y="0"/>
          <a:chExt cx="0" cy="0"/>
        </a:xfrm>
      </p:grpSpPr>
      <p:sp>
        <p:nvSpPr>
          <p:cNvPr id="12" name="Google Shape;12;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
        <p:nvSpPr>
          <p:cNvPr id="13" name="Google Shape;13;p42"/>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Coderhouse</a:t>
            </a:r>
            <a:endParaRPr b="0" i="0" sz="500" u="none" cap="none" strike="noStrike">
              <a:solidFill>
                <a:srgbClr val="222224"/>
              </a:solidFill>
              <a:latin typeface="Plus Jakarta Sans"/>
              <a:ea typeface="Plus Jakarta Sans"/>
              <a:cs typeface="Plus Jakarta Sans"/>
              <a:sym typeface="Plus Jakarta Sans"/>
            </a:endParaRPr>
          </a:p>
        </p:txBody>
      </p:sp>
      <p:sp>
        <p:nvSpPr>
          <p:cNvPr id="14" name="Google Shape;14;p42"/>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Internal  Presentation</a:t>
            </a:r>
            <a:endParaRPr b="0" i="0" sz="500" u="none" cap="none" strike="noStrike">
              <a:solidFill>
                <a:srgbClr val="222224"/>
              </a:solidFill>
              <a:latin typeface="Plus Jakarta Sans"/>
              <a:ea typeface="Plus Jakarta Sans"/>
              <a:cs typeface="Plus Jakarta Sans"/>
              <a:sym typeface="Plus Jakarta Sans"/>
            </a:endParaRPr>
          </a:p>
        </p:txBody>
      </p:sp>
      <p:sp>
        <p:nvSpPr>
          <p:cNvPr id="15" name="Google Shape;15;p42"/>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222224"/>
                </a:solidFill>
                <a:latin typeface="Plus Jakarta Sans"/>
                <a:ea typeface="Plus Jakarta Sans"/>
                <a:cs typeface="Plus Jakarta Sans"/>
                <a:sym typeface="Plus Jakarta Sans"/>
              </a:rPr>
              <a:t>2026</a:t>
            </a:r>
            <a:endParaRPr b="0" i="0" sz="500" u="none" cap="none" strike="noStrike">
              <a:solidFill>
                <a:srgbClr val="222224"/>
              </a:solidFill>
              <a:latin typeface="Plus Jakarta Sans"/>
              <a:ea typeface="Plus Jakarta Sans"/>
              <a:cs typeface="Plus Jakarta Sans"/>
              <a:sym typeface="Plus Jakarta Sans"/>
            </a:endParaRPr>
          </a:p>
        </p:txBody>
      </p:sp>
      <p:sp>
        <p:nvSpPr>
          <p:cNvPr id="16" name="Google Shape;16;p42"/>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222224"/>
                </a:solidFill>
                <a:latin typeface="Plus Jakarta Sans"/>
                <a:ea typeface="Plus Jakarta Sans"/>
                <a:cs typeface="Plus Jakarta Sans"/>
                <a:sym typeface="Plus Jakarta Sans"/>
              </a:rPr>
              <a:t>‹#›</a:t>
            </a:fld>
            <a:endParaRPr b="0" i="0" sz="500" u="none" cap="none" strike="noStrike">
              <a:solidFill>
                <a:srgbClr val="222224"/>
              </a:solidFill>
              <a:latin typeface="Plus Jakarta Sans"/>
              <a:ea typeface="Plus Jakarta Sans"/>
              <a:cs typeface="Plus Jakarta Sans"/>
              <a:sym typeface="Plus Jakarta Sa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eige" type="blank">
  <p:cSld name="BLANK">
    <p:bg>
      <p:bgPr>
        <a:solidFill>
          <a:srgbClr val="F8F2E8"/>
        </a:solidFill>
      </p:bgPr>
    </p:bg>
    <p:spTree>
      <p:nvGrpSpPr>
        <p:cNvPr id="17" name="Shape 17"/>
        <p:cNvGrpSpPr/>
        <p:nvPr/>
      </p:nvGrpSpPr>
      <p:grpSpPr>
        <a:xfrm>
          <a:off x="0" y="0"/>
          <a:ext cx="0" cy="0"/>
          <a:chOff x="0" y="0"/>
          <a:chExt cx="0" cy="0"/>
        </a:xfrm>
      </p:grpSpPr>
      <p:sp>
        <p:nvSpPr>
          <p:cNvPr id="18" name="Google Shape;18;p4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ranja">
  <p:cSld name="BLANK_2_1_1">
    <p:bg>
      <p:bgPr>
        <a:solidFill>
          <a:srgbClr val="FF632B"/>
        </a:solidFill>
      </p:bgPr>
    </p:bg>
    <p:spTree>
      <p:nvGrpSpPr>
        <p:cNvPr id="19" name="Shape 19"/>
        <p:cNvGrpSpPr/>
        <p:nvPr/>
      </p:nvGrpSpPr>
      <p:grpSpPr>
        <a:xfrm>
          <a:off x="0" y="0"/>
          <a:ext cx="0" cy="0"/>
          <a:chOff x="0" y="0"/>
          <a:chExt cx="0" cy="0"/>
        </a:xfrm>
      </p:grpSpPr>
      <p:sp>
        <p:nvSpPr>
          <p:cNvPr id="20" name="Google Shape;20;p4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rrón">
  <p:cSld name="BLANK_2_1">
    <p:bg>
      <p:bgPr>
        <a:solidFill>
          <a:srgbClr val="260700"/>
        </a:solidFill>
      </p:bgPr>
    </p:bg>
    <p:spTree>
      <p:nvGrpSpPr>
        <p:cNvPr id="21" name="Shape 21"/>
        <p:cNvGrpSpPr/>
        <p:nvPr/>
      </p:nvGrpSpPr>
      <p:grpSpPr>
        <a:xfrm>
          <a:off x="0" y="0"/>
          <a:ext cx="0" cy="0"/>
          <a:chOff x="0" y="0"/>
          <a:chExt cx="0" cy="0"/>
        </a:xfrm>
      </p:grpSpPr>
      <p:sp>
        <p:nvSpPr>
          <p:cNvPr id="22" name="Google Shape;2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cSld name="BLANK_3_1">
    <p:bg>
      <p:bgPr>
        <a:solidFill>
          <a:schemeClr val="lt1"/>
        </a:solidFill>
      </p:bgPr>
    </p:bg>
    <p:spTree>
      <p:nvGrpSpPr>
        <p:cNvPr id="23" name="Shape 23"/>
        <p:cNvGrpSpPr/>
        <p:nvPr/>
      </p:nvGrpSpPr>
      <p:grpSpPr>
        <a:xfrm>
          <a:off x="0" y="0"/>
          <a:ext cx="0" cy="0"/>
          <a:chOff x="0" y="0"/>
          <a:chExt cx="0" cy="0"/>
        </a:xfrm>
      </p:grpSpPr>
      <p:pic>
        <p:nvPicPr>
          <p:cNvPr id="24" name="Google Shape;24;p46" title="27800720-6c2b-4e33-a6ed-849e08f57757.png"/>
          <p:cNvPicPr preferRelativeResize="0"/>
          <p:nvPr/>
        </p:nvPicPr>
        <p:blipFill rotWithShape="1">
          <a:blip r:embed="rId2">
            <a:alphaModFix/>
          </a:blip>
          <a:srcRect b="53399" l="0" r="0" t="15047"/>
          <a:stretch/>
        </p:blipFill>
        <p:spPr>
          <a:xfrm>
            <a:off x="-45875" y="-37100"/>
            <a:ext cx="9235751" cy="5180600"/>
          </a:xfrm>
          <a:prstGeom prst="rect">
            <a:avLst/>
          </a:prstGeom>
          <a:noFill/>
          <a:ln>
            <a:noFill/>
          </a:ln>
        </p:spPr>
      </p:pic>
      <p:sp>
        <p:nvSpPr>
          <p:cNvPr id="25" name="Google Shape;25;p46"/>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26" name="Google Shape;26;p46"/>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27" name="Google Shape;27;p46"/>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28" name="Google Shape;28;p46"/>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osa">
  <p:cSld name="BLANK_2_1_1_1">
    <p:bg>
      <p:bgPr>
        <a:solidFill>
          <a:srgbClr val="FE64A3"/>
        </a:solidFill>
      </p:bgPr>
    </p:bg>
    <p:spTree>
      <p:nvGrpSpPr>
        <p:cNvPr id="29" name="Shape 29"/>
        <p:cNvGrpSpPr/>
        <p:nvPr/>
      </p:nvGrpSpPr>
      <p:grpSpPr>
        <a:xfrm>
          <a:off x="0" y="0"/>
          <a:ext cx="0" cy="0"/>
          <a:chOff x="0" y="0"/>
          <a:chExt cx="0" cy="0"/>
        </a:xfrm>
      </p:grpSpPr>
      <p:sp>
        <p:nvSpPr>
          <p:cNvPr id="30" name="Google Shape;30;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1">
  <p:cSld name="BLANK_3_1_1_1">
    <p:bg>
      <p:bgPr>
        <a:solidFill>
          <a:schemeClr val="lt1"/>
        </a:solidFill>
      </p:bgPr>
    </p:bg>
    <p:spTree>
      <p:nvGrpSpPr>
        <p:cNvPr id="31" name="Shape 31"/>
        <p:cNvGrpSpPr/>
        <p:nvPr/>
      </p:nvGrpSpPr>
      <p:grpSpPr>
        <a:xfrm>
          <a:off x="0" y="0"/>
          <a:ext cx="0" cy="0"/>
          <a:chOff x="0" y="0"/>
          <a:chExt cx="0" cy="0"/>
        </a:xfrm>
      </p:grpSpPr>
      <p:pic>
        <p:nvPicPr>
          <p:cNvPr id="32" name="Google Shape;32;p48" title="4d917f2d-7c08-49ef-b177-326a60a5c815.png"/>
          <p:cNvPicPr preferRelativeResize="0"/>
          <p:nvPr/>
        </p:nvPicPr>
        <p:blipFill rotWithShape="1">
          <a:blip r:embed="rId2">
            <a:alphaModFix/>
          </a:blip>
          <a:srcRect b="23542" l="0" r="0" t="34387"/>
          <a:stretch/>
        </p:blipFill>
        <p:spPr>
          <a:xfrm>
            <a:off x="-45875" y="-37100"/>
            <a:ext cx="9235753" cy="5180600"/>
          </a:xfrm>
          <a:prstGeom prst="rect">
            <a:avLst/>
          </a:prstGeom>
          <a:noFill/>
          <a:ln>
            <a:noFill/>
          </a:ln>
        </p:spPr>
      </p:pic>
      <p:sp>
        <p:nvSpPr>
          <p:cNvPr id="33" name="Google Shape;33;p48"/>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34" name="Google Shape;34;p48"/>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35" name="Google Shape;35;p48"/>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36" name="Google Shape;36;p48"/>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7" name="Shape 37"/>
        <p:cNvGrpSpPr/>
        <p:nvPr/>
      </p:nvGrpSpPr>
      <p:grpSpPr>
        <a:xfrm>
          <a:off x="0" y="0"/>
          <a:ext cx="0" cy="0"/>
          <a:chOff x="0" y="0"/>
          <a:chExt cx="0" cy="0"/>
        </a:xfrm>
      </p:grpSpPr>
      <p:sp>
        <p:nvSpPr>
          <p:cNvPr id="38" name="Google Shape;38;p4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39" name="Google Shape;39;p4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50"/>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43" name="Google Shape;43;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44" name="Shape 44"/>
        <p:cNvGrpSpPr/>
        <p:nvPr/>
      </p:nvGrpSpPr>
      <p:grpSpPr>
        <a:xfrm>
          <a:off x="0" y="0"/>
          <a:ext cx="0" cy="0"/>
          <a:chOff x="0" y="0"/>
          <a:chExt cx="0" cy="0"/>
        </a:xfrm>
      </p:grpSpPr>
      <p:sp>
        <p:nvSpPr>
          <p:cNvPr id="45" name="Google Shape;45;p5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46" name="Google Shape;46;p5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8" name="Shape 48"/>
        <p:cNvGrpSpPr/>
        <p:nvPr/>
      </p:nvGrpSpPr>
      <p:grpSpPr>
        <a:xfrm>
          <a:off x="0" y="0"/>
          <a:ext cx="0" cy="0"/>
          <a:chOff x="0" y="0"/>
          <a:chExt cx="0" cy="0"/>
        </a:xfrm>
      </p:grpSpPr>
      <p:sp>
        <p:nvSpPr>
          <p:cNvPr id="49" name="Google Shape;49;p5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0" name="Google Shape;50;p5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1" name="Google Shape;51;p5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2" name="Google Shape;52;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5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55" name="Google Shape;55;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56" name="Shape 56"/>
        <p:cNvGrpSpPr/>
        <p:nvPr/>
      </p:nvGrpSpPr>
      <p:grpSpPr>
        <a:xfrm>
          <a:off x="0" y="0"/>
          <a:ext cx="0" cy="0"/>
          <a:chOff x="0" y="0"/>
          <a:chExt cx="0" cy="0"/>
        </a:xfrm>
      </p:grpSpPr>
      <p:sp>
        <p:nvSpPr>
          <p:cNvPr id="57" name="Google Shape;57;p5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8" name="Google Shape;58;p5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59" name="Google Shape;59;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0" name="Shape 60"/>
        <p:cNvGrpSpPr/>
        <p:nvPr/>
      </p:nvGrpSpPr>
      <p:grpSpPr>
        <a:xfrm>
          <a:off x="0" y="0"/>
          <a:ext cx="0" cy="0"/>
          <a:chOff x="0" y="0"/>
          <a:chExt cx="0" cy="0"/>
        </a:xfrm>
      </p:grpSpPr>
      <p:sp>
        <p:nvSpPr>
          <p:cNvPr id="61" name="Google Shape;61;p5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62" name="Google Shape;62;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3" name="Shape 63"/>
        <p:cNvGrpSpPr/>
        <p:nvPr/>
      </p:nvGrpSpPr>
      <p:grpSpPr>
        <a:xfrm>
          <a:off x="0" y="0"/>
          <a:ext cx="0" cy="0"/>
          <a:chOff x="0" y="0"/>
          <a:chExt cx="0" cy="0"/>
        </a:xfrm>
      </p:grpSpPr>
      <p:sp>
        <p:nvSpPr>
          <p:cNvPr id="64" name="Google Shape;64;p5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5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66" name="Google Shape;66;p5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67" name="Google Shape;67;p5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8" name="Google Shape;68;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sp>
        <p:nvSpPr>
          <p:cNvPr id="70" name="Google Shape;70;p5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71" name="Google Shape;71;p5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2" name="Shape 72"/>
        <p:cNvGrpSpPr/>
        <p:nvPr/>
      </p:nvGrpSpPr>
      <p:grpSpPr>
        <a:xfrm>
          <a:off x="0" y="0"/>
          <a:ext cx="0" cy="0"/>
          <a:chOff x="0" y="0"/>
          <a:chExt cx="0" cy="0"/>
        </a:xfrm>
      </p:grpSpPr>
      <p:sp>
        <p:nvSpPr>
          <p:cNvPr id="73" name="Google Shape;73;p5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74" name="Google Shape;74;p5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75" name="Google Shape;7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tardecer">
  <p:cSld name="BLANK_4">
    <p:bg>
      <p:bgPr>
        <a:solidFill>
          <a:srgbClr val="F8F2E8"/>
        </a:solidFill>
      </p:bgPr>
    </p:bg>
    <p:spTree>
      <p:nvGrpSpPr>
        <p:cNvPr id="76" name="Shape 76"/>
        <p:cNvGrpSpPr/>
        <p:nvPr/>
      </p:nvGrpSpPr>
      <p:grpSpPr>
        <a:xfrm>
          <a:off x="0" y="0"/>
          <a:ext cx="0" cy="0"/>
          <a:chOff x="0" y="0"/>
          <a:chExt cx="0" cy="0"/>
        </a:xfrm>
      </p:grpSpPr>
      <p:sp>
        <p:nvSpPr>
          <p:cNvPr id="77" name="Google Shape;7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pic>
        <p:nvPicPr>
          <p:cNvPr id="78" name="Google Shape;78;p59" title="Group 1321318181.png"/>
          <p:cNvPicPr preferRelativeResize="0"/>
          <p:nvPr/>
        </p:nvPicPr>
        <p:blipFill rotWithShape="1">
          <a:blip r:embed="rId2">
            <a:alphaModFix/>
          </a:blip>
          <a:srcRect b="0" l="0" r="0" t="0"/>
          <a:stretch/>
        </p:blipFill>
        <p:spPr>
          <a:xfrm>
            <a:off x="0" y="2076162"/>
            <a:ext cx="9143997" cy="306733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1">
  <p:cSld name="BLANK_3_1_1">
    <p:bg>
      <p:bgPr>
        <a:solidFill>
          <a:schemeClr val="lt1"/>
        </a:solidFill>
      </p:bgPr>
    </p:bg>
    <p:spTree>
      <p:nvGrpSpPr>
        <p:cNvPr id="79" name="Shape 79"/>
        <p:cNvGrpSpPr/>
        <p:nvPr/>
      </p:nvGrpSpPr>
      <p:grpSpPr>
        <a:xfrm>
          <a:off x="0" y="0"/>
          <a:ext cx="0" cy="0"/>
          <a:chOff x="0" y="0"/>
          <a:chExt cx="0" cy="0"/>
        </a:xfrm>
      </p:grpSpPr>
      <p:pic>
        <p:nvPicPr>
          <p:cNvPr id="80" name="Google Shape;80;p60" title="pexels-dystopiasavagestudios-33048706 1.png"/>
          <p:cNvPicPr preferRelativeResize="0"/>
          <p:nvPr/>
        </p:nvPicPr>
        <p:blipFill rotWithShape="1">
          <a:blip r:embed="rId2">
            <a:alphaModFix/>
          </a:blip>
          <a:srcRect b="41728" l="0" r="0" t="13874"/>
          <a:stretch/>
        </p:blipFill>
        <p:spPr>
          <a:xfrm>
            <a:off x="-45875" y="-37100"/>
            <a:ext cx="9235753" cy="5180600"/>
          </a:xfrm>
          <a:prstGeom prst="rect">
            <a:avLst/>
          </a:prstGeom>
          <a:noFill/>
          <a:ln>
            <a:noFill/>
          </a:ln>
        </p:spPr>
      </p:pic>
      <p:sp>
        <p:nvSpPr>
          <p:cNvPr id="81" name="Google Shape;81;p60"/>
          <p:cNvSpPr txBox="1"/>
          <p:nvPr/>
        </p:nvSpPr>
        <p:spPr>
          <a:xfrm>
            <a:off x="476125" y="165026"/>
            <a:ext cx="6444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Coderhouse</a:t>
            </a:r>
            <a:endParaRPr b="0" i="0" sz="500" u="none" cap="none" strike="noStrike">
              <a:solidFill>
                <a:srgbClr val="F8F2E8"/>
              </a:solidFill>
              <a:latin typeface="Plus Jakarta Sans"/>
              <a:ea typeface="Plus Jakarta Sans"/>
              <a:cs typeface="Plus Jakarta Sans"/>
              <a:sym typeface="Plus Jakarta Sans"/>
            </a:endParaRPr>
          </a:p>
        </p:txBody>
      </p:sp>
      <p:sp>
        <p:nvSpPr>
          <p:cNvPr id="82" name="Google Shape;82;p60"/>
          <p:cNvSpPr txBox="1"/>
          <p:nvPr/>
        </p:nvSpPr>
        <p:spPr>
          <a:xfrm>
            <a:off x="6923014" y="165026"/>
            <a:ext cx="1188600" cy="188400"/>
          </a:xfrm>
          <a:prstGeom prst="rect">
            <a:avLst/>
          </a:prstGeom>
          <a:no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Internal  Presentation</a:t>
            </a:r>
            <a:endParaRPr b="0" i="0" sz="500" u="none" cap="none" strike="noStrike">
              <a:solidFill>
                <a:srgbClr val="F8F2E8"/>
              </a:solidFill>
              <a:latin typeface="Plus Jakarta Sans"/>
              <a:ea typeface="Plus Jakarta Sans"/>
              <a:cs typeface="Plus Jakarta Sans"/>
              <a:sym typeface="Plus Jakarta Sans"/>
            </a:endParaRPr>
          </a:p>
        </p:txBody>
      </p:sp>
      <p:sp>
        <p:nvSpPr>
          <p:cNvPr id="83" name="Google Shape;83;p60"/>
          <p:cNvSpPr txBox="1"/>
          <p:nvPr/>
        </p:nvSpPr>
        <p:spPr>
          <a:xfrm>
            <a:off x="2196557" y="165026"/>
            <a:ext cx="1242000" cy="1884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
              <a:buFont typeface="Arial"/>
              <a:buNone/>
            </a:pPr>
            <a:r>
              <a:rPr b="0" i="0" lang="es" sz="500" u="none" cap="none" strike="noStrike">
                <a:solidFill>
                  <a:srgbClr val="F8F2E8"/>
                </a:solidFill>
                <a:latin typeface="Plus Jakarta Sans"/>
                <a:ea typeface="Plus Jakarta Sans"/>
                <a:cs typeface="Plus Jakarta Sans"/>
                <a:sym typeface="Plus Jakarta Sans"/>
              </a:rPr>
              <a:t>2026</a:t>
            </a:r>
            <a:endParaRPr b="0" i="0" sz="500" u="none" cap="none" strike="noStrike">
              <a:solidFill>
                <a:srgbClr val="F8F2E8"/>
              </a:solidFill>
              <a:latin typeface="Plus Jakarta Sans"/>
              <a:ea typeface="Plus Jakarta Sans"/>
              <a:cs typeface="Plus Jakarta Sans"/>
              <a:sym typeface="Plus Jakarta Sans"/>
            </a:endParaRPr>
          </a:p>
        </p:txBody>
      </p:sp>
      <p:sp>
        <p:nvSpPr>
          <p:cNvPr id="84" name="Google Shape;84;p60"/>
          <p:cNvSpPr txBox="1"/>
          <p:nvPr/>
        </p:nvSpPr>
        <p:spPr>
          <a:xfrm>
            <a:off x="8373525" y="90649"/>
            <a:ext cx="369600" cy="337200"/>
          </a:xfrm>
          <a:prstGeom prst="rect">
            <a:avLst/>
          </a:prstGeom>
          <a:noFill/>
          <a:ln>
            <a:noFill/>
          </a:ln>
        </p:spPr>
        <p:txBody>
          <a:bodyPr anchorCtr="0" anchor="ctr" bIns="88475" lIns="88475" spcFirstLastPara="1" rIns="88475" wrap="square" tIns="88475">
            <a:noAutofit/>
          </a:bodyPr>
          <a:lstStyle/>
          <a:p>
            <a:pPr indent="0" lvl="0" marL="0" marR="0" rtl="0" algn="ctr">
              <a:lnSpc>
                <a:spcPct val="100000"/>
              </a:lnSpc>
              <a:spcBef>
                <a:spcPts val="0"/>
              </a:spcBef>
              <a:spcAft>
                <a:spcPts val="0"/>
              </a:spcAft>
              <a:buClr>
                <a:srgbClr val="000000"/>
              </a:buClr>
              <a:buSzPts val="500"/>
              <a:buFont typeface="Arial"/>
              <a:buNone/>
            </a:pPr>
            <a:fld id="{00000000-1234-1234-1234-123412341234}" type="slidenum">
              <a:rPr b="0" i="0" lang="es" sz="500" u="none" cap="none" strike="noStrike">
                <a:solidFill>
                  <a:srgbClr val="F8F2E8"/>
                </a:solidFill>
                <a:latin typeface="Plus Jakarta Sans"/>
                <a:ea typeface="Plus Jakarta Sans"/>
                <a:cs typeface="Plus Jakarta Sans"/>
                <a:sym typeface="Plus Jakarta Sans"/>
              </a:rPr>
              <a:t>‹#›</a:t>
            </a:fld>
            <a:endParaRPr b="0" i="0" sz="500" u="none" cap="none" strike="noStrike">
              <a:solidFill>
                <a:srgbClr val="F8F2E8"/>
              </a:solidFill>
              <a:latin typeface="Plus Jakarta Sans"/>
              <a:ea typeface="Plus Jakarta Sans"/>
              <a:cs typeface="Plus Jakarta Sans"/>
              <a:sym typeface="Plus Jakarta Sa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egro">
  <p:cSld name="BLANK_2">
    <p:bg>
      <p:bgPr>
        <a:solidFill>
          <a:srgbClr val="171717"/>
        </a:solidFill>
      </p:bgPr>
    </p:bg>
    <p:spTree>
      <p:nvGrpSpPr>
        <p:cNvPr id="85" name="Shape 85"/>
        <p:cNvGrpSpPr/>
        <p:nvPr/>
      </p:nvGrpSpPr>
      <p:grpSpPr>
        <a:xfrm>
          <a:off x="0" y="0"/>
          <a:ext cx="0" cy="0"/>
          <a:chOff x="0" y="0"/>
          <a:chExt cx="0" cy="0"/>
        </a:xfrm>
      </p:grpSpPr>
      <p:sp>
        <p:nvSpPr>
          <p:cNvPr id="86" name="Google Shape;86;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4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pic>
        <p:nvPicPr>
          <p:cNvPr id="91" name="Google Shape;91;p1" title="logo gradient 1.png"/>
          <p:cNvPicPr preferRelativeResize="0"/>
          <p:nvPr/>
        </p:nvPicPr>
        <p:blipFill rotWithShape="1">
          <a:blip r:embed="rId3">
            <a:alphaModFix/>
          </a:blip>
          <a:srcRect b="0" l="0" r="0" t="0"/>
          <a:stretch/>
        </p:blipFill>
        <p:spPr>
          <a:xfrm>
            <a:off x="3830803" y="4523150"/>
            <a:ext cx="1547950" cy="452250"/>
          </a:xfrm>
          <a:prstGeom prst="rect">
            <a:avLst/>
          </a:prstGeom>
          <a:noFill/>
          <a:ln>
            <a:noFill/>
          </a:ln>
        </p:spPr>
      </p:pic>
      <p:sp>
        <p:nvSpPr>
          <p:cNvPr id="92" name="Google Shape;92;p1"/>
          <p:cNvSpPr txBox="1"/>
          <p:nvPr/>
        </p:nvSpPr>
        <p:spPr>
          <a:xfrm>
            <a:off x="1373325" y="321955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400"/>
              <a:buFont typeface="Arial"/>
              <a:buNone/>
            </a:pPr>
            <a:r>
              <a:rPr b="0" i="0" lang="es" sz="1400" u="none" cap="none" strike="noStrike">
                <a:solidFill>
                  <a:srgbClr val="F8F2E8"/>
                </a:solidFill>
                <a:latin typeface="Plus Jakarta Sans ExtraBold"/>
                <a:ea typeface="Plus Jakarta Sans ExtraBold"/>
                <a:cs typeface="Plus Jakarta Sans ExtraBold"/>
                <a:sym typeface="Plus Jakarta Sans ExtraBold"/>
              </a:rPr>
              <a:t>Módulo 3: </a:t>
            </a:r>
            <a:r>
              <a:rPr b="0" i="0" lang="es" sz="1400" u="none" cap="none" strike="noStrike">
                <a:solidFill>
                  <a:srgbClr val="F8F2E8"/>
                </a:solidFill>
                <a:latin typeface="Plus Jakarta Sans Light"/>
                <a:ea typeface="Plus Jakarta Sans Light"/>
                <a:cs typeface="Plus Jakarta Sans Light"/>
                <a:sym typeface="Plus Jakarta Sans Light"/>
              </a:rPr>
              <a:t>Memoria, contexto y persistencia</a:t>
            </a:r>
            <a:endParaRPr b="0" i="0" sz="1400" u="none" cap="none" strike="noStrike">
              <a:solidFill>
                <a:srgbClr val="171717"/>
              </a:solidFill>
              <a:latin typeface="Plus Jakarta Sans Light"/>
              <a:ea typeface="Plus Jakarta Sans Light"/>
              <a:cs typeface="Plus Jakarta Sans Light"/>
              <a:sym typeface="Plus Jakarta Sans Light"/>
            </a:endParaRPr>
          </a:p>
        </p:txBody>
      </p:sp>
      <p:sp>
        <p:nvSpPr>
          <p:cNvPr id="93" name="Google Shape;93;p1"/>
          <p:cNvSpPr txBox="1"/>
          <p:nvPr/>
        </p:nvSpPr>
        <p:spPr>
          <a:xfrm>
            <a:off x="2177925" y="1791263"/>
            <a:ext cx="4853700" cy="1389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AI Automation </a:t>
            </a:r>
            <a:r>
              <a:rPr b="0" i="0" lang="es" sz="2800" u="none" cap="none" strike="noStrike">
                <a:solidFill>
                  <a:srgbClr val="F8F2E8"/>
                </a:solidFill>
                <a:latin typeface="Plus Jakarta Sans ExtraBold"/>
                <a:ea typeface="Plus Jakarta Sans ExtraBold"/>
                <a:cs typeface="Plus Jakarta Sans ExtraBold"/>
                <a:sym typeface="Plus Jakarta Sans ExtraBold"/>
              </a:rPr>
              <a:t>Avanzado</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94" name="Google Shape;94;p1"/>
          <p:cNvSpPr txBox="1"/>
          <p:nvPr/>
        </p:nvSpPr>
        <p:spPr>
          <a:xfrm>
            <a:off x="1373325" y="1434300"/>
            <a:ext cx="6462900" cy="318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Curso: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Objetivos</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0" name="Google Shape;100;p3"/>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Distinguir la ventana de contexto (short-term) de la persistencia externa (long-term).</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Darle memoria de largo plazo al agente con n8n o Airtable.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Diseñar un circuito de lectura, inyección y escritura filtrado por Session_ID.</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Coordinar varios agentes con memoria compartida sin colisiones.</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50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Decidir cuándo usar búsqueda semántica y un Vector Store.</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4"/>
          <p:cNvSpPr txBox="1"/>
          <p:nvPr/>
        </p:nvSpPr>
        <p:spPr>
          <a:xfrm>
            <a:off x="2832560" y="0"/>
            <a:ext cx="6462900" cy="138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9600"/>
              <a:buFont typeface="Arial"/>
              <a:buNone/>
            </a:pPr>
            <a:r>
              <a:rPr b="0" i="0" lang="es" sz="9600" u="none" cap="none" strike="noStrike">
                <a:solidFill>
                  <a:srgbClr val="FF632B"/>
                </a:solidFill>
                <a:latin typeface="Plus Jakarta Sans ExtraBold"/>
                <a:ea typeface="Plus Jakarta Sans ExtraBold"/>
                <a:cs typeface="Plus Jakarta Sans ExtraBold"/>
                <a:sym typeface="Plus Jakarta Sans ExtraBold"/>
              </a:rPr>
              <a:t>Agenda</a:t>
            </a:r>
            <a:endParaRPr b="0" i="0" sz="9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06" name="Google Shape;106;p4"/>
          <p:cNvSpPr txBox="1"/>
          <p:nvPr/>
        </p:nvSpPr>
        <p:spPr>
          <a:xfrm>
            <a:off x="649500" y="2512850"/>
            <a:ext cx="64629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Contexto vs. persistencia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Memoria de largo plazo</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Memoria compartida y búsqueda semántica</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Break</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Práctica en vivo: memoria persistente</a:t>
            </a:r>
            <a:endParaRPr b="0" i="0" sz="12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500"/>
              </a:spcBef>
              <a:spcAft>
                <a:spcPts val="500"/>
              </a:spcAft>
              <a:buClr>
                <a:srgbClr val="FF632B"/>
              </a:buClr>
              <a:buSzPts val="1200"/>
              <a:buFont typeface="Plus Jakarta Sans"/>
              <a:buAutoNum type="arabicPeriod"/>
            </a:pPr>
            <a:r>
              <a:rPr b="0" i="0" lang="es" sz="1200" u="none" cap="none" strike="noStrike">
                <a:solidFill>
                  <a:srgbClr val="171717"/>
                </a:solidFill>
                <a:latin typeface="Plus Jakarta Sans Light"/>
                <a:ea typeface="Plus Jakarta Sans Light"/>
                <a:cs typeface="Plus Jakarta Sans Light"/>
                <a:sym typeface="Plus Jakarta Sans Light"/>
              </a:rPr>
              <a:t>Pre-entrega 3: memoria y resumen automático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3f58731ba46_0_2"/>
          <p:cNvSpPr txBox="1"/>
          <p:nvPr/>
        </p:nvSpPr>
        <p:spPr>
          <a:xfrm>
            <a:off x="652525" y="1528805"/>
            <a:ext cx="7824600" cy="17127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¡Esta clase va a ser     grabada!	</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12" name="Google Shape;112;g3f58731ba46_0_2"/>
          <p:cNvSpPr/>
          <p:nvPr/>
        </p:nvSpPr>
        <p:spPr>
          <a:xfrm>
            <a:off x="4457850" y="3361030"/>
            <a:ext cx="228300" cy="228300"/>
          </a:xfrm>
          <a:prstGeom prst="ellipse">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01</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18" name="Google Shape;118;p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s" sz="2800" u="none" cap="none" strike="noStrike">
                <a:solidFill>
                  <a:srgbClr val="F8F2E8"/>
                </a:solidFill>
                <a:latin typeface="Plus Jakarta Sans ExtraBold"/>
                <a:ea typeface="Plus Jakarta Sans ExtraBold"/>
                <a:cs typeface="Plus Jakarta Sans ExtraBold"/>
                <a:sym typeface="Plus Jakarta Sans ExtraBold"/>
              </a:rPr>
              <a:t>Contexto vs. persistencia</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Ventana de contexto: </a:t>
            </a:r>
            <a:r>
              <a:rPr b="0" i="0" lang="es" sz="1300" u="none" cap="none" strike="noStrike">
                <a:solidFill>
                  <a:srgbClr val="171717"/>
                </a:solidFill>
                <a:latin typeface="Plus Jakarta Sans Light"/>
                <a:ea typeface="Plus Jakarta Sans Light"/>
                <a:cs typeface="Plus Jakarta Sans Light"/>
                <a:sym typeface="Plus Jakarta Sans Light"/>
              </a:rPr>
              <a:t>la mesa del consultor: el mensaje actual y los últimos intercambios. Si se satura, pierde el hilo y cuesta tokens.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Persistencia externa: </a:t>
            </a:r>
            <a:r>
              <a:rPr b="0" i="0" lang="es" sz="1300" u="none" cap="none" strike="noStrike">
                <a:solidFill>
                  <a:srgbClr val="171717"/>
                </a:solidFill>
                <a:latin typeface="Plus Jakarta Sans Light"/>
                <a:ea typeface="Plus Jakarta Sans Light"/>
                <a:cs typeface="Plus Jakarta Sans Light"/>
                <a:sym typeface="Plus Jakarta Sans Light"/>
              </a:rPr>
              <a:t>el archivador: guarda lo que dura semanas o meses en una base fuera de n8n.</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Regla de oro: </a:t>
            </a:r>
            <a:r>
              <a:rPr b="0" i="0" lang="es" sz="1300" u="none" cap="none" strike="noStrike">
                <a:solidFill>
                  <a:srgbClr val="171717"/>
                </a:solidFill>
                <a:latin typeface="Plus Jakarta Sans Light"/>
                <a:ea typeface="Plus Jakarta Sans Light"/>
                <a:cs typeface="Plus Jakarta Sans Light"/>
                <a:sym typeface="Plus Jakarta Sans Light"/>
              </a:rPr>
              <a:t>las ejecuciones en el lienzo son efímeras. Sin base externa, los recuerdos mueren al cerrar la sesión.</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24" name="Google Shape;124;p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La mesa y el archivador</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25" name="Google Shape;125;p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Short-term vs. long-term</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F632B"/>
                </a:solidFill>
                <a:latin typeface="Plus Jakarta Sans ExtraBold"/>
                <a:ea typeface="Plus Jakarta Sans ExtraBold"/>
                <a:cs typeface="Plus Jakarta Sans ExtraBold"/>
                <a:sym typeface="Plus Jakarta Sans ExtraBold"/>
              </a:rPr>
              <a:t>Tres capas</a:t>
            </a:r>
            <a:endParaRPr b="0" i="0" sz="2400" u="none" cap="none" strike="noStrike">
              <a:solidFill>
                <a:srgbClr val="260700"/>
              </a:solidFill>
              <a:latin typeface="Plus Jakarta Sans"/>
              <a:ea typeface="Plus Jakarta Sans"/>
              <a:cs typeface="Plus Jakarta Sans"/>
              <a:sym typeface="Plus Jakarta Sans"/>
            </a:endParaRPr>
          </a:p>
        </p:txBody>
      </p:sp>
      <p:sp>
        <p:nvSpPr>
          <p:cNvPr id="131" name="Google Shape;131;p8"/>
          <p:cNvSpPr/>
          <p:nvPr/>
        </p:nvSpPr>
        <p:spPr>
          <a:xfrm>
            <a:off x="667475"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Estado</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La situación actual del flujo. Ej: status: esperando_aprobacion.</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132" name="Google Shape;132;p8"/>
          <p:cNvSpPr/>
          <p:nvPr/>
        </p:nvSpPr>
        <p:spPr>
          <a:xfrm>
            <a:off x="4766370" y="1641200"/>
            <a:ext cx="3942300" cy="2081100"/>
          </a:xfrm>
          <a:prstGeom prst="roundRect">
            <a:avLst>
              <a:gd fmla="val 16667"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Memoria</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El histórico del usuario. Ej: 'no le gustan los mensajes largos'.</a:t>
            </a:r>
            <a:endParaRPr b="0" i="0" sz="1200" u="none" cap="none" strike="noStrike">
              <a:solidFill>
                <a:srgbClr val="171717"/>
              </a:solidFill>
              <a:latin typeface="Plus Jakarta Sans Light"/>
              <a:ea typeface="Plus Jakarta Sans Light"/>
              <a:cs typeface="Plus Jakarta Sans Light"/>
              <a:sym typeface="Plus Jakarta Sans Light"/>
            </a:endParaRPr>
          </a:p>
        </p:txBody>
      </p:sp>
      <p:sp>
        <p:nvSpPr>
          <p:cNvPr id="133" name="Google Shape;133;p8"/>
          <p:cNvSpPr/>
          <p:nvPr/>
        </p:nvSpPr>
        <p:spPr>
          <a:xfrm>
            <a:off x="667475" y="3866726"/>
            <a:ext cx="8041200" cy="840300"/>
          </a:xfrm>
          <a:prstGeom prst="roundRect">
            <a:avLst>
              <a:gd fmla="val 30840" name="adj"/>
            </a:avLst>
          </a:prstGeom>
          <a:solidFill>
            <a:srgbClr val="F8F2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12000"/>
              </a:lnSpc>
              <a:spcBef>
                <a:spcPts val="0"/>
              </a:spcBef>
              <a:spcAft>
                <a:spcPts val="0"/>
              </a:spcAft>
              <a:buClr>
                <a:srgbClr val="000000"/>
              </a:buClr>
              <a:buSzPts val="1500"/>
              <a:buFont typeface="Arial"/>
              <a:buNone/>
            </a:pPr>
            <a:r>
              <a:rPr b="0" i="0" lang="es" sz="1500" u="none" cap="none" strike="noStrike">
                <a:solidFill>
                  <a:srgbClr val="171717"/>
                </a:solidFill>
                <a:latin typeface="Plus Jakarta Sans ExtraBold"/>
                <a:ea typeface="Plus Jakarta Sans ExtraBold"/>
                <a:cs typeface="Plus Jakarta Sans ExtraBold"/>
                <a:sym typeface="Plus Jakarta Sans ExtraBold"/>
              </a:rPr>
              <a:t>Conocimiento</a:t>
            </a:r>
            <a:endParaRPr b="0" i="0" sz="1500" u="none" cap="none" strike="noStrike">
              <a:solidFill>
                <a:srgbClr val="171717"/>
              </a:solidFill>
              <a:latin typeface="Plus Jakarta Sans Light"/>
              <a:ea typeface="Plus Jakarta Sans Light"/>
              <a:cs typeface="Plus Jakarta Sans Light"/>
              <a:sym typeface="Plus Jakarta Sans Light"/>
            </a:endParaRPr>
          </a:p>
          <a:p>
            <a:pPr indent="0" lvl="0" marL="0" marR="0" rtl="0" algn="ctr">
              <a:lnSpc>
                <a:spcPct val="112000"/>
              </a:lnSpc>
              <a:spcBef>
                <a:spcPts val="30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La info estática e institucional. Ej: el manual de 200 páginas indexado.</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Relevancia: </a:t>
            </a:r>
            <a:r>
              <a:rPr b="0" i="0" lang="es" sz="1300" u="none" cap="none" strike="noStrike">
                <a:solidFill>
                  <a:srgbClr val="171717"/>
                </a:solidFill>
                <a:latin typeface="Plus Jakarta Sans Light"/>
                <a:ea typeface="Plus Jakarta Sans Light"/>
                <a:cs typeface="Plus Jakarta Sans Light"/>
                <a:sym typeface="Plus Jakarta Sans Light"/>
              </a:rPr>
              <a:t>lo que da coherencia al 'ahora' va a corto plazo; lo accionable a futuro se persiste.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Limpieza de mesa: </a:t>
            </a:r>
            <a:r>
              <a:rPr b="0" i="0" lang="es" sz="1300" u="none" cap="none" strike="noStrike">
                <a:solidFill>
                  <a:srgbClr val="171717"/>
                </a:solidFill>
                <a:latin typeface="Plus Jakarta Sans Light"/>
                <a:ea typeface="Plus Jakarta Sans Light"/>
                <a:cs typeface="Plus Jakarta Sans Light"/>
                <a:sym typeface="Plus Jakarta Sans Light"/>
              </a:rPr>
              <a:t>extraé solo la respuesta útil de las APIs y descartá el HTML sucio.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Latencia vs. fidelidad: </a:t>
            </a:r>
            <a:r>
              <a:rPr b="0" i="0" lang="es" sz="1300" u="none" cap="none" strike="noStrike">
                <a:solidFill>
                  <a:srgbClr val="171717"/>
                </a:solidFill>
                <a:latin typeface="Plus Jakarta Sans Light"/>
                <a:ea typeface="Plus Jakarta Sans Light"/>
                <a:cs typeface="Plus Jakarta Sans Light"/>
                <a:sym typeface="Plus Jakarta Sans Light"/>
              </a:rPr>
              <a:t>el corto plazo es instantáneo; la persistencia suma 1-2s, reservala para lo que no corta la charla.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Gobernanza: </a:t>
            </a:r>
            <a:r>
              <a:rPr b="0" i="0" lang="es" sz="1300" u="none" cap="none" strike="noStrike">
                <a:solidFill>
                  <a:srgbClr val="171717"/>
                </a:solidFill>
                <a:latin typeface="Plus Jakarta Sans Light"/>
                <a:ea typeface="Plus Jakarta Sans Light"/>
                <a:cs typeface="Plus Jakarta Sans Light"/>
                <a:sym typeface="Plus Jakarta Sans Light"/>
              </a:rPr>
              <a:t>nunca persistas contraseñas ni tokens; sí decisiones y auditoría.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39" name="Google Shape;139;p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¿Qué se queda y qué se guarda?</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40" name="Google Shape;140;p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Cuatro criterios de filtrado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0"/>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10"/>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47" name="Google Shape;147;p10"/>
          <p:cNvSpPr txBox="1"/>
          <p:nvPr/>
        </p:nvSpPr>
        <p:spPr>
          <a:xfrm>
            <a:off x="730900" y="2015944"/>
            <a:ext cx="8220900" cy="2936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recordar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48" name="Google Shape;148;p10"/>
          <p:cNvSpPr txBox="1"/>
          <p:nvPr/>
        </p:nvSpPr>
        <p:spPr>
          <a:xfrm>
            <a:off x="5583350" y="2994750"/>
            <a:ext cx="3153300" cy="17562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Toda fila que guardes en la memoria de largo plazo tiene que filtrarse por el Session_ID o user_id. Sin ese filtro, el usuario A puede terminar viendo los saldos privados del usuario B: amnesia cruzada.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1"/>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02</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154" name="Google Shape;154;p11"/>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Memoria de largo plazo</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cliente que vuelve </a:t>
            </a:r>
            <a:r>
              <a:rPr b="0" i="0" lang="es" sz="1300" u="none" cap="none" strike="noStrike">
                <a:solidFill>
                  <a:srgbClr val="171717"/>
                </a:solidFill>
                <a:latin typeface="Plus Jakarta Sans Light"/>
                <a:ea typeface="Plus Jakarta Sans Light"/>
                <a:cs typeface="Plus Jakarta Sans Light"/>
                <a:sym typeface="Plus Jakarta Sans Light"/>
              </a:rPr>
              <a:t>y tiene que repetir todo su historial desde cero.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proyecto que se retoma </a:t>
            </a:r>
            <a:r>
              <a:rPr b="0" i="0" lang="es" sz="1300" u="none" cap="none" strike="noStrike">
                <a:solidFill>
                  <a:srgbClr val="171717"/>
                </a:solidFill>
                <a:latin typeface="Plus Jakarta Sans Light"/>
                <a:ea typeface="Plus Jakarta Sans Light"/>
                <a:cs typeface="Plus Jakarta Sans Light"/>
                <a:sym typeface="Plus Jakarta Sans Light"/>
              </a:rPr>
              <a:t>el lunes y el agente no sabe en qué etapa quedó.</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memoria de largo plazo </a:t>
            </a:r>
            <a:r>
              <a:rPr b="0" i="0" lang="es" sz="1300" u="none" cap="none" strike="noStrike">
                <a:solidFill>
                  <a:srgbClr val="171717"/>
                </a:solidFill>
                <a:latin typeface="Plus Jakarta Sans Light"/>
                <a:ea typeface="Plus Jakarta Sans Light"/>
                <a:cs typeface="Plus Jakarta Sans Light"/>
                <a:sym typeface="Plus Jakarta Sans Light"/>
              </a:rPr>
              <a:t>escribe al cerrar y recupera al iniciar. El historial no desaparece: se acumula.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60" name="Google Shape;160;p1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El problema que resuelve</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61" name="Google Shape;161;p1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 la demo a la producción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Memoria integrada de n8n: </a:t>
            </a:r>
            <a:r>
              <a:rPr b="0" i="0" lang="es" sz="1300" u="none" cap="none" strike="noStrike">
                <a:solidFill>
                  <a:srgbClr val="171717"/>
                </a:solidFill>
                <a:latin typeface="Plus Jakarta Sans Light"/>
                <a:ea typeface="Plus Jakarta Sans Light"/>
                <a:cs typeface="Plus Jakarta Sans Light"/>
                <a:sym typeface="Plus Jakarta Sans Light"/>
              </a:rPr>
              <a:t>se activa desde el AI Agent node en 5 minutos. Rápida y simple, pero es una caja negra.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Airtable: </a:t>
            </a:r>
            <a:r>
              <a:rPr b="0" i="0" lang="es" sz="1300" u="none" cap="none" strike="noStrike">
                <a:solidFill>
                  <a:srgbClr val="171717"/>
                </a:solidFill>
                <a:latin typeface="Plus Jakarta Sans Light"/>
                <a:ea typeface="Plus Jakarta Sans Light"/>
                <a:cs typeface="Plus Jakarta Sans Light"/>
                <a:sym typeface="Plus Jakarta Sans Light"/>
              </a:rPr>
              <a:t>la libreta organizada. Escribís y leés por columnas: cliente, fecha, resumen, estado.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trade-off: </a:t>
            </a:r>
            <a:r>
              <a:rPr b="0" i="0" lang="es" sz="1300" u="none" cap="none" strike="noStrike">
                <a:solidFill>
                  <a:srgbClr val="171717"/>
                </a:solidFill>
                <a:latin typeface="Plus Jakarta Sans Light"/>
                <a:ea typeface="Plus Jakarta Sans Light"/>
                <a:cs typeface="Plus Jakarta Sans Light"/>
                <a:sym typeface="Plus Jakarta Sans Light"/>
              </a:rPr>
              <a:t>velocidad de setup contra control y visibilidad total.</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67" name="Google Shape;167;p1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Dos herramientas no-code</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68" name="Google Shape;168;p1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camino rápido y el profesional</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¿Necesitás ver o editar </a:t>
            </a:r>
            <a:r>
              <a:rPr b="0" i="0" lang="es" sz="1300" u="none" cap="none" strike="noStrike">
                <a:solidFill>
                  <a:srgbClr val="171717"/>
                </a:solidFill>
                <a:latin typeface="Plus Jakarta Sans Light"/>
                <a:ea typeface="Plus Jakarta Sans Light"/>
                <a:cs typeface="Plus Jakarta Sans Light"/>
                <a:sym typeface="Plus Jakarta Sans Light"/>
              </a:rPr>
              <a:t>lo que recuerda? Sí → Airtable.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info tiene estructura? </a:t>
            </a:r>
            <a:r>
              <a:rPr b="0" i="0" lang="es" sz="1300" u="none" cap="none" strike="noStrike">
                <a:solidFill>
                  <a:srgbClr val="171717"/>
                </a:solidFill>
                <a:latin typeface="Plus Jakarta Sans Light"/>
                <a:ea typeface="Plus Jakarta Sans Light"/>
                <a:cs typeface="Plus Jakarta Sans Light"/>
                <a:sym typeface="Plus Jakarta Sans Light"/>
              </a:rPr>
              <a:t>Campos separados → Airtable. Texto libre → memoria integrada.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¿Alto volumen de usuarios? </a:t>
            </a:r>
            <a:r>
              <a:rPr b="0" i="0" lang="es" sz="1300" u="none" cap="none" strike="noStrike">
                <a:solidFill>
                  <a:srgbClr val="171717"/>
                </a:solidFill>
                <a:latin typeface="Plus Jakarta Sans Light"/>
                <a:ea typeface="Plus Jakarta Sans Light"/>
                <a:cs typeface="Plus Jakarta Sans Light"/>
                <a:sym typeface="Plus Jakarta Sans Light"/>
              </a:rPr>
              <a:t>Sí → Airtable. Prototipo o bajo volumen → memoria integrada.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74" name="Google Shape;174;p1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¿Cuál elegir?</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75" name="Google Shape;175;p1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Tres criterios de decisión</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Escritura al cerrar: </a:t>
            </a:r>
            <a:r>
              <a:rPr b="0" i="0" lang="es" sz="1300" u="none" cap="none" strike="noStrike">
                <a:solidFill>
                  <a:srgbClr val="171717"/>
                </a:solidFill>
                <a:latin typeface="Plus Jakarta Sans Light"/>
                <a:ea typeface="Plus Jakarta Sans Light"/>
                <a:cs typeface="Plus Jakarta Sans Light"/>
                <a:sym typeface="Plus Jakarta Sans Light"/>
              </a:rPr>
              <a:t>un nodo guarda el resumen estructurado en la tabla.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Lectura al iniciar: </a:t>
            </a:r>
            <a:r>
              <a:rPr b="0" i="0" lang="es" sz="1300" u="none" cap="none" strike="noStrike">
                <a:solidFill>
                  <a:srgbClr val="171717"/>
                </a:solidFill>
                <a:latin typeface="Plus Jakarta Sans Light"/>
                <a:ea typeface="Plus Jakarta Sans Light"/>
                <a:cs typeface="Plus Jakarta Sans Light"/>
                <a:sym typeface="Plus Jakarta Sans Light"/>
              </a:rPr>
              <a:t>otro nodo busca el registro del usuario y lo inyecta como contexto.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IF de usuario nuevo: </a:t>
            </a:r>
            <a:r>
              <a:rPr b="0" i="0" lang="es" sz="1300" u="none" cap="none" strike="noStrike">
                <a:solidFill>
                  <a:srgbClr val="171717"/>
                </a:solidFill>
                <a:latin typeface="Plus Jakarta Sans Light"/>
                <a:ea typeface="Plus Jakarta Sans Light"/>
                <a:cs typeface="Plus Jakarta Sans Light"/>
                <a:sym typeface="Plus Jakarta Sans Light"/>
              </a:rPr>
              <a:t>si no hay registro, el agente arranca desde cero, sin errores.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181" name="Google Shape;181;p1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El circuito de memoria</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182" name="Google Shape;182;p1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Los dos flujos clave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6"/>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16"/>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189" name="Google Shape;189;p16"/>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Coder Tips</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190" name="Google Shape;190;p16"/>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No guardes la transcripción entera: se llena de ruido. Pedile al agente que, al cerrar, genere un resumen estructurado con datos clave, estado y próximo paso. Eso es lo único que va a la tabla.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7"/>
          <p:cNvSpPr txBox="1"/>
          <p:nvPr/>
        </p:nvSpPr>
        <p:spPr>
          <a:xfrm>
            <a:off x="739075" y="2702868"/>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Sin ella, cada conversación empieza de cero.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196" name="Google Shape;196;p17"/>
          <p:cNvSpPr txBox="1"/>
          <p:nvPr/>
        </p:nvSpPr>
        <p:spPr>
          <a:xfrm>
            <a:off x="1319285" y="1044901"/>
            <a:ext cx="69465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La memoria de largo plazo hace producción, no demo.</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8"/>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03</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2" name="Google Shape;202;p18"/>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Memoria compartida</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1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problema: </a:t>
            </a:r>
            <a:r>
              <a:rPr b="0" i="0" lang="es" sz="1300" u="none" cap="none" strike="noStrike">
                <a:solidFill>
                  <a:srgbClr val="171717"/>
                </a:solidFill>
                <a:latin typeface="Plus Jakarta Sans Light"/>
                <a:ea typeface="Plus Jakarta Sans Light"/>
                <a:cs typeface="Plus Jakarta Sans Light"/>
                <a:sym typeface="Plus Jakarta Sans Light"/>
              </a:rPr>
              <a:t>si cada especialista opera en su silo, el sistema pierde coherencia.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solución: </a:t>
            </a:r>
            <a:r>
              <a:rPr b="0" i="0" lang="es" sz="1300" u="none" cap="none" strike="noStrike">
                <a:solidFill>
                  <a:srgbClr val="171717"/>
                </a:solidFill>
                <a:latin typeface="Plus Jakarta Sans Light"/>
                <a:ea typeface="Plus Jakarta Sans Light"/>
                <a:cs typeface="Plus Jakarta Sans Light"/>
                <a:sym typeface="Plus Jakarta Sans Light"/>
              </a:rPr>
              <a:t>una planilla de Airtable o Sheets como sistema nervioso central del proceso.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Todos filtran </a:t>
            </a:r>
            <a:r>
              <a:rPr b="0" i="0" lang="es" sz="1300" u="none" cap="none" strike="noStrike">
                <a:solidFill>
                  <a:srgbClr val="171717"/>
                </a:solidFill>
                <a:latin typeface="Plus Jakarta Sans Light"/>
                <a:ea typeface="Plus Jakarta Sans Light"/>
                <a:cs typeface="Plus Jakarta Sans Light"/>
                <a:sym typeface="Plus Jakarta Sans Light"/>
              </a:rPr>
              <a:t>por el ID del Caso para no mezclar sesiones y dejar trazabilidad de quién escribió.</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08" name="Google Shape;208;p1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El tablero central</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09" name="Google Shape;209;p1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Shared memory entre agentes</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304800" lvl="0" marL="342900" marR="0" rtl="0" algn="l">
              <a:lnSpc>
                <a:spcPct val="112000"/>
              </a:lnSpc>
              <a:spcBef>
                <a:spcPts val="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Leer el tablero: Search Records filtrando por el ID del Caso.</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Inyectar lo leído en el prompt, bajo etiquetas rígidas de contexto.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Actuar: el AI Agent procesa con ese contexto compartido.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304800" lvl="0" marL="342900" marR="0" rtl="0" algn="l">
              <a:lnSpc>
                <a:spcPct val="112000"/>
              </a:lnSpc>
              <a:spcBef>
                <a:spcPts val="420"/>
              </a:spcBef>
              <a:spcAft>
                <a:spcPts val="420"/>
              </a:spcAft>
              <a:buClr>
                <a:srgbClr val="FF632B"/>
              </a:buClr>
              <a:buSzPts val="1300"/>
              <a:buFont typeface="Plus Jakarta Sans"/>
              <a:buAutoNum type="arabicPeriod"/>
            </a:pPr>
            <a:r>
              <a:rPr b="0" i="0" lang="es" sz="1300" u="none" cap="none" strike="noStrike">
                <a:solidFill>
                  <a:srgbClr val="171717"/>
                </a:solidFill>
                <a:latin typeface="Plus Jakarta Sans Light"/>
                <a:ea typeface="Plus Jakarta Sans Light"/>
                <a:cs typeface="Plus Jakarta Sans Light"/>
                <a:sym typeface="Plus Jakarta Sans Light"/>
              </a:rPr>
              <a:t>Escribir: Create Record con el agente, la categoría y la decisión.</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15" name="Google Shape;215;p2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Leer, actuar, escribir</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16" name="Google Shape;216;p2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El circuito de cada especialista</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Orquestación secuencial: </a:t>
            </a:r>
            <a:r>
              <a:rPr b="0" i="0" lang="es" sz="1300" u="none" cap="none" strike="noStrike">
                <a:solidFill>
                  <a:srgbClr val="171717"/>
                </a:solidFill>
                <a:latin typeface="Plus Jakarta Sans Light"/>
                <a:ea typeface="Plus Jakarta Sans Light"/>
                <a:cs typeface="Plus Jakarta Sans Light"/>
                <a:sym typeface="Plus Jakarta Sans Light"/>
              </a:rPr>
              <a:t>los agentes trabajan en serie; uno le cede el control al siguiente.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Filas nuevas, no update: </a:t>
            </a:r>
            <a:r>
              <a:rPr b="0" i="0" lang="es" sz="1300" u="none" cap="none" strike="noStrike">
                <a:solidFill>
                  <a:srgbClr val="171717"/>
                </a:solidFill>
                <a:latin typeface="Plus Jakarta Sans Light"/>
                <a:ea typeface="Plus Jakarta Sans Light"/>
                <a:cs typeface="Plus Jakarta Sans Light"/>
                <a:sym typeface="Plus Jakarta Sans Light"/>
              </a:rPr>
              <a:t>cada agente inserta una fila; nadie sobrescribe. El cierre consolida el historial.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Semáforo de estado: </a:t>
            </a:r>
            <a:r>
              <a:rPr b="0" i="0" lang="es" sz="1300" u="none" cap="none" strike="noStrike">
                <a:solidFill>
                  <a:srgbClr val="171717"/>
                </a:solidFill>
                <a:latin typeface="Plus Jakarta Sans Light"/>
                <a:ea typeface="Plus Jakarta Sans Light"/>
                <a:cs typeface="Plus Jakarta Sans Light"/>
                <a:sym typeface="Plus Jakarta Sans Light"/>
              </a:rPr>
              <a:t>un IF/Switch frena al especialista si el estado del tablero no es el que le toca.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22" name="Google Shape;222;p2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Evitar colisiones</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23" name="Google Shape;223;p2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Cuando varios escriben a la vez</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22"/>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22"/>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30" name="Google Shape;230;p22"/>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Para pensar</a:t>
            </a:r>
            <a:endParaRPr b="0" i="0" sz="5000" u="none" cap="none" strike="noStrike">
              <a:solidFill>
                <a:srgbClr val="260700"/>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31" name="Google Shape;231;p22"/>
          <p:cNvSpPr txBox="1"/>
          <p:nvPr/>
        </p:nvSpPr>
        <p:spPr>
          <a:xfrm>
            <a:off x="5719425" y="2990975"/>
            <a:ext cx="28347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Le doy al agente los mismos datos de un cliente. En el contexto A es de 'Retención de clientes'; en el B, un 'Abogado de cobros'. ¿Cómo cambia lo que recupera de la memoria según su rol?</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3"/>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caso: </a:t>
            </a:r>
            <a:r>
              <a:rPr b="0" i="0" lang="es" sz="1300" u="none" cap="none" strike="noStrike">
                <a:solidFill>
                  <a:srgbClr val="171717"/>
                </a:solidFill>
                <a:latin typeface="Plus Jakarta Sans Light"/>
                <a:ea typeface="Plus Jakarta Sans Light"/>
                <a:cs typeface="Plus Jakarta Sans Light"/>
                <a:sym typeface="Plus Jakarta Sans Light"/>
              </a:rPr>
              <a:t>el empleado pregunta por 'vacaciones antes de 6 meses'; el manual dice 'licencias ordinarias, 180 días'.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Búsqueda exacta: </a:t>
            </a:r>
            <a:r>
              <a:rPr b="0" i="0" lang="es" sz="1300" u="none" cap="none" strike="noStrike">
                <a:solidFill>
                  <a:srgbClr val="171717"/>
                </a:solidFill>
                <a:latin typeface="Plus Jakarta Sans Light"/>
                <a:ea typeface="Plus Jakarta Sans Light"/>
                <a:cs typeface="Plus Jakarta Sans Light"/>
                <a:sym typeface="Plus Jakarta Sans Light"/>
              </a:rPr>
              <a:t>compara caracteres literales. Con un sinónimo, devuelve vacío.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Búsqueda semántica: </a:t>
            </a:r>
            <a:r>
              <a:rPr b="0" i="0" lang="es" sz="1300" u="none" cap="none" strike="noStrike">
                <a:solidFill>
                  <a:srgbClr val="171717"/>
                </a:solidFill>
                <a:latin typeface="Plus Jakarta Sans Light"/>
                <a:ea typeface="Plus Jakarta Sans Light"/>
                <a:cs typeface="Plus Jakarta Sans Light"/>
                <a:sym typeface="Plus Jakarta Sans Light"/>
              </a:rPr>
              <a:t>asocia significados. Encuentra el párrafo correcto aunque cambien las palabras.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37" name="Google Shape;237;p23"/>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Búsqueda semántica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38" name="Google Shape;238;p23"/>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Entender el significado, no las palabras</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Airtable/Sheets: </a:t>
            </a:r>
            <a:r>
              <a:rPr b="0" i="0" lang="es" sz="1300" u="none" cap="none" strike="noStrike">
                <a:solidFill>
                  <a:srgbClr val="171717"/>
                </a:solidFill>
                <a:latin typeface="Plus Jakarta Sans Light"/>
                <a:ea typeface="Plus Jakarta Sans Light"/>
                <a:cs typeface="Plus Jakarta Sans Light"/>
                <a:sym typeface="Plus Jakarta Sans Light"/>
              </a:rPr>
              <a:t>datos estructurados y dinámicos, filtros exactos, escritura en tiempo real.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Vector Store (LlamaCloud): </a:t>
            </a:r>
            <a:r>
              <a:rPr b="0" i="0" lang="es" sz="1300" u="none" cap="none" strike="noStrike">
                <a:solidFill>
                  <a:srgbClr val="171717"/>
                </a:solidFill>
                <a:latin typeface="Plus Jakarta Sans Light"/>
                <a:ea typeface="Plus Jakarta Sans Light"/>
                <a:cs typeface="Plus Jakarta Sans Light"/>
                <a:sym typeface="Plus Jakarta Sans Light"/>
              </a:rPr>
              <a:t>documentos de texto libre y estáticos: manuales, políticas, contratos.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El patrón maestro: </a:t>
            </a:r>
            <a:r>
              <a:rPr b="0" i="0" lang="es" sz="1300" u="none" cap="none" strike="noStrike">
                <a:solidFill>
                  <a:srgbClr val="171717"/>
                </a:solidFill>
                <a:latin typeface="Plus Jakarta Sans Light"/>
                <a:ea typeface="Plus Jakarta Sans Light"/>
                <a:cs typeface="Plus Jakarta Sans Light"/>
                <a:sym typeface="Plus Jakarta Sans Light"/>
              </a:rPr>
              <a:t>los dos en paralelo. Airtable para el contexto del cliente, Vector Store para las reglas.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44" name="Google Shape;244;p2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Vector Store vs. Airtable</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45" name="Google Shape;245;p2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lang="es" sz="2000">
                <a:solidFill>
                  <a:srgbClr val="171717"/>
                </a:solidFill>
                <a:latin typeface="Plus Jakarta Sans"/>
                <a:ea typeface="Plus Jakarta Sans"/>
                <a:cs typeface="Plus Jakarta Sans"/>
                <a:sym typeface="Plus Jakarta Sans"/>
              </a:rPr>
              <a:t>¿</a:t>
            </a:r>
            <a:r>
              <a:rPr b="0" i="0" lang="es" sz="2000" u="none" cap="none" strike="noStrike">
                <a:solidFill>
                  <a:srgbClr val="171717"/>
                </a:solidFill>
                <a:latin typeface="Plus Jakarta Sans"/>
                <a:ea typeface="Plus Jakarta Sans"/>
                <a:cs typeface="Plus Jakarta Sans"/>
                <a:sym typeface="Plus Jakarta Sans"/>
              </a:rPr>
              <a:t>Qué base para qué dato?</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5"/>
          <p:cNvSpPr txBox="1"/>
          <p:nvPr/>
        </p:nvSpPr>
        <p:spPr>
          <a:xfrm>
            <a:off x="652525" y="1336525"/>
            <a:ext cx="6254700" cy="2441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0"/>
              <a:buFont typeface="Arial"/>
              <a:buNone/>
            </a:pPr>
            <a:r>
              <a:rPr b="0" i="0" lang="es" sz="6000" u="none" cap="none" strike="noStrike">
                <a:solidFill>
                  <a:srgbClr val="F8F2E8"/>
                </a:solidFill>
                <a:latin typeface="Plus Jakarta Sans ExtraBold"/>
                <a:ea typeface="Plus Jakarta Sans ExtraBold"/>
                <a:cs typeface="Plus Jakarta Sans ExtraBold"/>
                <a:sym typeface="Plus Jakarta Sans ExtraBold"/>
              </a:rPr>
              <a:t>Break,</a:t>
            </a:r>
            <a:endParaRPr b="0" i="0" sz="6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andá por un cafecito</a:t>
            </a:r>
            <a:endParaRPr b="0" i="0" sz="2400" u="none" cap="none" strike="noStrike">
              <a:solidFill>
                <a:srgbClr val="F8F2E8"/>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2400"/>
              <a:buFont typeface="Arial"/>
              <a:buNone/>
            </a:pPr>
            <a:r>
              <a:rPr b="0" i="0" lang="es" sz="2400" u="none" cap="none" strike="noStrike">
                <a:solidFill>
                  <a:srgbClr val="F8F2E8"/>
                </a:solidFill>
                <a:latin typeface="Plus Jakarta Sans"/>
                <a:ea typeface="Plus Jakarta Sans"/>
                <a:cs typeface="Plus Jakarta Sans"/>
                <a:sym typeface="Plus Jakarta Sans"/>
              </a:rPr>
              <a:t>o mate, ¡y volvemos!</a:t>
            </a:r>
            <a:endParaRPr b="0" i="0" sz="2400" u="none" cap="none" strike="noStrike">
              <a:solidFill>
                <a:srgbClr val="F8F2E8"/>
              </a:solidFill>
              <a:latin typeface="Plus Jakarta Sans"/>
              <a:ea typeface="Plus Jakarta Sans"/>
              <a:cs typeface="Plus Jakarta Sans"/>
              <a:sym typeface="Plus Jakarta Sans"/>
            </a:endParaRPr>
          </a:p>
        </p:txBody>
      </p:sp>
      <p:pic>
        <p:nvPicPr>
          <p:cNvPr id="251" name="Google Shape;251;p25" title="Vector.png"/>
          <p:cNvPicPr preferRelativeResize="0"/>
          <p:nvPr/>
        </p:nvPicPr>
        <p:blipFill rotWithShape="1">
          <a:blip r:embed="rId3">
            <a:alphaModFix/>
          </a:blip>
          <a:srcRect b="0" l="29" r="39" t="0"/>
          <a:stretch/>
        </p:blipFill>
        <p:spPr>
          <a:xfrm>
            <a:off x="7520578" y="2347936"/>
            <a:ext cx="524575" cy="4476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DAB2E"/>
                </a:solidFill>
                <a:latin typeface="Plus Jakarta Sans ExtraBold"/>
                <a:ea typeface="Plus Jakarta Sans ExtraBold"/>
                <a:cs typeface="Plus Jakarta Sans ExtraBold"/>
                <a:sym typeface="Plus Jakarta Sans ExtraBold"/>
              </a:rPr>
              <a:t>04</a:t>
            </a:r>
            <a:endParaRPr b="0" i="0" sz="13000" u="none" cap="none" strike="noStrike">
              <a:solidFill>
                <a:srgbClr val="FDAB2E"/>
              </a:solidFill>
              <a:latin typeface="Plus Jakarta Sans ExtraBold"/>
              <a:ea typeface="Plus Jakarta Sans ExtraBold"/>
              <a:cs typeface="Plus Jakarta Sans ExtraBold"/>
              <a:sym typeface="Plus Jakarta Sans ExtraBold"/>
            </a:endParaRPr>
          </a:p>
        </p:txBody>
      </p:sp>
      <p:sp>
        <p:nvSpPr>
          <p:cNvPr id="257" name="Google Shape;257;p26"/>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600"/>
              <a:buFont typeface="Arial"/>
              <a:buNone/>
            </a:pPr>
            <a:r>
              <a:rPr b="0" i="0" lang="es" sz="3600" u="none" cap="none" strike="noStrike">
                <a:solidFill>
                  <a:srgbClr val="F8F2E8"/>
                </a:solidFill>
                <a:latin typeface="Plus Jakarta Sans ExtraBold"/>
                <a:ea typeface="Plus Jakarta Sans ExtraBold"/>
                <a:cs typeface="Plus Jakarta Sans ExtraBold"/>
                <a:sym typeface="Plus Jakarta Sans ExtraBold"/>
              </a:rPr>
              <a:t>Práctica en vivo</a:t>
            </a:r>
            <a:endParaRPr b="0" i="0" sz="36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27"/>
          <p:cNvSpPr/>
          <p:nvPr/>
        </p:nvSpPr>
        <p:spPr>
          <a:xfrm>
            <a:off x="0" y="0"/>
            <a:ext cx="9144000" cy="1950900"/>
          </a:xfrm>
          <a:prstGeom prst="rect">
            <a:avLst/>
          </a:prstGeom>
          <a:solidFill>
            <a:srgbClr val="FDAB2E"/>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p27"/>
          <p:cNvSpPr txBox="1"/>
          <p:nvPr/>
        </p:nvSpPr>
        <p:spPr>
          <a:xfrm>
            <a:off x="600250" y="656475"/>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Momentos de la Clase:</a:t>
            </a:r>
            <a:endParaRPr b="0" i="0" sz="5000" u="none" cap="none" strike="noStrike">
              <a:solidFill>
                <a:srgbClr val="F8F2E8"/>
              </a:solidFill>
              <a:latin typeface="Plus Jakarta Sans"/>
              <a:ea typeface="Plus Jakarta Sans"/>
              <a:cs typeface="Plus Jakarta Sans"/>
              <a:sym typeface="Plus Jakarta Sans"/>
            </a:endParaRPr>
          </a:p>
        </p:txBody>
      </p:sp>
      <p:sp>
        <p:nvSpPr>
          <p:cNvPr id="264" name="Google Shape;264;p27"/>
          <p:cNvSpPr txBox="1"/>
          <p:nvPr/>
        </p:nvSpPr>
        <p:spPr>
          <a:xfrm>
            <a:off x="730900" y="2015917"/>
            <a:ext cx="8220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260700"/>
                </a:solidFill>
                <a:latin typeface="Plus Jakarta Sans ExtraBold"/>
                <a:ea typeface="Plus Jakarta Sans ExtraBold"/>
                <a:cs typeface="Plus Jakarta Sans ExtraBold"/>
                <a:sym typeface="Plus Jakarta Sans ExtraBold"/>
              </a:rPr>
              <a:t>Ejemplo en Vivo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Actividad colaborativa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pensar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Para recordar</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Coder Tips</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Material ampliado</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Cuestionario de tarea</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a:p>
            <a:pPr indent="0" lvl="0" marL="0" marR="0" rtl="0" algn="l">
              <a:lnSpc>
                <a:spcPct val="100000"/>
              </a:lnSpc>
              <a:spcBef>
                <a:spcPts val="0"/>
              </a:spcBef>
              <a:spcAft>
                <a:spcPts val="0"/>
              </a:spcAft>
              <a:buClr>
                <a:srgbClr val="000000"/>
              </a:buClr>
              <a:buSzPts val="5000"/>
              <a:buFont typeface="Arial"/>
              <a:buNone/>
            </a:pPr>
            <a:r>
              <a:rPr b="0" i="0" lang="es" sz="5000" u="none" cap="none" strike="noStrike">
                <a:solidFill>
                  <a:srgbClr val="F8F2E8"/>
                </a:solidFill>
                <a:latin typeface="Plus Jakarta Sans ExtraBold"/>
                <a:ea typeface="Plus Jakarta Sans ExtraBold"/>
                <a:cs typeface="Plus Jakarta Sans ExtraBold"/>
                <a:sym typeface="Plus Jakarta Sans ExtraBold"/>
              </a:rPr>
              <a:t>#FindTheBug</a:t>
            </a:r>
            <a:endParaRPr b="0" i="0" sz="50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265" name="Google Shape;265;p27"/>
          <p:cNvSpPr txBox="1"/>
          <p:nvPr/>
        </p:nvSpPr>
        <p:spPr>
          <a:xfrm>
            <a:off x="6363575" y="2481425"/>
            <a:ext cx="21912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200"/>
              <a:buFont typeface="Arial"/>
              <a:buNone/>
            </a:pPr>
            <a:r>
              <a:rPr b="0" i="0" lang="es" sz="1200" u="none" cap="none" strike="noStrike">
                <a:solidFill>
                  <a:srgbClr val="171717"/>
                </a:solidFill>
                <a:latin typeface="Plus Jakarta Sans Light"/>
                <a:ea typeface="Plus Jakarta Sans Light"/>
                <a:cs typeface="Plus Jakarta Sans Light"/>
                <a:sym typeface="Plus Jakarta Sans Light"/>
              </a:rPr>
              <a:t>Demo de contexto. Le paso al agente los mismos datos de un cliente pero cambio su rol: retención vs. cobros, y miramos cómo cambia lo que recupera de memoria. Después mostramos 'el agente que olvida' para sentir el dolor de no tener persistencia.</a:t>
            </a:r>
            <a:endParaRPr b="0" i="0" sz="1200" u="none" cap="none" strike="noStrike">
              <a:solidFill>
                <a:srgbClr val="171717"/>
              </a:solidFill>
              <a:latin typeface="Plus Jakarta Sans Light"/>
              <a:ea typeface="Plus Jakarta Sans Light"/>
              <a:cs typeface="Plus Jakarta Sans Light"/>
              <a:sym typeface="Plus Jakarta Sans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8"/>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crear el registro estructurado del agente.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Crear una base con columnas: Session_ID, Fecha, Resumen, Estado, Datos Clave.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Elegir el tipo de cada campo (texto, fecha, menú desplegable).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Copiar el ID de la tabla (tbl...) para usarlo en n8n.</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una tabla lista para guardar el contexto del usuario.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71" name="Google Shape;271;p28"/>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Paso 1: la tabla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72" name="Google Shape;272;p28"/>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Diseñar la memoria en Airtable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29"/>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recuperar el contexto del usuario correcto.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Sumar un nodo Airtable Search Records después del trigger.</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Filtrar por el Session_ID entrante para blindar contra la amnesia cruzada.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Poner un IF que separe usuario nuevo de usuario recurrente.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el flujo distingue quién ya tiene historial y quién no.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78" name="Google Shape;278;p29"/>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s" sz="3200" u="none" cap="none" strike="noStrike">
                <a:solidFill>
                  <a:srgbClr val="FF632B"/>
                </a:solidFill>
                <a:latin typeface="Plus Jakarta Sans ExtraBold"/>
                <a:ea typeface="Plus Jakarta Sans ExtraBold"/>
                <a:cs typeface="Plus Jakarta Sans ExtraBold"/>
                <a:sym typeface="Plus Jakarta Sans ExtraBold"/>
              </a:rPr>
              <a:t>Paso 2: leer y ramificar</a:t>
            </a:r>
            <a:endParaRPr b="0" i="0" sz="32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79" name="Google Shape;279;p29"/>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Search Records + IF</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0"/>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darle al agente lo que ya sabe del usuario.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Tomar los datos de Airtable en la rama de usuario recurrente.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Inyectarlos en el System Prompt con delimitadores rígidos.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Usar [INICIO DE CONTEXTO] ... [FIN DEL CONTEXTO].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agente que arranca sabiendo con quién habla.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85" name="Google Shape;285;p30"/>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3: inyectar el contexto</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86" name="Google Shape;286;p30"/>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Context engineering</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31"/>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condensar la charla sin perder lo importante.</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Crear una rama que se active al superar los 5 intercambios.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Mandar el historial a un modelo económico (GPT-4o-mini).</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Forzar un JSON: asunto_principal, puntos_clave, accion_requerida.</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un resumen limpio y estructurado, listo para guardar.</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92" name="Google Shape;292;p31"/>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Paso 4: el resumen</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293" name="Google Shape;293;p31"/>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Summarization al pasar 5 mensajes</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2"/>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0" lvl="0" marL="0" marR="0" rtl="0" algn="l">
              <a:lnSpc>
                <a:spcPct val="112000"/>
              </a:lnSpc>
              <a:spcBef>
                <a:spcPts val="0"/>
              </a:spcBef>
              <a:spcAft>
                <a:spcPts val="0"/>
              </a:spcAft>
              <a:buClr>
                <a:srgbClr val="000000"/>
              </a:buClr>
              <a:buSzPts val="1300"/>
              <a:buFont typeface="Arial"/>
              <a:buNone/>
            </a:pPr>
            <a:r>
              <a:rPr b="0" i="0" lang="es" sz="1300" u="none" cap="none" strike="noStrike">
                <a:solidFill>
                  <a:srgbClr val="171717"/>
                </a:solidFill>
                <a:latin typeface="Plus Jakarta Sans ExtraBold"/>
                <a:ea typeface="Plus Jakarta Sans ExtraBold"/>
                <a:cs typeface="Plus Jakarta Sans ExtraBold"/>
                <a:sym typeface="Plus Jakarta Sans ExtraBold"/>
              </a:rPr>
              <a:t>Objetivo: </a:t>
            </a:r>
            <a:r>
              <a:rPr b="0" i="0" lang="es" sz="1300" u="none" cap="none" strike="noStrike">
                <a:solidFill>
                  <a:srgbClr val="171717"/>
                </a:solidFill>
                <a:latin typeface="Plus Jakarta Sans Light"/>
                <a:ea typeface="Plus Jakarta Sans Light"/>
                <a:cs typeface="Plus Jakarta Sans Light"/>
                <a:sym typeface="Plus Jakarta Sans Light"/>
              </a:rPr>
              <a:t>cerrar el circuito y empaquetar la entrega.</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3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Durante este paso vamos 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Guardar solo el resumen con Create/Update Record (nada de transcripciones).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Probar dos sesiones del mismo usuario y verificar que retoma el contexto.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200"/>
              </a:spcBef>
              <a:spcAft>
                <a:spcPts val="0"/>
              </a:spcAft>
              <a:buClr>
                <a:srgbClr val="FF632B"/>
              </a:buClr>
              <a:buSzPts val="1170"/>
              <a:buFont typeface="Plus Jakarta Sans"/>
              <a:buChar char="•"/>
            </a:pPr>
            <a:r>
              <a:rPr b="0" i="0" lang="es" sz="1300" u="none" cap="none" strike="noStrike">
                <a:solidFill>
                  <a:srgbClr val="171717"/>
                </a:solidFill>
                <a:latin typeface="Plus Jakarta Sans Light"/>
                <a:ea typeface="Plus Jakarta Sans Light"/>
                <a:cs typeface="Plus Jakarta Sans Light"/>
                <a:sym typeface="Plus Jakarta Sans Light"/>
              </a:rPr>
              <a:t>Documentar la arquitectura con capturas en un PDF.</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20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Resultado esperado: </a:t>
            </a:r>
            <a:r>
              <a:rPr b="0" i="0" lang="es" sz="1300" u="none" cap="none" strike="noStrike">
                <a:solidFill>
                  <a:srgbClr val="171717"/>
                </a:solidFill>
                <a:latin typeface="Plus Jakarta Sans Light"/>
                <a:ea typeface="Plus Jakarta Sans Light"/>
                <a:cs typeface="Plus Jakarta Sans Light"/>
                <a:sym typeface="Plus Jakarta Sans Light"/>
              </a:rPr>
              <a:t>esta documentación ES tu Pre-entrega 3.</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299" name="Google Shape;299;p32"/>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Paso 5: escribir y documentar</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0" name="Google Shape;300;p32"/>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Del circuito al PDF</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3"/>
          <p:cNvSpPr txBox="1"/>
          <p:nvPr/>
        </p:nvSpPr>
        <p:spPr>
          <a:xfrm>
            <a:off x="6180025" y="314075"/>
            <a:ext cx="2630700" cy="17199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0"/>
              <a:buFont typeface="Arial"/>
              <a:buNone/>
            </a:pPr>
            <a:r>
              <a:rPr b="0" i="0" lang="es" sz="13000" u="none" cap="none" strike="noStrike">
                <a:solidFill>
                  <a:srgbClr val="FF632B"/>
                </a:solidFill>
                <a:latin typeface="Plus Jakarta Sans ExtraBold"/>
                <a:ea typeface="Plus Jakarta Sans ExtraBold"/>
                <a:cs typeface="Plus Jakarta Sans ExtraBold"/>
                <a:sym typeface="Plus Jakarta Sans ExtraBold"/>
              </a:rPr>
              <a:t>05</a:t>
            </a:r>
            <a:endParaRPr b="0" i="0" sz="13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06" name="Google Shape;306;p33"/>
          <p:cNvSpPr txBox="1"/>
          <p:nvPr/>
        </p:nvSpPr>
        <p:spPr>
          <a:xfrm>
            <a:off x="641650" y="3337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Pre-entrega 3</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34"/>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Una capa de persistencia híbrida </a:t>
            </a:r>
            <a:r>
              <a:rPr b="0" i="0" lang="es" sz="1300" u="none" cap="none" strike="noStrike">
                <a:solidFill>
                  <a:srgbClr val="171717"/>
                </a:solidFill>
                <a:latin typeface="Plus Jakarta Sans Light"/>
                <a:ea typeface="Plus Jakarta Sans Light"/>
                <a:cs typeface="Plus Jakarta Sans Light"/>
                <a:sym typeface="Plus Jakarta Sans Light"/>
              </a:rPr>
              <a:t>en Airtable conectada al agente central.</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Un circuito limpio </a:t>
            </a:r>
            <a:r>
              <a:rPr b="0" i="0" lang="es" sz="1300" u="none" cap="none" strike="noStrike">
                <a:solidFill>
                  <a:srgbClr val="171717"/>
                </a:solidFill>
                <a:latin typeface="Plus Jakarta Sans Light"/>
                <a:ea typeface="Plus Jakarta Sans Light"/>
                <a:cs typeface="Plus Jakarta Sans Light"/>
                <a:sym typeface="Plus Jakarta Sans Light"/>
              </a:rPr>
              <a:t>de lectura, inyección y escritura filtrado por Session_ID.</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Un resumen automático </a:t>
            </a:r>
            <a:r>
              <a:rPr b="0" i="0" lang="es" sz="1300" u="none" cap="none" strike="noStrike">
                <a:solidFill>
                  <a:srgbClr val="171717"/>
                </a:solidFill>
                <a:latin typeface="Plus Jakarta Sans Light"/>
                <a:ea typeface="Plus Jakarta Sans Light"/>
                <a:cs typeface="Plus Jakarta Sans Light"/>
                <a:sym typeface="Plus Jakarta Sans Light"/>
              </a:rPr>
              <a:t>que optimiza la ventana de contexto al superar 5 mensajes.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12" name="Google Shape;312;p34"/>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¿De qué se trata?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13" name="Google Shape;313;p34"/>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Erradicar la amnesia del agente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35"/>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Tabla en Airtable </a:t>
            </a:r>
            <a:r>
              <a:rPr b="0" i="0" lang="es" sz="1300" u="none" cap="none" strike="noStrike">
                <a:solidFill>
                  <a:srgbClr val="171717"/>
                </a:solidFill>
                <a:latin typeface="Plus Jakarta Sans Light"/>
                <a:ea typeface="Plus Jakarta Sans Light"/>
                <a:cs typeface="Plus Jakarta Sans Light"/>
                <a:sym typeface="Plus Jakarta Sans Light"/>
              </a:rPr>
              <a:t>con Session_ID, resumen, estado y datos clave.</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Circuito lectura → IF → inyección </a:t>
            </a:r>
            <a:r>
              <a:rPr b="0" i="0" lang="es" sz="1300" u="none" cap="none" strike="noStrike">
                <a:solidFill>
                  <a:srgbClr val="171717"/>
                </a:solidFill>
                <a:latin typeface="Plus Jakarta Sans Light"/>
                <a:ea typeface="Plus Jakarta Sans Light"/>
                <a:cs typeface="Plus Jakarta Sans Light"/>
                <a:sym typeface="Plus Jakarta Sans Light"/>
              </a:rPr>
              <a:t>con delimitadores rígidos en el System Prompt.</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Summarization </a:t>
            </a:r>
            <a:r>
              <a:rPr b="0" i="0" lang="es" sz="1300" u="none" cap="none" strike="noStrike">
                <a:solidFill>
                  <a:srgbClr val="171717"/>
                </a:solidFill>
                <a:latin typeface="Plus Jakarta Sans Light"/>
                <a:ea typeface="Plus Jakarta Sans Light"/>
                <a:cs typeface="Plus Jakarta Sans Light"/>
                <a:sym typeface="Plus Jakarta Sans Light"/>
              </a:rPr>
              <a:t>con un modelo económico que devuelva JSON estructurado.</a:t>
            </a:r>
            <a:endParaRPr b="0" i="0" sz="1300" u="none" cap="none" strike="noStrike">
              <a:solidFill>
                <a:srgbClr val="171717"/>
              </a:solidFill>
              <a:latin typeface="Plus Jakarta Sans Light"/>
              <a:ea typeface="Plus Jakarta Sans Light"/>
              <a:cs typeface="Plus Jakarta Sans Light"/>
              <a:sym typeface="Plus Jakarta Sans Light"/>
            </a:endParaRPr>
          </a:p>
          <a:p>
            <a:pPr indent="0" lvl="0" marL="0" marR="0" rtl="0" algn="l">
              <a:lnSpc>
                <a:spcPct val="112000"/>
              </a:lnSpc>
              <a:spcBef>
                <a:spcPts val="520"/>
              </a:spcBef>
              <a:spcAft>
                <a:spcPts val="0"/>
              </a:spcAft>
              <a:buClr>
                <a:srgbClr val="000000"/>
              </a:buClr>
              <a:buSzPts val="1300"/>
              <a:buFont typeface="Arial"/>
              <a:buNone/>
            </a:pPr>
            <a:r>
              <a:rPr b="0" i="0" lang="es" sz="1300" u="none" cap="none" strike="noStrike">
                <a:solidFill>
                  <a:srgbClr val="FF632B"/>
                </a:solidFill>
                <a:latin typeface="Plus Jakarta Sans ExtraBold"/>
                <a:ea typeface="Plus Jakarta Sans ExtraBold"/>
                <a:cs typeface="Plus Jakarta Sans ExtraBold"/>
                <a:sym typeface="Plus Jakarta Sans ExtraBold"/>
              </a:rPr>
              <a:t>Entrega: </a:t>
            </a:r>
            <a:r>
              <a:rPr b="0" i="0" lang="es" sz="1300" u="none" cap="none" strike="noStrike">
                <a:solidFill>
                  <a:srgbClr val="171717"/>
                </a:solidFill>
                <a:latin typeface="Plus Jakarta Sans Light"/>
                <a:ea typeface="Plus Jakarta Sans Light"/>
                <a:cs typeface="Plus Jakarta Sans Light"/>
                <a:sym typeface="Plus Jakarta Sans Light"/>
              </a:rPr>
              <a:t>PDF con la arquitectura del lienzo, el prompt de resumen y el esquema de datos.</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19" name="Google Shape;319;p35"/>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Tu misión</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0" name="Google Shape;320;p35"/>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Construir la memoria del agente</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6"/>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Aislamiento de sesión — 40%: </a:t>
            </a:r>
            <a:r>
              <a:rPr b="0" i="0" lang="es" sz="1300" u="none" cap="none" strike="noStrike">
                <a:solidFill>
                  <a:srgbClr val="171717"/>
                </a:solidFill>
                <a:latin typeface="Plus Jakarta Sans Light"/>
                <a:ea typeface="Plus Jakarta Sans Light"/>
                <a:cs typeface="Plus Jakarta Sans Light"/>
                <a:sym typeface="Plus Jakarta Sans Light"/>
              </a:rPr>
              <a:t>circuito filtrado por Session_ID desde el inicio, sin amnesia cruzada.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Context engineering — 30%: </a:t>
            </a:r>
            <a:r>
              <a:rPr b="0" i="0" lang="es" sz="1300" u="none" cap="none" strike="noStrike">
                <a:solidFill>
                  <a:srgbClr val="171717"/>
                </a:solidFill>
                <a:latin typeface="Plus Jakarta Sans Light"/>
                <a:ea typeface="Plus Jakarta Sans Light"/>
                <a:cs typeface="Plus Jakarta Sans Light"/>
                <a:sym typeface="Plus Jakarta Sans Light"/>
              </a:rPr>
              <a:t>rama de resumen tras 5 mensajes, modelo económico y JSON exacto.</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Integración y limpieza — 30%: </a:t>
            </a:r>
            <a:r>
              <a:rPr b="0" i="0" lang="es" sz="1300" u="none" cap="none" strike="noStrike">
                <a:solidFill>
                  <a:srgbClr val="171717"/>
                </a:solidFill>
                <a:latin typeface="Plus Jakarta Sans Light"/>
                <a:ea typeface="Plus Jakarta Sans Light"/>
                <a:cs typeface="Plus Jakarta Sans Light"/>
                <a:sym typeface="Plus Jakarta Sans Light"/>
              </a:rPr>
              <a:t>guardar solo hechos accionables; base íntegra y ordenada.</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26" name="Google Shape;326;p36"/>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0" i="0" lang="es" sz="4000" u="none" cap="none" strike="noStrike">
                <a:solidFill>
                  <a:srgbClr val="FF632B"/>
                </a:solidFill>
                <a:latin typeface="Plus Jakarta Sans ExtraBold"/>
                <a:ea typeface="Plus Jakarta Sans ExtraBold"/>
                <a:cs typeface="Plus Jakarta Sans ExtraBold"/>
                <a:sym typeface="Plus Jakarta Sans ExtraBold"/>
              </a:rPr>
              <a:t>¿Cómo se evalúa?</a:t>
            </a:r>
            <a:endParaRPr b="0" i="0" sz="40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27" name="Google Shape;327;p36"/>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Rúbrica sobre 100 · Aprobás con 70</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37"/>
          <p:cNvSpPr txBox="1"/>
          <p:nvPr/>
        </p:nvSpPr>
        <p:spPr>
          <a:xfrm>
            <a:off x="739075" y="2481425"/>
            <a:ext cx="7815600" cy="2269500"/>
          </a:xfrm>
          <a:prstGeom prst="rect">
            <a:avLst/>
          </a:prstGeom>
          <a:noFill/>
          <a:ln>
            <a:noFill/>
          </a:ln>
        </p:spPr>
        <p:txBody>
          <a:bodyPr anchorCtr="0" anchor="t" bIns="91425" lIns="91425" spcFirstLastPara="1" rIns="91425" wrap="square" tIns="91425">
            <a:noAutofit/>
          </a:bodyPr>
          <a:lstStyle/>
          <a:p>
            <a:pPr indent="-228600" lvl="0" marL="228600" marR="0" rtl="0" algn="l">
              <a:lnSpc>
                <a:spcPct val="112000"/>
              </a:lnSpc>
              <a:spcBef>
                <a:spcPts val="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Ya tenés: </a:t>
            </a:r>
            <a:r>
              <a:rPr b="0" i="0" lang="es" sz="1300" u="none" cap="none" strike="noStrike">
                <a:solidFill>
                  <a:srgbClr val="171717"/>
                </a:solidFill>
                <a:latin typeface="Plus Jakarta Sans Light"/>
                <a:ea typeface="Plus Jakarta Sans Light"/>
                <a:cs typeface="Plus Jakarta Sans Light"/>
                <a:sym typeface="Plus Jakarta Sans Light"/>
              </a:rPr>
              <a:t>un agente con memoria de corto, largo plazo y compartida.</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Módulo 4: </a:t>
            </a:r>
            <a:r>
              <a:rPr b="0" i="0" lang="es" sz="1300" u="none" cap="none" strike="noStrike">
                <a:solidFill>
                  <a:srgbClr val="171717"/>
                </a:solidFill>
                <a:latin typeface="Plus Jakarta Sans Light"/>
                <a:ea typeface="Plus Jakarta Sans Light"/>
                <a:cs typeface="Plus Jakarta Sans Light"/>
                <a:sym typeface="Plus Jakarta Sans Light"/>
              </a:rPr>
              <a:t>Ecosistema de Herramientas e Integraciones.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La conexión: </a:t>
            </a:r>
            <a:r>
              <a:rPr b="0" i="0" lang="es" sz="1300" u="none" cap="none" strike="noStrike">
                <a:solidFill>
                  <a:srgbClr val="171717"/>
                </a:solidFill>
                <a:latin typeface="Plus Jakarta Sans Light"/>
                <a:ea typeface="Plus Jakarta Sans Light"/>
                <a:cs typeface="Plus Jakarta Sans Light"/>
                <a:sym typeface="Plus Jakarta Sans Light"/>
              </a:rPr>
              <a:t>tu agente ya recuerda; ahora lo conectás al mundo real: Workspace, CRM, email y canales.</a:t>
            </a:r>
            <a:endParaRPr b="0" i="0" sz="1300" u="none" cap="none" strike="noStrike">
              <a:solidFill>
                <a:srgbClr val="171717"/>
              </a:solidFill>
              <a:latin typeface="Plus Jakarta Sans Light"/>
              <a:ea typeface="Plus Jakarta Sans Light"/>
              <a:cs typeface="Plus Jakarta Sans Light"/>
              <a:sym typeface="Plus Jakarta Sans Light"/>
            </a:endParaRPr>
          </a:p>
          <a:p>
            <a:pPr indent="-228600" lvl="0" marL="228600" marR="0" rtl="0" algn="l">
              <a:lnSpc>
                <a:spcPct val="112000"/>
              </a:lnSpc>
              <a:spcBef>
                <a:spcPts val="520"/>
              </a:spcBef>
              <a:spcAft>
                <a:spcPts val="520"/>
              </a:spcAft>
              <a:buClr>
                <a:srgbClr val="FF632B"/>
              </a:buClr>
              <a:buSzPts val="1170"/>
              <a:buFont typeface="Plus Jakarta Sans"/>
              <a:buChar char="•"/>
            </a:pPr>
            <a:r>
              <a:rPr b="0" i="0" lang="es" sz="1300" u="none" cap="none" strike="noStrike">
                <a:solidFill>
                  <a:srgbClr val="171717"/>
                </a:solidFill>
                <a:latin typeface="Plus Jakarta Sans ExtraBold"/>
                <a:ea typeface="Plus Jakarta Sans ExtraBold"/>
                <a:cs typeface="Plus Jakarta Sans ExtraBold"/>
                <a:sym typeface="Plus Jakarta Sans ExtraBold"/>
              </a:rPr>
              <a:t>Para llevar: </a:t>
            </a:r>
            <a:r>
              <a:rPr b="0" i="0" lang="es" sz="1300" u="none" cap="none" strike="noStrike">
                <a:solidFill>
                  <a:srgbClr val="171717"/>
                </a:solidFill>
                <a:latin typeface="Plus Jakarta Sans Light"/>
                <a:ea typeface="Plus Jakarta Sans Light"/>
                <a:cs typeface="Plus Jakarta Sans Light"/>
                <a:sym typeface="Plus Jakarta Sans Light"/>
              </a:rPr>
              <a:t>no persistas todo; persistí lo correcto.</a:t>
            </a:r>
            <a:endParaRPr b="0" i="0" sz="1300" u="none" cap="none" strike="noStrike">
              <a:solidFill>
                <a:srgbClr val="171717"/>
              </a:solidFill>
              <a:latin typeface="Plus Jakarta Sans Light"/>
              <a:ea typeface="Plus Jakarta Sans Light"/>
              <a:cs typeface="Plus Jakarta Sans Light"/>
              <a:sym typeface="Plus Jakarta Sans Light"/>
            </a:endParaRPr>
          </a:p>
        </p:txBody>
      </p:sp>
      <p:sp>
        <p:nvSpPr>
          <p:cNvPr id="333" name="Google Shape;333;p37"/>
          <p:cNvSpPr txBox="1"/>
          <p:nvPr/>
        </p:nvSpPr>
        <p:spPr>
          <a:xfrm>
            <a:off x="602400" y="659600"/>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es" sz="2600" u="none" cap="none" strike="noStrike">
                <a:solidFill>
                  <a:srgbClr val="FF632B"/>
                </a:solidFill>
                <a:latin typeface="Plus Jakarta Sans ExtraBold"/>
                <a:ea typeface="Plus Jakarta Sans ExtraBold"/>
                <a:cs typeface="Plus Jakarta Sans ExtraBold"/>
                <a:sym typeface="Plus Jakarta Sans ExtraBold"/>
              </a:rPr>
              <a:t>¿Cómo continúa el proyecto?</a:t>
            </a:r>
            <a:endParaRPr b="0" i="0" sz="2600" u="none" cap="none" strike="noStrike">
              <a:solidFill>
                <a:srgbClr val="FF632B"/>
              </a:solidFill>
              <a:latin typeface="Plus Jakarta Sans ExtraBold"/>
              <a:ea typeface="Plus Jakarta Sans ExtraBold"/>
              <a:cs typeface="Plus Jakarta Sans ExtraBold"/>
              <a:sym typeface="Plus Jakarta Sans ExtraBold"/>
            </a:endParaRPr>
          </a:p>
        </p:txBody>
      </p:sp>
      <p:sp>
        <p:nvSpPr>
          <p:cNvPr id="334" name="Google Shape;334;p37"/>
          <p:cNvSpPr txBox="1"/>
          <p:nvPr/>
        </p:nvSpPr>
        <p:spPr>
          <a:xfrm>
            <a:off x="739075" y="1432375"/>
            <a:ext cx="6462900" cy="840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s" sz="2000" u="none" cap="none" strike="noStrike">
                <a:solidFill>
                  <a:srgbClr val="171717"/>
                </a:solidFill>
                <a:latin typeface="Plus Jakarta Sans"/>
                <a:ea typeface="Plus Jakarta Sans"/>
                <a:cs typeface="Plus Jakarta Sans"/>
                <a:sym typeface="Plus Jakarta Sans"/>
              </a:rPr>
              <a:t>Puente al Módulo 4</a:t>
            </a:r>
            <a:endParaRPr b="0" i="0" sz="2000" u="none" cap="none" strike="noStrike">
              <a:solidFill>
                <a:srgbClr val="171717"/>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8"/>
          <p:cNvSpPr txBox="1"/>
          <p:nvPr/>
        </p:nvSpPr>
        <p:spPr>
          <a:xfrm>
            <a:off x="739075" y="3510226"/>
            <a:ext cx="7815600" cy="2748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s" sz="1200" u="none" cap="none" strike="noStrike">
                <a:solidFill>
                  <a:srgbClr val="F8F2E8"/>
                </a:solidFill>
                <a:latin typeface="Plus Jakarta Sans Light"/>
                <a:ea typeface="Plus Jakarta Sans Light"/>
                <a:cs typeface="Plus Jakarta Sans Light"/>
                <a:sym typeface="Plus Jakarta Sans Light"/>
              </a:rPr>
              <a:t>¿Cómo sabemos si un sistema tiene demasiada memoria? La respuesta es el ruido semántico.</a:t>
            </a:r>
            <a:endParaRPr b="0" i="0" sz="1200" u="none" cap="none" strike="noStrike">
              <a:solidFill>
                <a:srgbClr val="F8F2E8"/>
              </a:solidFill>
              <a:latin typeface="Plus Jakarta Sans Light"/>
              <a:ea typeface="Plus Jakarta Sans Light"/>
              <a:cs typeface="Plus Jakarta Sans Light"/>
              <a:sym typeface="Plus Jakarta Sans Light"/>
            </a:endParaRPr>
          </a:p>
        </p:txBody>
      </p:sp>
      <p:sp>
        <p:nvSpPr>
          <p:cNvPr id="340" name="Google Shape;340;p38"/>
          <p:cNvSpPr txBox="1"/>
          <p:nvPr/>
        </p:nvSpPr>
        <p:spPr>
          <a:xfrm>
            <a:off x="1415425" y="2371426"/>
            <a:ext cx="6462900" cy="1138800"/>
          </a:xfrm>
          <a:prstGeom prst="rect">
            <a:avLst/>
          </a:prstGeom>
          <a:noFill/>
          <a:ln>
            <a:noFill/>
          </a:ln>
        </p:spPr>
        <p:txBody>
          <a:bodyPr anchorCtr="0" anchor="t" bIns="91425" lIns="91425" spcFirstLastPara="1" rIns="91425" wrap="square" tIns="91425">
            <a:noAutofit/>
          </a:bodyPr>
          <a:lstStyle/>
          <a:p>
            <a:pPr indent="0" lvl="0" marL="0" marR="0" rtl="0" algn="ctr">
              <a:lnSpc>
                <a:spcPct val="70000"/>
              </a:lnSpc>
              <a:spcBef>
                <a:spcPts val="0"/>
              </a:spcBef>
              <a:spcAft>
                <a:spcPts val="0"/>
              </a:spcAft>
              <a:buClr>
                <a:srgbClr val="000000"/>
              </a:buClr>
              <a:buSzPts val="4800"/>
              <a:buFont typeface="Arial"/>
              <a:buNone/>
            </a:pPr>
            <a:r>
              <a:rPr b="0" i="0" lang="es" sz="4800" u="none" cap="none" strike="noStrike">
                <a:solidFill>
                  <a:srgbClr val="F8F2E8"/>
                </a:solidFill>
                <a:latin typeface="Plus Jakarta Sans ExtraBold"/>
                <a:ea typeface="Plus Jakarta Sans ExtraBold"/>
                <a:cs typeface="Plus Jakarta Sans ExtraBold"/>
                <a:sym typeface="Plus Jakarta Sans ExtraBold"/>
              </a:rPr>
              <a:t>¿Preguntas?</a:t>
            </a:r>
            <a:endParaRPr b="0" i="0" sz="4800" u="none" cap="none" strike="noStrike">
              <a:solidFill>
                <a:srgbClr val="F8F2E8"/>
              </a:solidFill>
              <a:latin typeface="Plus Jakarta Sans ExtraBold"/>
              <a:ea typeface="Plus Jakarta Sans ExtraBold"/>
              <a:cs typeface="Plus Jakarta Sans ExtraBold"/>
              <a:sym typeface="Plus Jakarta Sans ExtraBo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9"/>
          <p:cNvSpPr txBox="1"/>
          <p:nvPr/>
        </p:nvSpPr>
        <p:spPr>
          <a:xfrm>
            <a:off x="571500" y="2392650"/>
            <a:ext cx="6977400" cy="1500000"/>
          </a:xfrm>
          <a:prstGeom prst="rect">
            <a:avLst/>
          </a:prstGeom>
          <a:noFill/>
          <a:ln>
            <a:noFill/>
          </a:ln>
        </p:spPr>
        <p:txBody>
          <a:bodyPr anchorCtr="0" anchor="t" bIns="91425" lIns="91425" spcFirstLastPara="1" rIns="91425" wrap="square" tIns="91425">
            <a:noAutofit/>
          </a:bodyPr>
          <a:lstStyle/>
          <a:p>
            <a:pPr indent="0" lvl="0" marL="0" marR="0" rtl="0" algn="l">
              <a:lnSpc>
                <a:spcPct val="80000"/>
              </a:lnSpc>
              <a:spcBef>
                <a:spcPts val="0"/>
              </a:spcBef>
              <a:spcAft>
                <a:spcPts val="0"/>
              </a:spcAft>
              <a:buClr>
                <a:srgbClr val="000000"/>
              </a:buClr>
              <a:buSzPts val="4900"/>
              <a:buFont typeface="Arial"/>
              <a:buNone/>
            </a:pPr>
            <a:r>
              <a:rPr b="0" i="0" lang="es" sz="4900" u="none" cap="none" strike="noStrike">
                <a:solidFill>
                  <a:srgbClr val="F8F2E8"/>
                </a:solidFill>
                <a:latin typeface="Plus Jakarta Sans ExtraBold"/>
                <a:ea typeface="Plus Jakarta Sans ExtraBold"/>
                <a:cs typeface="Plus Jakarta Sans ExtraBold"/>
                <a:sym typeface="Plus Jakarta Sans ExtraBold"/>
              </a:rPr>
              <a:t>¡Gracias por </a:t>
            </a:r>
            <a:r>
              <a:rPr b="0" i="0" lang="es" sz="4900" u="none" cap="none" strike="noStrike">
                <a:solidFill>
                  <a:srgbClr val="FDAB2E"/>
                </a:solidFill>
                <a:latin typeface="Plus Jakarta Sans ExtraBold"/>
                <a:ea typeface="Plus Jakarta Sans ExtraBold"/>
                <a:cs typeface="Plus Jakarta Sans ExtraBold"/>
                <a:sym typeface="Plus Jakarta Sans ExtraBold"/>
              </a:rPr>
              <a:t>estudiar </a:t>
            </a:r>
            <a:r>
              <a:rPr b="0" i="0" lang="es" sz="4900" u="none" cap="none" strike="noStrike">
                <a:solidFill>
                  <a:srgbClr val="F8F2E8"/>
                </a:solidFill>
                <a:latin typeface="Plus Jakarta Sans ExtraBold"/>
                <a:ea typeface="Plus Jakarta Sans ExtraBold"/>
                <a:cs typeface="Plus Jakarta Sans ExtraBold"/>
                <a:sym typeface="Plus Jakarta Sans ExtraBold"/>
              </a:rPr>
              <a:t>con nosotros!</a:t>
            </a:r>
            <a:endParaRPr b="0" i="0" sz="4900" u="none" cap="none" strike="noStrike">
              <a:solidFill>
                <a:srgbClr val="F8F2E8"/>
              </a:solidFill>
              <a:latin typeface="Plus Jakarta Sans ExtraBold"/>
              <a:ea typeface="Plus Jakarta Sans ExtraBold"/>
              <a:cs typeface="Plus Jakarta Sans ExtraBold"/>
              <a:sym typeface="Plus Jakarta Sans ExtraBold"/>
            </a:endParaRPr>
          </a:p>
        </p:txBody>
      </p:sp>
      <p:sp>
        <p:nvSpPr>
          <p:cNvPr id="346" name="Google Shape;346;p39"/>
          <p:cNvSpPr txBox="1"/>
          <p:nvPr/>
        </p:nvSpPr>
        <p:spPr>
          <a:xfrm>
            <a:off x="571500" y="3792150"/>
            <a:ext cx="8001000" cy="906300"/>
          </a:xfrm>
          <a:prstGeom prst="rect">
            <a:avLst/>
          </a:prstGeom>
          <a:noFill/>
          <a:ln>
            <a:noFill/>
          </a:ln>
        </p:spPr>
        <p:txBody>
          <a:bodyPr anchorCtr="0" anchor="b" bIns="0" lIns="0" spcFirstLastPara="1" rIns="0" wrap="square" tIns="0">
            <a:noAutofit/>
          </a:bodyPr>
          <a:lstStyle/>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We have provided this presentation to you for informational and illustrative purposes on a confidential basis. We reserve the right to use of non-disclosure agreements (NDAs) to protect our privacy and intellectual property rights. The information contained in this document is highly sensitive, confidential and/or proprietary and is intended for the express use of the intended recipient, as denoted on the title page of this document. The recipient of this presentation agrees by its receipt not to reproduce, duplicate, or reveal, in whole or in part, information presented herein without written permission of Coderhouse. No representation or warranty, expressed or implied, is made as to the accuracy or completeness of the information contained in this presentation. Any quote contained herein is for estimation purposes. Estimates are based on current, known requirements. Actual estimates may change once project elements are finalized or negotiated. This document may contain confidential pricing information. All pricing is subject to change.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t/>
            </a:r>
            <a:endParaRPr b="0" i="0" sz="600" u="none" cap="none" strike="noStrike">
              <a:solidFill>
                <a:srgbClr val="F8F2E8"/>
              </a:solidFill>
              <a:latin typeface="Plus Jakarta Sans"/>
              <a:ea typeface="Plus Jakarta Sans"/>
              <a:cs typeface="Plus Jakarta Sans"/>
              <a:sym typeface="Plus Jakarta Sans"/>
            </a:endParaRPr>
          </a:p>
          <a:p>
            <a:pPr indent="0" lvl="0" marL="0" marR="0" rtl="0" algn="just">
              <a:lnSpc>
                <a:spcPct val="100000"/>
              </a:lnSpc>
              <a:spcBef>
                <a:spcPts val="0"/>
              </a:spcBef>
              <a:spcAft>
                <a:spcPts val="0"/>
              </a:spcAft>
              <a:buClr>
                <a:srgbClr val="000000"/>
              </a:buClr>
              <a:buSzPts val="600"/>
              <a:buFont typeface="Arial"/>
              <a:buNone/>
            </a:pPr>
            <a:r>
              <a:rPr b="0" i="0" lang="es" sz="600" u="none" cap="none" strike="noStrike">
                <a:solidFill>
                  <a:srgbClr val="F8F2E8"/>
                </a:solidFill>
                <a:latin typeface="Plus Jakarta Sans"/>
                <a:ea typeface="Plus Jakarta Sans"/>
                <a:cs typeface="Plus Jakarta Sans"/>
                <a:sym typeface="Plus Jakarta Sans"/>
              </a:rPr>
              <a:t>Copyright © 2026 Coderhouse. All rights reserved. Coderhouse and the Coderhouse logo are trademarks or registered trademarks of Coderhouse. in the U.S. and/or other countries. All other trademarks are the property of their respective owners.</a:t>
            </a:r>
            <a:endParaRPr b="0" i="0" sz="600" u="none" cap="none" strike="noStrike">
              <a:solidFill>
                <a:srgbClr val="F8F2E8"/>
              </a:solidFill>
              <a:latin typeface="Plus Jakarta Sans"/>
              <a:ea typeface="Plus Jakarta Sans"/>
              <a:cs typeface="Plus Jakarta Sans"/>
              <a:sym typeface="Plus Jakarta Sans"/>
            </a:endParaRPr>
          </a:p>
        </p:txBody>
      </p:sp>
      <p:pic>
        <p:nvPicPr>
          <p:cNvPr id="347" name="Google Shape;347;p39" title="Group 1321317428.png"/>
          <p:cNvPicPr preferRelativeResize="0"/>
          <p:nvPr/>
        </p:nvPicPr>
        <p:blipFill rotWithShape="1">
          <a:blip r:embed="rId3">
            <a:alphaModFix/>
          </a:blip>
          <a:srcRect b="0" l="0" r="0" t="0"/>
          <a:stretch/>
        </p:blipFill>
        <p:spPr>
          <a:xfrm>
            <a:off x="7711325" y="609525"/>
            <a:ext cx="861174" cy="85774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