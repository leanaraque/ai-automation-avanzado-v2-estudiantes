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7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Lst>
  <p:sldSz cy="5143500" cx="9144000"/>
  <p:notesSz cx="6858000" cy="9144000"/>
  <p:embeddedFontLst>
    <p:embeddedFont>
      <p:font typeface="Plus Jakarta Sans ExtraBold"/>
      <p:bold r:id="rId46"/>
      <p:boldItalic r:id="rId47"/>
    </p:embeddedFont>
    <p:embeddedFont>
      <p:font typeface="Plus Jakarta Sans"/>
      <p:regular r:id="rId48"/>
      <p:bold r:id="rId49"/>
      <p:italic r:id="rId50"/>
      <p:boldItalic r:id="rId51"/>
    </p:embeddedFont>
    <p:embeddedFont>
      <p:font typeface="Plus Jakarta Sans Light"/>
      <p:regular r:id="rId52"/>
      <p:bold r:id="rId53"/>
      <p:italic r:id="rId54"/>
      <p:boldItalic r:id="rId5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56" roundtripDataSignature="AMtx7mjV0qrzWD0rINN5mqfYXswfTd4JX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font" Target="fonts/PlusJakartaSansExtraBold-bold.fntdata"/><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PlusJakartaSans-regular.fntdata"/><Relationship Id="rId47" Type="http://schemas.openxmlformats.org/officeDocument/2006/relationships/font" Target="fonts/PlusJakartaSansExtraBold-boldItalic.fntdata"/><Relationship Id="rId49" Type="http://schemas.openxmlformats.org/officeDocument/2006/relationships/font" Target="fonts/PlusJakartaSans-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PlusJakartaSans-boldItalic.fntdata"/><Relationship Id="rId50" Type="http://schemas.openxmlformats.org/officeDocument/2006/relationships/font" Target="fonts/PlusJakartaSans-italic.fntdata"/><Relationship Id="rId53" Type="http://schemas.openxmlformats.org/officeDocument/2006/relationships/font" Target="fonts/PlusJakartaSansLight-bold.fntdata"/><Relationship Id="rId52" Type="http://schemas.openxmlformats.org/officeDocument/2006/relationships/font" Target="fonts/PlusJakartaSansLight-regular.fntdata"/><Relationship Id="rId11" Type="http://schemas.openxmlformats.org/officeDocument/2006/relationships/slide" Target="slides/slide5.xml"/><Relationship Id="rId55" Type="http://schemas.openxmlformats.org/officeDocument/2006/relationships/font" Target="fonts/PlusJakartaSansLight-boldItalic.fntdata"/><Relationship Id="rId10" Type="http://schemas.openxmlformats.org/officeDocument/2006/relationships/slide" Target="slides/slide4.xml"/><Relationship Id="rId54" Type="http://schemas.openxmlformats.org/officeDocument/2006/relationships/font" Target="fonts/PlusJakartaSansLight-italic.fntdata"/><Relationship Id="rId13" Type="http://schemas.openxmlformats.org/officeDocument/2006/relationships/slide" Target="slides/slide7.xml"/><Relationship Id="rId12" Type="http://schemas.openxmlformats.org/officeDocument/2006/relationships/slide" Target="slides/slide6.xml"/><Relationship Id="rId56" Type="http://customschemas.google.com/relationships/presentationmetadata" Target="meta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3" name="Google Shape;93;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1" name="Google Shape;101;p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7" name="Google Shape;107;p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f5876fb336_0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3" name="Google Shape;113;g3f5876fb336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9" name="Google Shape;119;p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5" name="Google Shape;125;p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2" name="Google Shape;132;p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9" name="Google Shape;139;p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6" name="Google Shape;146;p1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4" name="Google Shape;154;p1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0" name="Google Shape;160;p1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h4b93c11d3265945c_0_90: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h4b93c11d3265945c_0_90: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h4b93c11d3265945c_0_90: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8" name="Google Shape;208;p1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5" name="Google Shape;215;p1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3" name="Google Shape;223;p1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0" name="Google Shape;230;p1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7" name="Google Shape;237;p1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4" name="Google Shape;244;p1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2" name="Google Shape;252;p1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8" name="Google Shape;258;p2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5" name="Google Shape;265;p2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2" name="Google Shape;272;p2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9" name="Google Shape;279;p2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7" name="Google Shape;287;p2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4" name="Google Shape;294;p2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0" name="Google Shape;300;p2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6" name="Google Shape;306;p2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4" name="Google Shape;314;p2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1" name="Google Shape;321;p2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8" name="Google Shape;328;p3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5" name="Google Shape;335;p3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2" name="Google Shape;342;p3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9" name="Google Shape;349;p3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5" name="Google Shape;355;p3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2" name="Google Shape;362;p3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9" name="Google Shape;369;p3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6" name="Google Shape;376;p3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3" name="Google Shape;383;p3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9" name="Google Shape;389;p3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e">
  <p:cSld name="BLANK_1">
    <p:spTree>
      <p:nvGrpSpPr>
        <p:cNvPr id="9" name="Shape 9"/>
        <p:cNvGrpSpPr/>
        <p:nvPr/>
      </p:nvGrpSpPr>
      <p:grpSpPr>
        <a:xfrm>
          <a:off x="0" y="0"/>
          <a:ext cx="0" cy="0"/>
          <a:chOff x="0" y="0"/>
          <a:chExt cx="0" cy="0"/>
        </a:xfrm>
      </p:grpSpPr>
      <p:pic>
        <p:nvPicPr>
          <p:cNvPr id="10" name="Google Shape;10;p41" title="Coder Facebook (6).png"/>
          <p:cNvPicPr preferRelativeResize="0"/>
          <p:nvPr/>
        </p:nvPicPr>
        <p:blipFill rotWithShape="1">
          <a:blip r:embed="rId2">
            <a:alphaModFix/>
          </a:blip>
          <a:srcRect b="0" l="0" r="0" t="0"/>
          <a:stretch/>
        </p:blipFill>
        <p:spPr>
          <a:xfrm>
            <a:off x="-111725" y="0"/>
            <a:ext cx="9255725" cy="520635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eige" type="blank">
  <p:cSld name="BLANK">
    <p:bg>
      <p:bgPr>
        <a:solidFill>
          <a:srgbClr val="F8F2E8"/>
        </a:solidFill>
      </p:bgPr>
    </p:bg>
    <p:spTree>
      <p:nvGrpSpPr>
        <p:cNvPr id="11" name="Shape 11"/>
        <p:cNvGrpSpPr/>
        <p:nvPr/>
      </p:nvGrpSpPr>
      <p:grpSpPr>
        <a:xfrm>
          <a:off x="0" y="0"/>
          <a:ext cx="0" cy="0"/>
          <a:chOff x="0" y="0"/>
          <a:chExt cx="0" cy="0"/>
        </a:xfrm>
      </p:grpSpPr>
      <p:sp>
        <p:nvSpPr>
          <p:cNvPr id="12" name="Google Shape;12;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ranja">
  <p:cSld name="BLANK_2_1_1">
    <p:bg>
      <p:bgPr>
        <a:solidFill>
          <a:srgbClr val="FF632B"/>
        </a:solidFill>
      </p:bgPr>
    </p:bg>
    <p:spTree>
      <p:nvGrpSpPr>
        <p:cNvPr id="13" name="Shape 13"/>
        <p:cNvGrpSpPr/>
        <p:nvPr/>
      </p:nvGrpSpPr>
      <p:grpSpPr>
        <a:xfrm>
          <a:off x="0" y="0"/>
          <a:ext cx="0" cy="0"/>
          <a:chOff x="0" y="0"/>
          <a:chExt cx="0" cy="0"/>
        </a:xfrm>
      </p:grpSpPr>
      <p:sp>
        <p:nvSpPr>
          <p:cNvPr id="14" name="Google Shape;14;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rrón">
  <p:cSld name="BLANK_2_1">
    <p:bg>
      <p:bgPr>
        <a:solidFill>
          <a:srgbClr val="260700"/>
        </a:solidFill>
      </p:bgPr>
    </p:bg>
    <p:spTree>
      <p:nvGrpSpPr>
        <p:cNvPr id="15" name="Shape 15"/>
        <p:cNvGrpSpPr/>
        <p:nvPr/>
      </p:nvGrpSpPr>
      <p:grpSpPr>
        <a:xfrm>
          <a:off x="0" y="0"/>
          <a:ext cx="0" cy="0"/>
          <a:chOff x="0" y="0"/>
          <a:chExt cx="0" cy="0"/>
        </a:xfrm>
      </p:grpSpPr>
      <p:sp>
        <p:nvSpPr>
          <p:cNvPr id="16" name="Google Shape;16;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co 1">
  <p:cSld name="BLANK_3">
    <p:bg>
      <p:bgPr>
        <a:solidFill>
          <a:schemeClr val="lt1"/>
        </a:solidFill>
      </p:bgPr>
    </p:bg>
    <p:spTree>
      <p:nvGrpSpPr>
        <p:cNvPr id="17" name="Shape 17"/>
        <p:cNvGrpSpPr/>
        <p:nvPr/>
      </p:nvGrpSpPr>
      <p:grpSpPr>
        <a:xfrm>
          <a:off x="0" y="0"/>
          <a:ext cx="0" cy="0"/>
          <a:chOff x="0" y="0"/>
          <a:chExt cx="0" cy="0"/>
        </a:xfrm>
      </p:grpSpPr>
      <p:sp>
        <p:nvSpPr>
          <p:cNvPr id="18" name="Google Shape;18;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
        <p:nvSpPr>
          <p:cNvPr id="19" name="Google Shape;19;p42"/>
          <p:cNvSpPr txBox="1"/>
          <p:nvPr/>
        </p:nvSpPr>
        <p:spPr>
          <a:xfrm>
            <a:off x="476125" y="165026"/>
            <a:ext cx="6444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222224"/>
                </a:solidFill>
                <a:latin typeface="Plus Jakarta Sans"/>
                <a:ea typeface="Plus Jakarta Sans"/>
                <a:cs typeface="Plus Jakarta Sans"/>
                <a:sym typeface="Plus Jakarta Sans"/>
              </a:rPr>
              <a:t>Coderhouse</a:t>
            </a:r>
            <a:endParaRPr b="0" i="0" sz="500" u="none" cap="none" strike="noStrike">
              <a:solidFill>
                <a:srgbClr val="222224"/>
              </a:solidFill>
              <a:latin typeface="Plus Jakarta Sans"/>
              <a:ea typeface="Plus Jakarta Sans"/>
              <a:cs typeface="Plus Jakarta Sans"/>
              <a:sym typeface="Plus Jakarta Sans"/>
            </a:endParaRPr>
          </a:p>
        </p:txBody>
      </p:sp>
      <p:sp>
        <p:nvSpPr>
          <p:cNvPr id="20" name="Google Shape;20;p42"/>
          <p:cNvSpPr txBox="1"/>
          <p:nvPr/>
        </p:nvSpPr>
        <p:spPr>
          <a:xfrm>
            <a:off x="6923014" y="165026"/>
            <a:ext cx="1188600" cy="188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500"/>
              <a:buFont typeface="Arial"/>
              <a:buNone/>
            </a:pPr>
            <a:r>
              <a:rPr b="0" i="0" lang="es" sz="500" u="none" cap="none" strike="noStrike">
                <a:solidFill>
                  <a:srgbClr val="222224"/>
                </a:solidFill>
                <a:latin typeface="Plus Jakarta Sans"/>
                <a:ea typeface="Plus Jakarta Sans"/>
                <a:cs typeface="Plus Jakarta Sans"/>
                <a:sym typeface="Plus Jakarta Sans"/>
              </a:rPr>
              <a:t>Internal  Presentation</a:t>
            </a:r>
            <a:endParaRPr b="0" i="0" sz="500" u="none" cap="none" strike="noStrike">
              <a:solidFill>
                <a:srgbClr val="222224"/>
              </a:solidFill>
              <a:latin typeface="Plus Jakarta Sans"/>
              <a:ea typeface="Plus Jakarta Sans"/>
              <a:cs typeface="Plus Jakarta Sans"/>
              <a:sym typeface="Plus Jakarta Sans"/>
            </a:endParaRPr>
          </a:p>
        </p:txBody>
      </p:sp>
      <p:sp>
        <p:nvSpPr>
          <p:cNvPr id="21" name="Google Shape;21;p42"/>
          <p:cNvSpPr txBox="1"/>
          <p:nvPr/>
        </p:nvSpPr>
        <p:spPr>
          <a:xfrm>
            <a:off x="2196557" y="165026"/>
            <a:ext cx="12420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222224"/>
                </a:solidFill>
                <a:latin typeface="Plus Jakarta Sans"/>
                <a:ea typeface="Plus Jakarta Sans"/>
                <a:cs typeface="Plus Jakarta Sans"/>
                <a:sym typeface="Plus Jakarta Sans"/>
              </a:rPr>
              <a:t>2026</a:t>
            </a:r>
            <a:endParaRPr b="0" i="0" sz="500" u="none" cap="none" strike="noStrike">
              <a:solidFill>
                <a:srgbClr val="222224"/>
              </a:solidFill>
              <a:latin typeface="Plus Jakarta Sans"/>
              <a:ea typeface="Plus Jakarta Sans"/>
              <a:cs typeface="Plus Jakarta Sans"/>
              <a:sym typeface="Plus Jakarta Sans"/>
            </a:endParaRPr>
          </a:p>
        </p:txBody>
      </p:sp>
      <p:sp>
        <p:nvSpPr>
          <p:cNvPr id="22" name="Google Shape;22;p42"/>
          <p:cNvSpPr txBox="1"/>
          <p:nvPr/>
        </p:nvSpPr>
        <p:spPr>
          <a:xfrm>
            <a:off x="8373525" y="90649"/>
            <a:ext cx="369600" cy="337200"/>
          </a:xfrm>
          <a:prstGeom prst="rect">
            <a:avLst/>
          </a:prstGeom>
          <a:noFill/>
          <a:ln>
            <a:noFill/>
          </a:ln>
        </p:spPr>
        <p:txBody>
          <a:bodyPr anchorCtr="0" anchor="ctr" bIns="88475" lIns="88475" spcFirstLastPara="1" rIns="88475" wrap="square" tIns="88475">
            <a:noAutofit/>
          </a:bodyPr>
          <a:lstStyle/>
          <a:p>
            <a:pPr indent="0" lvl="0" marL="0" marR="0" rtl="0" algn="ctr">
              <a:lnSpc>
                <a:spcPct val="100000"/>
              </a:lnSpc>
              <a:spcBef>
                <a:spcPts val="0"/>
              </a:spcBef>
              <a:spcAft>
                <a:spcPts val="0"/>
              </a:spcAft>
              <a:buClr>
                <a:srgbClr val="000000"/>
              </a:buClr>
              <a:buSzPts val="500"/>
              <a:buFont typeface="Arial"/>
              <a:buNone/>
            </a:pPr>
            <a:fld id="{00000000-1234-1234-1234-123412341234}" type="slidenum">
              <a:rPr b="0" i="0" lang="es" sz="500" u="none" cap="none" strike="noStrike">
                <a:solidFill>
                  <a:srgbClr val="222224"/>
                </a:solidFill>
                <a:latin typeface="Plus Jakarta Sans"/>
                <a:ea typeface="Plus Jakarta Sans"/>
                <a:cs typeface="Plus Jakarta Sans"/>
                <a:sym typeface="Plus Jakarta Sans"/>
              </a:rPr>
              <a:t>‹#›</a:t>
            </a:fld>
            <a:endParaRPr b="0" i="0" sz="500" u="none" cap="none" strike="noStrike">
              <a:solidFill>
                <a:srgbClr val="222224"/>
              </a:solidFill>
              <a:latin typeface="Plus Jakarta Sans"/>
              <a:ea typeface="Plus Jakarta Sans"/>
              <a:cs typeface="Plus Jakarta Sans"/>
              <a:sym typeface="Plus Jakarta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p:cSld name="BLANK_3_1">
    <p:bg>
      <p:bgPr>
        <a:solidFill>
          <a:schemeClr val="lt1"/>
        </a:solidFill>
      </p:bgPr>
    </p:bg>
    <p:spTree>
      <p:nvGrpSpPr>
        <p:cNvPr id="23" name="Shape 23"/>
        <p:cNvGrpSpPr/>
        <p:nvPr/>
      </p:nvGrpSpPr>
      <p:grpSpPr>
        <a:xfrm>
          <a:off x="0" y="0"/>
          <a:ext cx="0" cy="0"/>
          <a:chOff x="0" y="0"/>
          <a:chExt cx="0" cy="0"/>
        </a:xfrm>
      </p:grpSpPr>
      <p:pic>
        <p:nvPicPr>
          <p:cNvPr id="24" name="Google Shape;24;p46" title="27800720-6c2b-4e33-a6ed-849e08f57757.png"/>
          <p:cNvPicPr preferRelativeResize="0"/>
          <p:nvPr/>
        </p:nvPicPr>
        <p:blipFill rotWithShape="1">
          <a:blip r:embed="rId2">
            <a:alphaModFix/>
          </a:blip>
          <a:srcRect b="53399" l="0" r="0" t="15047"/>
          <a:stretch/>
        </p:blipFill>
        <p:spPr>
          <a:xfrm>
            <a:off x="-45875" y="-37100"/>
            <a:ext cx="9235751" cy="5180600"/>
          </a:xfrm>
          <a:prstGeom prst="rect">
            <a:avLst/>
          </a:prstGeom>
          <a:noFill/>
          <a:ln>
            <a:noFill/>
          </a:ln>
        </p:spPr>
      </p:pic>
      <p:sp>
        <p:nvSpPr>
          <p:cNvPr id="25" name="Google Shape;25;p46"/>
          <p:cNvSpPr txBox="1"/>
          <p:nvPr/>
        </p:nvSpPr>
        <p:spPr>
          <a:xfrm>
            <a:off x="476125" y="165026"/>
            <a:ext cx="6444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Coderhouse</a:t>
            </a:r>
            <a:endParaRPr b="0" i="0" sz="500" u="none" cap="none" strike="noStrike">
              <a:solidFill>
                <a:srgbClr val="F8F2E8"/>
              </a:solidFill>
              <a:latin typeface="Plus Jakarta Sans"/>
              <a:ea typeface="Plus Jakarta Sans"/>
              <a:cs typeface="Plus Jakarta Sans"/>
              <a:sym typeface="Plus Jakarta Sans"/>
            </a:endParaRPr>
          </a:p>
        </p:txBody>
      </p:sp>
      <p:sp>
        <p:nvSpPr>
          <p:cNvPr id="26" name="Google Shape;26;p46"/>
          <p:cNvSpPr txBox="1"/>
          <p:nvPr/>
        </p:nvSpPr>
        <p:spPr>
          <a:xfrm>
            <a:off x="6923014" y="165026"/>
            <a:ext cx="1188600" cy="188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Internal  Presentation</a:t>
            </a:r>
            <a:endParaRPr b="0" i="0" sz="500" u="none" cap="none" strike="noStrike">
              <a:solidFill>
                <a:srgbClr val="F8F2E8"/>
              </a:solidFill>
              <a:latin typeface="Plus Jakarta Sans"/>
              <a:ea typeface="Plus Jakarta Sans"/>
              <a:cs typeface="Plus Jakarta Sans"/>
              <a:sym typeface="Plus Jakarta Sans"/>
            </a:endParaRPr>
          </a:p>
        </p:txBody>
      </p:sp>
      <p:sp>
        <p:nvSpPr>
          <p:cNvPr id="27" name="Google Shape;27;p46"/>
          <p:cNvSpPr txBox="1"/>
          <p:nvPr/>
        </p:nvSpPr>
        <p:spPr>
          <a:xfrm>
            <a:off x="2196557" y="165026"/>
            <a:ext cx="12420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2026</a:t>
            </a:r>
            <a:endParaRPr b="0" i="0" sz="500" u="none" cap="none" strike="noStrike">
              <a:solidFill>
                <a:srgbClr val="F8F2E8"/>
              </a:solidFill>
              <a:latin typeface="Plus Jakarta Sans"/>
              <a:ea typeface="Plus Jakarta Sans"/>
              <a:cs typeface="Plus Jakarta Sans"/>
              <a:sym typeface="Plus Jakarta Sans"/>
            </a:endParaRPr>
          </a:p>
        </p:txBody>
      </p:sp>
      <p:sp>
        <p:nvSpPr>
          <p:cNvPr id="28" name="Google Shape;28;p46"/>
          <p:cNvSpPr txBox="1"/>
          <p:nvPr/>
        </p:nvSpPr>
        <p:spPr>
          <a:xfrm>
            <a:off x="8373525" y="90649"/>
            <a:ext cx="369600" cy="337200"/>
          </a:xfrm>
          <a:prstGeom prst="rect">
            <a:avLst/>
          </a:prstGeom>
          <a:noFill/>
          <a:ln>
            <a:noFill/>
          </a:ln>
        </p:spPr>
        <p:txBody>
          <a:bodyPr anchorCtr="0" anchor="ctr" bIns="88475" lIns="88475" spcFirstLastPara="1" rIns="88475" wrap="square" tIns="88475">
            <a:noAutofit/>
          </a:bodyPr>
          <a:lstStyle/>
          <a:p>
            <a:pPr indent="0" lvl="0" marL="0" marR="0" rtl="0" algn="ctr">
              <a:lnSpc>
                <a:spcPct val="100000"/>
              </a:lnSpc>
              <a:spcBef>
                <a:spcPts val="0"/>
              </a:spcBef>
              <a:spcAft>
                <a:spcPts val="0"/>
              </a:spcAft>
              <a:buClr>
                <a:srgbClr val="000000"/>
              </a:buClr>
              <a:buSzPts val="500"/>
              <a:buFont typeface="Arial"/>
              <a:buNone/>
            </a:pPr>
            <a:fld id="{00000000-1234-1234-1234-123412341234}" type="slidenum">
              <a:rPr b="0" i="0" lang="es" sz="500" u="none" cap="none" strike="noStrike">
                <a:solidFill>
                  <a:srgbClr val="F8F2E8"/>
                </a:solidFill>
                <a:latin typeface="Plus Jakarta Sans"/>
                <a:ea typeface="Plus Jakarta Sans"/>
                <a:cs typeface="Plus Jakarta Sans"/>
                <a:sym typeface="Plus Jakarta Sans"/>
              </a:rPr>
              <a:t>‹#›</a:t>
            </a:fld>
            <a:endParaRPr b="0" i="0" sz="500" u="none" cap="none" strike="noStrike">
              <a:solidFill>
                <a:srgbClr val="F8F2E8"/>
              </a:solidFill>
              <a:latin typeface="Plus Jakarta Sans"/>
              <a:ea typeface="Plus Jakarta Sans"/>
              <a:cs typeface="Plus Jakarta Sans"/>
              <a:sym typeface="Plus Jakarta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sa">
  <p:cSld name="BLANK_2_1_1_1">
    <p:bg>
      <p:bgPr>
        <a:solidFill>
          <a:srgbClr val="FE64A3"/>
        </a:solidFill>
      </p:bgPr>
    </p:bg>
    <p:spTree>
      <p:nvGrpSpPr>
        <p:cNvPr id="29" name="Shape 29"/>
        <p:cNvGrpSpPr/>
        <p:nvPr/>
      </p:nvGrpSpPr>
      <p:grpSpPr>
        <a:xfrm>
          <a:off x="0" y="0"/>
          <a:ext cx="0" cy="0"/>
          <a:chOff x="0" y="0"/>
          <a:chExt cx="0" cy="0"/>
        </a:xfrm>
      </p:grpSpPr>
      <p:sp>
        <p:nvSpPr>
          <p:cNvPr id="30" name="Google Shape;30;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1 1">
  <p:cSld name="BLANK_3_1_1_1">
    <p:bg>
      <p:bgPr>
        <a:solidFill>
          <a:schemeClr val="lt1"/>
        </a:solidFill>
      </p:bgPr>
    </p:bg>
    <p:spTree>
      <p:nvGrpSpPr>
        <p:cNvPr id="31" name="Shape 31"/>
        <p:cNvGrpSpPr/>
        <p:nvPr/>
      </p:nvGrpSpPr>
      <p:grpSpPr>
        <a:xfrm>
          <a:off x="0" y="0"/>
          <a:ext cx="0" cy="0"/>
          <a:chOff x="0" y="0"/>
          <a:chExt cx="0" cy="0"/>
        </a:xfrm>
      </p:grpSpPr>
      <p:pic>
        <p:nvPicPr>
          <p:cNvPr id="32" name="Google Shape;32;p48" title="4d917f2d-7c08-49ef-b177-326a60a5c815.png"/>
          <p:cNvPicPr preferRelativeResize="0"/>
          <p:nvPr/>
        </p:nvPicPr>
        <p:blipFill rotWithShape="1">
          <a:blip r:embed="rId2">
            <a:alphaModFix/>
          </a:blip>
          <a:srcRect b="23542" l="0" r="0" t="34387"/>
          <a:stretch/>
        </p:blipFill>
        <p:spPr>
          <a:xfrm>
            <a:off x="-45875" y="-37100"/>
            <a:ext cx="9235753" cy="5180600"/>
          </a:xfrm>
          <a:prstGeom prst="rect">
            <a:avLst/>
          </a:prstGeom>
          <a:noFill/>
          <a:ln>
            <a:noFill/>
          </a:ln>
        </p:spPr>
      </p:pic>
      <p:sp>
        <p:nvSpPr>
          <p:cNvPr id="33" name="Google Shape;33;p48"/>
          <p:cNvSpPr txBox="1"/>
          <p:nvPr/>
        </p:nvSpPr>
        <p:spPr>
          <a:xfrm>
            <a:off x="476125" y="165026"/>
            <a:ext cx="6444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Coderhouse</a:t>
            </a:r>
            <a:endParaRPr b="0" i="0" sz="500" u="none" cap="none" strike="noStrike">
              <a:solidFill>
                <a:srgbClr val="F8F2E8"/>
              </a:solidFill>
              <a:latin typeface="Plus Jakarta Sans"/>
              <a:ea typeface="Plus Jakarta Sans"/>
              <a:cs typeface="Plus Jakarta Sans"/>
              <a:sym typeface="Plus Jakarta Sans"/>
            </a:endParaRPr>
          </a:p>
        </p:txBody>
      </p:sp>
      <p:sp>
        <p:nvSpPr>
          <p:cNvPr id="34" name="Google Shape;34;p48"/>
          <p:cNvSpPr txBox="1"/>
          <p:nvPr/>
        </p:nvSpPr>
        <p:spPr>
          <a:xfrm>
            <a:off x="6923014" y="165026"/>
            <a:ext cx="1188600" cy="188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Internal  Presentation</a:t>
            </a:r>
            <a:endParaRPr b="0" i="0" sz="500" u="none" cap="none" strike="noStrike">
              <a:solidFill>
                <a:srgbClr val="F8F2E8"/>
              </a:solidFill>
              <a:latin typeface="Plus Jakarta Sans"/>
              <a:ea typeface="Plus Jakarta Sans"/>
              <a:cs typeface="Plus Jakarta Sans"/>
              <a:sym typeface="Plus Jakarta Sans"/>
            </a:endParaRPr>
          </a:p>
        </p:txBody>
      </p:sp>
      <p:sp>
        <p:nvSpPr>
          <p:cNvPr id="35" name="Google Shape;35;p48"/>
          <p:cNvSpPr txBox="1"/>
          <p:nvPr/>
        </p:nvSpPr>
        <p:spPr>
          <a:xfrm>
            <a:off x="2196557" y="165026"/>
            <a:ext cx="12420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2026</a:t>
            </a:r>
            <a:endParaRPr b="0" i="0" sz="500" u="none" cap="none" strike="noStrike">
              <a:solidFill>
                <a:srgbClr val="F8F2E8"/>
              </a:solidFill>
              <a:latin typeface="Plus Jakarta Sans"/>
              <a:ea typeface="Plus Jakarta Sans"/>
              <a:cs typeface="Plus Jakarta Sans"/>
              <a:sym typeface="Plus Jakarta Sans"/>
            </a:endParaRPr>
          </a:p>
        </p:txBody>
      </p:sp>
      <p:sp>
        <p:nvSpPr>
          <p:cNvPr id="36" name="Google Shape;36;p48"/>
          <p:cNvSpPr txBox="1"/>
          <p:nvPr/>
        </p:nvSpPr>
        <p:spPr>
          <a:xfrm>
            <a:off x="8373525" y="90649"/>
            <a:ext cx="369600" cy="337200"/>
          </a:xfrm>
          <a:prstGeom prst="rect">
            <a:avLst/>
          </a:prstGeom>
          <a:noFill/>
          <a:ln>
            <a:noFill/>
          </a:ln>
        </p:spPr>
        <p:txBody>
          <a:bodyPr anchorCtr="0" anchor="ctr" bIns="88475" lIns="88475" spcFirstLastPara="1" rIns="88475" wrap="square" tIns="88475">
            <a:noAutofit/>
          </a:bodyPr>
          <a:lstStyle/>
          <a:p>
            <a:pPr indent="0" lvl="0" marL="0" marR="0" rtl="0" algn="ctr">
              <a:lnSpc>
                <a:spcPct val="100000"/>
              </a:lnSpc>
              <a:spcBef>
                <a:spcPts val="0"/>
              </a:spcBef>
              <a:spcAft>
                <a:spcPts val="0"/>
              </a:spcAft>
              <a:buClr>
                <a:srgbClr val="000000"/>
              </a:buClr>
              <a:buSzPts val="500"/>
              <a:buFont typeface="Arial"/>
              <a:buNone/>
            </a:pPr>
            <a:fld id="{00000000-1234-1234-1234-123412341234}" type="slidenum">
              <a:rPr b="0" i="0" lang="es" sz="500" u="none" cap="none" strike="noStrike">
                <a:solidFill>
                  <a:srgbClr val="F8F2E8"/>
                </a:solidFill>
                <a:latin typeface="Plus Jakarta Sans"/>
                <a:ea typeface="Plus Jakarta Sans"/>
                <a:cs typeface="Plus Jakarta Sans"/>
                <a:sym typeface="Plus Jakarta Sans"/>
              </a:rPr>
              <a:t>‹#›</a:t>
            </a:fld>
            <a:endParaRPr b="0" i="0" sz="500" u="none" cap="none" strike="noStrike">
              <a:solidFill>
                <a:srgbClr val="F8F2E8"/>
              </a:solidFill>
              <a:latin typeface="Plus Jakarta Sans"/>
              <a:ea typeface="Plus Jakarta Sans"/>
              <a:cs typeface="Plus Jakarta Sans"/>
              <a:sym typeface="Plus Jakarta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7" name="Shape 37"/>
        <p:cNvGrpSpPr/>
        <p:nvPr/>
      </p:nvGrpSpPr>
      <p:grpSpPr>
        <a:xfrm>
          <a:off x="0" y="0"/>
          <a:ext cx="0" cy="0"/>
          <a:chOff x="0" y="0"/>
          <a:chExt cx="0" cy="0"/>
        </a:xfrm>
      </p:grpSpPr>
      <p:sp>
        <p:nvSpPr>
          <p:cNvPr id="38" name="Google Shape;38;p49"/>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39" name="Google Shape;39;p49"/>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40" name="Google Shape;40;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1" name="Shape 41"/>
        <p:cNvGrpSpPr/>
        <p:nvPr/>
      </p:nvGrpSpPr>
      <p:grpSpPr>
        <a:xfrm>
          <a:off x="0" y="0"/>
          <a:ext cx="0" cy="0"/>
          <a:chOff x="0" y="0"/>
          <a:chExt cx="0" cy="0"/>
        </a:xfrm>
      </p:grpSpPr>
      <p:sp>
        <p:nvSpPr>
          <p:cNvPr id="42" name="Google Shape;42;p50"/>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43" name="Google Shape;43;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4" name="Shape 44"/>
        <p:cNvGrpSpPr/>
        <p:nvPr/>
      </p:nvGrpSpPr>
      <p:grpSpPr>
        <a:xfrm>
          <a:off x="0" y="0"/>
          <a:ext cx="0" cy="0"/>
          <a:chOff x="0" y="0"/>
          <a:chExt cx="0" cy="0"/>
        </a:xfrm>
      </p:grpSpPr>
      <p:sp>
        <p:nvSpPr>
          <p:cNvPr id="45" name="Google Shape;45;p5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6" name="Google Shape;46;p5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7" name="Google Shape;4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sp>
        <p:nvSpPr>
          <p:cNvPr id="49" name="Google Shape;49;p5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0" name="Google Shape;50;p52"/>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1" name="Google Shape;51;p52"/>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2" name="Google Shape;52;p5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5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5" name="Google Shape;55;p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6" name="Shape 56"/>
        <p:cNvGrpSpPr/>
        <p:nvPr/>
      </p:nvGrpSpPr>
      <p:grpSpPr>
        <a:xfrm>
          <a:off x="0" y="0"/>
          <a:ext cx="0" cy="0"/>
          <a:chOff x="0" y="0"/>
          <a:chExt cx="0" cy="0"/>
        </a:xfrm>
      </p:grpSpPr>
      <p:sp>
        <p:nvSpPr>
          <p:cNvPr id="57" name="Google Shape;57;p54"/>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58" name="Google Shape;58;p54"/>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9" name="Google Shape;59;p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0" name="Shape 60"/>
        <p:cNvGrpSpPr/>
        <p:nvPr/>
      </p:nvGrpSpPr>
      <p:grpSpPr>
        <a:xfrm>
          <a:off x="0" y="0"/>
          <a:ext cx="0" cy="0"/>
          <a:chOff x="0" y="0"/>
          <a:chExt cx="0" cy="0"/>
        </a:xfrm>
      </p:grpSpPr>
      <p:sp>
        <p:nvSpPr>
          <p:cNvPr id="61" name="Google Shape;61;p55"/>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62" name="Google Shape;62;p5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3" name="Shape 63"/>
        <p:cNvGrpSpPr/>
        <p:nvPr/>
      </p:nvGrpSpPr>
      <p:grpSpPr>
        <a:xfrm>
          <a:off x="0" y="0"/>
          <a:ext cx="0" cy="0"/>
          <a:chOff x="0" y="0"/>
          <a:chExt cx="0" cy="0"/>
        </a:xfrm>
      </p:grpSpPr>
      <p:sp>
        <p:nvSpPr>
          <p:cNvPr id="64" name="Google Shape;64;p56"/>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56"/>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66" name="Google Shape;66;p56"/>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7" name="Google Shape;67;p56"/>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68" name="Google Shape;68;p5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9" name="Shape 69"/>
        <p:cNvGrpSpPr/>
        <p:nvPr/>
      </p:nvGrpSpPr>
      <p:grpSpPr>
        <a:xfrm>
          <a:off x="0" y="0"/>
          <a:ext cx="0" cy="0"/>
          <a:chOff x="0" y="0"/>
          <a:chExt cx="0" cy="0"/>
        </a:xfrm>
      </p:grpSpPr>
      <p:sp>
        <p:nvSpPr>
          <p:cNvPr id="70" name="Google Shape;70;p57"/>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71" name="Google Shape;71;p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2" name="Shape 72"/>
        <p:cNvGrpSpPr/>
        <p:nvPr/>
      </p:nvGrpSpPr>
      <p:grpSpPr>
        <a:xfrm>
          <a:off x="0" y="0"/>
          <a:ext cx="0" cy="0"/>
          <a:chOff x="0" y="0"/>
          <a:chExt cx="0" cy="0"/>
        </a:xfrm>
      </p:grpSpPr>
      <p:sp>
        <p:nvSpPr>
          <p:cNvPr id="73" name="Google Shape;73;p58"/>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74" name="Google Shape;74;p58"/>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75" name="Google Shape;75;p5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tardecer">
  <p:cSld name="BLANK_4">
    <p:bg>
      <p:bgPr>
        <a:solidFill>
          <a:srgbClr val="F8F2E8"/>
        </a:solidFill>
      </p:bgPr>
    </p:bg>
    <p:spTree>
      <p:nvGrpSpPr>
        <p:cNvPr id="76" name="Shape 76"/>
        <p:cNvGrpSpPr/>
        <p:nvPr/>
      </p:nvGrpSpPr>
      <p:grpSpPr>
        <a:xfrm>
          <a:off x="0" y="0"/>
          <a:ext cx="0" cy="0"/>
          <a:chOff x="0" y="0"/>
          <a:chExt cx="0" cy="0"/>
        </a:xfrm>
      </p:grpSpPr>
      <p:sp>
        <p:nvSpPr>
          <p:cNvPr id="77" name="Google Shape;77;p5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pic>
        <p:nvPicPr>
          <p:cNvPr id="78" name="Google Shape;78;p59" title="Group 1321318181.png"/>
          <p:cNvPicPr preferRelativeResize="0"/>
          <p:nvPr/>
        </p:nvPicPr>
        <p:blipFill rotWithShape="1">
          <a:blip r:embed="rId2">
            <a:alphaModFix/>
          </a:blip>
          <a:srcRect b="0" l="0" r="0" t="0"/>
          <a:stretch/>
        </p:blipFill>
        <p:spPr>
          <a:xfrm>
            <a:off x="0" y="2076162"/>
            <a:ext cx="9143997" cy="3067338"/>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1">
  <p:cSld name="BLANK_3_1_1">
    <p:bg>
      <p:bgPr>
        <a:solidFill>
          <a:schemeClr val="lt1"/>
        </a:solidFill>
      </p:bgPr>
    </p:bg>
    <p:spTree>
      <p:nvGrpSpPr>
        <p:cNvPr id="79" name="Shape 79"/>
        <p:cNvGrpSpPr/>
        <p:nvPr/>
      </p:nvGrpSpPr>
      <p:grpSpPr>
        <a:xfrm>
          <a:off x="0" y="0"/>
          <a:ext cx="0" cy="0"/>
          <a:chOff x="0" y="0"/>
          <a:chExt cx="0" cy="0"/>
        </a:xfrm>
      </p:grpSpPr>
      <p:pic>
        <p:nvPicPr>
          <p:cNvPr id="80" name="Google Shape;80;p60" title="pexels-dystopiasavagestudios-33048706 1.png"/>
          <p:cNvPicPr preferRelativeResize="0"/>
          <p:nvPr/>
        </p:nvPicPr>
        <p:blipFill rotWithShape="1">
          <a:blip r:embed="rId2">
            <a:alphaModFix/>
          </a:blip>
          <a:srcRect b="41728" l="0" r="0" t="13874"/>
          <a:stretch/>
        </p:blipFill>
        <p:spPr>
          <a:xfrm>
            <a:off x="-45875" y="-37100"/>
            <a:ext cx="9235753" cy="5180600"/>
          </a:xfrm>
          <a:prstGeom prst="rect">
            <a:avLst/>
          </a:prstGeom>
          <a:noFill/>
          <a:ln>
            <a:noFill/>
          </a:ln>
        </p:spPr>
      </p:pic>
      <p:sp>
        <p:nvSpPr>
          <p:cNvPr id="81" name="Google Shape;81;p60"/>
          <p:cNvSpPr txBox="1"/>
          <p:nvPr/>
        </p:nvSpPr>
        <p:spPr>
          <a:xfrm>
            <a:off x="476125" y="165026"/>
            <a:ext cx="6444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Coderhouse</a:t>
            </a:r>
            <a:endParaRPr b="0" i="0" sz="500" u="none" cap="none" strike="noStrike">
              <a:solidFill>
                <a:srgbClr val="F8F2E8"/>
              </a:solidFill>
              <a:latin typeface="Plus Jakarta Sans"/>
              <a:ea typeface="Plus Jakarta Sans"/>
              <a:cs typeface="Plus Jakarta Sans"/>
              <a:sym typeface="Plus Jakarta Sans"/>
            </a:endParaRPr>
          </a:p>
        </p:txBody>
      </p:sp>
      <p:sp>
        <p:nvSpPr>
          <p:cNvPr id="82" name="Google Shape;82;p60"/>
          <p:cNvSpPr txBox="1"/>
          <p:nvPr/>
        </p:nvSpPr>
        <p:spPr>
          <a:xfrm>
            <a:off x="6923014" y="165026"/>
            <a:ext cx="1188600" cy="188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Internal  Presentation</a:t>
            </a:r>
            <a:endParaRPr b="0" i="0" sz="500" u="none" cap="none" strike="noStrike">
              <a:solidFill>
                <a:srgbClr val="F8F2E8"/>
              </a:solidFill>
              <a:latin typeface="Plus Jakarta Sans"/>
              <a:ea typeface="Plus Jakarta Sans"/>
              <a:cs typeface="Plus Jakarta Sans"/>
              <a:sym typeface="Plus Jakarta Sans"/>
            </a:endParaRPr>
          </a:p>
        </p:txBody>
      </p:sp>
      <p:sp>
        <p:nvSpPr>
          <p:cNvPr id="83" name="Google Shape;83;p60"/>
          <p:cNvSpPr txBox="1"/>
          <p:nvPr/>
        </p:nvSpPr>
        <p:spPr>
          <a:xfrm>
            <a:off x="2196557" y="165026"/>
            <a:ext cx="12420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2026</a:t>
            </a:r>
            <a:endParaRPr b="0" i="0" sz="500" u="none" cap="none" strike="noStrike">
              <a:solidFill>
                <a:srgbClr val="F8F2E8"/>
              </a:solidFill>
              <a:latin typeface="Plus Jakarta Sans"/>
              <a:ea typeface="Plus Jakarta Sans"/>
              <a:cs typeface="Plus Jakarta Sans"/>
              <a:sym typeface="Plus Jakarta Sans"/>
            </a:endParaRPr>
          </a:p>
        </p:txBody>
      </p:sp>
      <p:sp>
        <p:nvSpPr>
          <p:cNvPr id="84" name="Google Shape;84;p60"/>
          <p:cNvSpPr txBox="1"/>
          <p:nvPr/>
        </p:nvSpPr>
        <p:spPr>
          <a:xfrm>
            <a:off x="8373525" y="90649"/>
            <a:ext cx="369600" cy="337200"/>
          </a:xfrm>
          <a:prstGeom prst="rect">
            <a:avLst/>
          </a:prstGeom>
          <a:noFill/>
          <a:ln>
            <a:noFill/>
          </a:ln>
        </p:spPr>
        <p:txBody>
          <a:bodyPr anchorCtr="0" anchor="ctr" bIns="88475" lIns="88475" spcFirstLastPara="1" rIns="88475" wrap="square" tIns="88475">
            <a:noAutofit/>
          </a:bodyPr>
          <a:lstStyle/>
          <a:p>
            <a:pPr indent="0" lvl="0" marL="0" marR="0" rtl="0" algn="ctr">
              <a:lnSpc>
                <a:spcPct val="100000"/>
              </a:lnSpc>
              <a:spcBef>
                <a:spcPts val="0"/>
              </a:spcBef>
              <a:spcAft>
                <a:spcPts val="0"/>
              </a:spcAft>
              <a:buClr>
                <a:srgbClr val="000000"/>
              </a:buClr>
              <a:buSzPts val="500"/>
              <a:buFont typeface="Arial"/>
              <a:buNone/>
            </a:pPr>
            <a:fld id="{00000000-1234-1234-1234-123412341234}" type="slidenum">
              <a:rPr b="0" i="0" lang="es" sz="500" u="none" cap="none" strike="noStrike">
                <a:solidFill>
                  <a:srgbClr val="F8F2E8"/>
                </a:solidFill>
                <a:latin typeface="Plus Jakarta Sans"/>
                <a:ea typeface="Plus Jakarta Sans"/>
                <a:cs typeface="Plus Jakarta Sans"/>
                <a:sym typeface="Plus Jakarta Sans"/>
              </a:rPr>
              <a:t>‹#›</a:t>
            </a:fld>
            <a:endParaRPr b="0" i="0" sz="500" u="none" cap="none" strike="noStrike">
              <a:solidFill>
                <a:srgbClr val="F8F2E8"/>
              </a:solidFill>
              <a:latin typeface="Plus Jakarta Sans"/>
              <a:ea typeface="Plus Jakarta Sans"/>
              <a:cs typeface="Plus Jakarta Sans"/>
              <a:sym typeface="Plus Jakarta Sa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gro">
  <p:cSld name="BLANK_2">
    <p:bg>
      <p:bgPr>
        <a:solidFill>
          <a:srgbClr val="171717"/>
        </a:solidFill>
      </p:bgPr>
    </p:bg>
    <p:spTree>
      <p:nvGrpSpPr>
        <p:cNvPr id="85" name="Shape 85"/>
        <p:cNvGrpSpPr/>
        <p:nvPr/>
      </p:nvGrpSpPr>
      <p:grpSpPr>
        <a:xfrm>
          <a:off x="0" y="0"/>
          <a:ext cx="0" cy="0"/>
          <a:chOff x="0" y="0"/>
          <a:chExt cx="0" cy="0"/>
        </a:xfrm>
      </p:grpSpPr>
      <p:sp>
        <p:nvSpPr>
          <p:cNvPr id="86" name="Google Shape;86;p6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ONLY" type="titleOnly">
  <p:cSld name="TITLE_ONLY">
    <p:bg>
      <p:bgPr>
        <a:solidFill>
          <a:schemeClr val="lt2"/>
        </a:solidFill>
      </p:bgPr>
    </p:bg>
    <p:spTree>
      <p:nvGrpSpPr>
        <p:cNvPr id="88" name="Shape 88"/>
        <p:cNvGrpSpPr/>
        <p:nvPr/>
      </p:nvGrpSpPr>
      <p:grpSpPr>
        <a:xfrm>
          <a:off x="0" y="0"/>
          <a:ext cx="0" cy="0"/>
          <a:chOff x="0" y="0"/>
          <a:chExt cx="0" cy="0"/>
        </a:xfrm>
      </p:grpSpPr>
      <p:sp>
        <p:nvSpPr>
          <p:cNvPr id="89" name="Google Shape;89;h4b93c11d3265945c_0_132"/>
          <p:cNvSpPr txBox="1"/>
          <p:nvPr>
            <p:ph type="title"/>
          </p:nvPr>
        </p:nvSpPr>
        <p:spPr>
          <a:xfrm>
            <a:off x="411480" y="240030"/>
            <a:ext cx="8318700" cy="480300"/>
          </a:xfrm>
          <a:prstGeom prst="rect">
            <a:avLst/>
          </a:prstGeom>
          <a:noFill/>
          <a:ln>
            <a:noFill/>
          </a:ln>
        </p:spPr>
        <p:txBody>
          <a:bodyPr anchorCtr="0" anchor="t" bIns="34275" lIns="68575" spcFirstLastPara="1" rIns="68575" wrap="square" tIns="34275">
            <a:noAutofit/>
          </a:bodyPr>
          <a:lstStyle>
            <a:lvl1pPr lvl="0" marR="0" algn="l">
              <a:spcBef>
                <a:spcPts val="0"/>
              </a:spcBef>
              <a:spcAft>
                <a:spcPts val="0"/>
              </a:spcAft>
              <a:buClr>
                <a:schemeClr val="dk1"/>
              </a:buClr>
              <a:buSzPts val="2700"/>
              <a:buFont typeface="Plus Jakarta Sans"/>
              <a:buNone/>
              <a:defRPr b="1" i="0" sz="2700" u="none" cap="none" strike="noStrike">
                <a:solidFill>
                  <a:schemeClr val="dk1"/>
                </a:solidFill>
                <a:latin typeface="Plus Jakarta Sans"/>
                <a:ea typeface="Plus Jakarta Sans"/>
                <a:cs typeface="Plus Jakarta Sans"/>
                <a:sym typeface="Plus Jakarta Sans"/>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90" name="Shape 9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slideLayout" Target="../slideLayouts/slideLayout23.xml"/><Relationship Id="rId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4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4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71" r:id="rId1"/>
    <p:sldLayoutId id="2147483672"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pic>
        <p:nvPicPr>
          <p:cNvPr id="95" name="Google Shape;95;p1" title="logo gradient 1.png"/>
          <p:cNvPicPr preferRelativeResize="0"/>
          <p:nvPr/>
        </p:nvPicPr>
        <p:blipFill rotWithShape="1">
          <a:blip r:embed="rId3">
            <a:alphaModFix/>
          </a:blip>
          <a:srcRect b="0" l="0" r="0" t="0"/>
          <a:stretch/>
        </p:blipFill>
        <p:spPr>
          <a:xfrm>
            <a:off x="3830803" y="4523150"/>
            <a:ext cx="1547950" cy="452250"/>
          </a:xfrm>
          <a:prstGeom prst="rect">
            <a:avLst/>
          </a:prstGeom>
          <a:noFill/>
          <a:ln>
            <a:noFill/>
          </a:ln>
        </p:spPr>
      </p:pic>
      <p:sp>
        <p:nvSpPr>
          <p:cNvPr id="96" name="Google Shape;96;p1"/>
          <p:cNvSpPr txBox="1"/>
          <p:nvPr/>
        </p:nvSpPr>
        <p:spPr>
          <a:xfrm>
            <a:off x="1373325" y="3219550"/>
            <a:ext cx="6462900" cy="318600"/>
          </a:xfrm>
          <a:prstGeom prst="rect">
            <a:avLst/>
          </a:prstGeom>
          <a:noFill/>
          <a:ln>
            <a:noFill/>
          </a:ln>
        </p:spPr>
        <p:txBody>
          <a:bodyPr anchorCtr="0" anchor="t" bIns="91425" lIns="91425" spcFirstLastPara="1" rIns="91425" wrap="square" tIns="91425">
            <a:noAutofit/>
          </a:bodyPr>
          <a:lstStyle/>
          <a:p>
            <a:pPr indent="0" lvl="0" marL="0" marR="0" rtl="0" algn="ctr">
              <a:lnSpc>
                <a:spcPct val="112000"/>
              </a:lnSpc>
              <a:spcBef>
                <a:spcPts val="0"/>
              </a:spcBef>
              <a:spcAft>
                <a:spcPts val="0"/>
              </a:spcAft>
              <a:buClr>
                <a:srgbClr val="000000"/>
              </a:buClr>
              <a:buSzPts val="1400"/>
              <a:buFont typeface="Arial"/>
              <a:buNone/>
            </a:pPr>
            <a:r>
              <a:rPr b="0" i="0" lang="es" sz="1400" u="none" cap="none" strike="noStrike">
                <a:solidFill>
                  <a:srgbClr val="F8F2E8"/>
                </a:solidFill>
                <a:latin typeface="Plus Jakarta Sans ExtraBold"/>
                <a:ea typeface="Plus Jakarta Sans ExtraBold"/>
                <a:cs typeface="Plus Jakarta Sans ExtraBold"/>
                <a:sym typeface="Plus Jakarta Sans ExtraBold"/>
              </a:rPr>
              <a:t>Módulo 5: </a:t>
            </a:r>
            <a:r>
              <a:rPr b="0" i="0" lang="es" sz="1400" u="none" cap="none" strike="noStrike">
                <a:solidFill>
                  <a:srgbClr val="F8F2E8"/>
                </a:solidFill>
                <a:latin typeface="Plus Jakarta Sans Light"/>
                <a:ea typeface="Plus Jakarta Sans Light"/>
                <a:cs typeface="Plus Jakarta Sans Light"/>
                <a:sym typeface="Plus Jakarta Sans Light"/>
              </a:rPr>
              <a:t>El cerebro documental de la IA (RAG)</a:t>
            </a:r>
            <a:endParaRPr b="0" i="0" sz="1400" u="none" cap="none" strike="noStrike">
              <a:solidFill>
                <a:srgbClr val="171717"/>
              </a:solidFill>
              <a:latin typeface="Plus Jakarta Sans Light"/>
              <a:ea typeface="Plus Jakarta Sans Light"/>
              <a:cs typeface="Plus Jakarta Sans Light"/>
              <a:sym typeface="Plus Jakarta Sans Light"/>
            </a:endParaRPr>
          </a:p>
        </p:txBody>
      </p:sp>
      <p:sp>
        <p:nvSpPr>
          <p:cNvPr id="97" name="Google Shape;97;p1"/>
          <p:cNvSpPr txBox="1"/>
          <p:nvPr/>
        </p:nvSpPr>
        <p:spPr>
          <a:xfrm>
            <a:off x="2177925" y="1791263"/>
            <a:ext cx="4853700" cy="1389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AI Automation </a:t>
            </a:r>
            <a:r>
              <a:rPr b="0" i="0" lang="es" sz="2800" u="none" cap="none" strike="noStrike">
                <a:solidFill>
                  <a:srgbClr val="F8F2E8"/>
                </a:solidFill>
                <a:latin typeface="Plus Jakarta Sans ExtraBold"/>
                <a:ea typeface="Plus Jakarta Sans ExtraBold"/>
                <a:cs typeface="Plus Jakarta Sans ExtraBold"/>
                <a:sym typeface="Plus Jakarta Sans ExtraBold"/>
              </a:rPr>
              <a:t>Avanzado</a:t>
            </a:r>
            <a:endParaRPr b="0" i="0" sz="2800" u="none" cap="none" strike="noStrike">
              <a:solidFill>
                <a:srgbClr val="F8F2E8"/>
              </a:solidFill>
              <a:latin typeface="Plus Jakarta Sans ExtraBold"/>
              <a:ea typeface="Plus Jakarta Sans ExtraBold"/>
              <a:cs typeface="Plus Jakarta Sans ExtraBold"/>
              <a:sym typeface="Plus Jakarta Sans ExtraBold"/>
            </a:endParaRPr>
          </a:p>
        </p:txBody>
      </p:sp>
      <p:sp>
        <p:nvSpPr>
          <p:cNvPr id="98" name="Google Shape;98;p1"/>
          <p:cNvSpPr txBox="1"/>
          <p:nvPr/>
        </p:nvSpPr>
        <p:spPr>
          <a:xfrm>
            <a:off x="1373325" y="1434300"/>
            <a:ext cx="6462900" cy="318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s" sz="1200" u="none" cap="none" strike="noStrike">
                <a:solidFill>
                  <a:srgbClr val="F8F2E8"/>
                </a:solidFill>
                <a:latin typeface="Plus Jakarta Sans Light"/>
                <a:ea typeface="Plus Jakarta Sans Light"/>
                <a:cs typeface="Plus Jakarta Sans Light"/>
                <a:sym typeface="Plus Jakarta Sans Light"/>
              </a:rPr>
              <a:t>Curso:</a:t>
            </a:r>
            <a:endParaRPr b="0" i="0" sz="1200" u="none" cap="none" strike="noStrike">
              <a:solidFill>
                <a:srgbClr val="F8F2E8"/>
              </a:solidFill>
              <a:latin typeface="Plus Jakarta Sans Light"/>
              <a:ea typeface="Plus Jakarta Sans Light"/>
              <a:cs typeface="Plus Jakarta Sans Light"/>
              <a:sym typeface="Plus Jakarta Sans Ligh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3"/>
          <p:cNvSpPr txBox="1"/>
          <p:nvPr/>
        </p:nvSpPr>
        <p:spPr>
          <a:xfrm>
            <a:off x="2832560" y="0"/>
            <a:ext cx="6462900" cy="138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9600"/>
              <a:buFont typeface="Arial"/>
              <a:buNone/>
            </a:pPr>
            <a:r>
              <a:rPr b="0" i="0" lang="es" sz="9600" u="none" cap="none" strike="noStrike">
                <a:solidFill>
                  <a:srgbClr val="FF632B"/>
                </a:solidFill>
                <a:latin typeface="Plus Jakarta Sans ExtraBold"/>
                <a:ea typeface="Plus Jakarta Sans ExtraBold"/>
                <a:cs typeface="Plus Jakarta Sans ExtraBold"/>
                <a:sym typeface="Plus Jakarta Sans ExtraBold"/>
              </a:rPr>
              <a:t>Objetivos</a:t>
            </a:r>
            <a:endParaRPr b="0" i="0" sz="96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104" name="Google Shape;104;p3"/>
          <p:cNvSpPr txBox="1"/>
          <p:nvPr/>
        </p:nvSpPr>
        <p:spPr>
          <a:xfrm>
            <a:off x="649500" y="2512850"/>
            <a:ext cx="6462900" cy="2269500"/>
          </a:xfrm>
          <a:prstGeom prst="rect">
            <a:avLst/>
          </a:prstGeom>
          <a:noFill/>
          <a:ln>
            <a:noFill/>
          </a:ln>
        </p:spPr>
        <p:txBody>
          <a:bodyPr anchorCtr="0" anchor="t" bIns="91425" lIns="91425" spcFirstLastPara="1" rIns="91425" wrap="square" tIns="91425">
            <a:noAutofit/>
          </a:bodyPr>
          <a:lstStyle/>
          <a:p>
            <a:pPr indent="-304800" lvl="0" marL="342900" marR="0" rtl="0" algn="l">
              <a:lnSpc>
                <a:spcPct val="112000"/>
              </a:lnSpc>
              <a:spcBef>
                <a:spcPts val="0"/>
              </a:spcBef>
              <a:spcAft>
                <a:spcPts val="0"/>
              </a:spcAft>
              <a:buClr>
                <a:srgbClr val="FF632B"/>
              </a:buClr>
              <a:buSzPts val="1200"/>
              <a:buFont typeface="Plus Jakarta Sans"/>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Diagnosticar cuándo un proceso necesita una base de conocimiento (RAG).</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342900" marR="0" rtl="0" algn="l">
              <a:lnSpc>
                <a:spcPct val="112000"/>
              </a:lnSpc>
              <a:spcBef>
                <a:spcPts val="500"/>
              </a:spcBef>
              <a:spcAft>
                <a:spcPts val="0"/>
              </a:spcAft>
              <a:buClr>
                <a:srgbClr val="FF632B"/>
              </a:buClr>
              <a:buSzPts val="1200"/>
              <a:buFont typeface="Plus Jakarta Sans"/>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Curar y procesar documentos reales con LlamaCloud y entender el chunking.</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342900" marR="0" rtl="0" algn="l">
              <a:lnSpc>
                <a:spcPct val="112000"/>
              </a:lnSpc>
              <a:spcBef>
                <a:spcPts val="500"/>
              </a:spcBef>
              <a:spcAft>
                <a:spcPts val="0"/>
              </a:spcAft>
              <a:buClr>
                <a:srgbClr val="FF632B"/>
              </a:buClr>
              <a:buSzPts val="1200"/>
              <a:buFont typeface="Plus Jakarta Sans"/>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Conectar la base al AI Agent con el Vector Store Retrieve Tool.</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342900" marR="0" rtl="0" algn="l">
              <a:lnSpc>
                <a:spcPct val="112000"/>
              </a:lnSpc>
              <a:spcBef>
                <a:spcPts val="500"/>
              </a:spcBef>
              <a:spcAft>
                <a:spcPts val="0"/>
              </a:spcAft>
              <a:buClr>
                <a:srgbClr val="FF632B"/>
              </a:buClr>
              <a:buSzPts val="1200"/>
              <a:buFont typeface="Plus Jakarta Sans"/>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Calibrar Top-K y Minimum Score para equilibrar precisión y costo.</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342900" marR="0" rtl="0" algn="l">
              <a:lnSpc>
                <a:spcPct val="112000"/>
              </a:lnSpc>
              <a:spcBef>
                <a:spcPts val="500"/>
              </a:spcBef>
              <a:spcAft>
                <a:spcPts val="500"/>
              </a:spcAft>
              <a:buClr>
                <a:srgbClr val="FF632B"/>
              </a:buClr>
              <a:buSzPts val="1200"/>
              <a:buFont typeface="Plus Jakarta Sans"/>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Blindar el agente con reglas de contingencia y citación de fuentes.</a:t>
            </a:r>
            <a:endParaRPr b="0" i="0" sz="1200" u="none" cap="none" strike="noStrike">
              <a:solidFill>
                <a:srgbClr val="171717"/>
              </a:solidFill>
              <a:latin typeface="Plus Jakarta Sans Light"/>
              <a:ea typeface="Plus Jakarta Sans Light"/>
              <a:cs typeface="Plus Jakarta Sans Light"/>
              <a:sym typeface="Plus Jakarta Sans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4"/>
          <p:cNvSpPr txBox="1"/>
          <p:nvPr/>
        </p:nvSpPr>
        <p:spPr>
          <a:xfrm>
            <a:off x="2832560" y="0"/>
            <a:ext cx="6462900" cy="138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9600"/>
              <a:buFont typeface="Arial"/>
              <a:buNone/>
            </a:pPr>
            <a:r>
              <a:rPr b="0" i="0" lang="es" sz="9600" u="none" cap="none" strike="noStrike">
                <a:solidFill>
                  <a:srgbClr val="FF632B"/>
                </a:solidFill>
                <a:latin typeface="Plus Jakarta Sans ExtraBold"/>
                <a:ea typeface="Plus Jakarta Sans ExtraBold"/>
                <a:cs typeface="Plus Jakarta Sans ExtraBold"/>
                <a:sym typeface="Plus Jakarta Sans ExtraBold"/>
              </a:rPr>
              <a:t>Agenda</a:t>
            </a:r>
            <a:endParaRPr b="0" i="0" sz="96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110" name="Google Shape;110;p4"/>
          <p:cNvSpPr txBox="1"/>
          <p:nvPr/>
        </p:nvSpPr>
        <p:spPr>
          <a:xfrm>
            <a:off x="649500" y="2512850"/>
            <a:ext cx="6462900" cy="2269500"/>
          </a:xfrm>
          <a:prstGeom prst="rect">
            <a:avLst/>
          </a:prstGeom>
          <a:noFill/>
          <a:ln>
            <a:noFill/>
          </a:ln>
        </p:spPr>
        <p:txBody>
          <a:bodyPr anchorCtr="0" anchor="t" bIns="91425" lIns="91425" spcFirstLastPara="1" rIns="91425" wrap="square" tIns="91425">
            <a:noAutofit/>
          </a:bodyPr>
          <a:lstStyle/>
          <a:p>
            <a:pPr indent="-304800" lvl="0" marL="342900" marR="0" rtl="0" algn="l">
              <a:lnSpc>
                <a:spcPct val="112000"/>
              </a:lnSpc>
              <a:spcBef>
                <a:spcPts val="0"/>
              </a:spcBef>
              <a:spcAft>
                <a:spcPts val="0"/>
              </a:spcAft>
              <a:buClr>
                <a:srgbClr val="FF632B"/>
              </a:buClr>
              <a:buSzPts val="1200"/>
              <a:buFont typeface="Plus Jakarta Sans"/>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¿Por qué RAG?</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342900" marR="0" rtl="0" algn="l">
              <a:lnSpc>
                <a:spcPct val="112000"/>
              </a:lnSpc>
              <a:spcBef>
                <a:spcPts val="500"/>
              </a:spcBef>
              <a:spcAft>
                <a:spcPts val="0"/>
              </a:spcAft>
              <a:buClr>
                <a:srgbClr val="FF632B"/>
              </a:buClr>
              <a:buSzPts val="1200"/>
              <a:buFont typeface="Plus Jakarta Sans"/>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Del documento al agente</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342900" marR="0" rtl="0" algn="l">
              <a:lnSpc>
                <a:spcPct val="112000"/>
              </a:lnSpc>
              <a:spcBef>
                <a:spcPts val="500"/>
              </a:spcBef>
              <a:spcAft>
                <a:spcPts val="0"/>
              </a:spcAft>
              <a:buClr>
                <a:srgbClr val="FF632B"/>
              </a:buClr>
              <a:buSzPts val="1200"/>
              <a:buFont typeface="Plus Jakarta Sans"/>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Gobernanza del conocimiento</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342900" marR="0" rtl="0" algn="l">
              <a:lnSpc>
                <a:spcPct val="112000"/>
              </a:lnSpc>
              <a:spcBef>
                <a:spcPts val="500"/>
              </a:spcBef>
              <a:spcAft>
                <a:spcPts val="0"/>
              </a:spcAft>
              <a:buClr>
                <a:srgbClr val="FF632B"/>
              </a:buClr>
              <a:buSzPts val="1200"/>
              <a:buFont typeface="Plus Jakarta Sans"/>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Break</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342900" marR="0" rtl="0" algn="l">
              <a:lnSpc>
                <a:spcPct val="112000"/>
              </a:lnSpc>
              <a:spcBef>
                <a:spcPts val="500"/>
              </a:spcBef>
              <a:spcAft>
                <a:spcPts val="0"/>
              </a:spcAft>
              <a:buClr>
                <a:srgbClr val="FF632B"/>
              </a:buClr>
              <a:buSzPts val="1200"/>
              <a:buFont typeface="Plus Jakarta Sans"/>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Práctica en vivo: tu agente documental</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342900" marR="0" rtl="0" algn="l">
              <a:lnSpc>
                <a:spcPct val="112000"/>
              </a:lnSpc>
              <a:spcBef>
                <a:spcPts val="500"/>
              </a:spcBef>
              <a:spcAft>
                <a:spcPts val="500"/>
              </a:spcAft>
              <a:buClr>
                <a:srgbClr val="FF632B"/>
              </a:buClr>
              <a:buSzPts val="1200"/>
              <a:buFont typeface="Plus Jakarta Sans"/>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Pre-entrega 5: agente con conocimiento organizacional</a:t>
            </a:r>
            <a:endParaRPr b="0" i="0" sz="1200" u="none" cap="none" strike="noStrike">
              <a:solidFill>
                <a:srgbClr val="171717"/>
              </a:solidFill>
              <a:latin typeface="Plus Jakarta Sans Light"/>
              <a:ea typeface="Plus Jakarta Sans Light"/>
              <a:cs typeface="Plus Jakarta Sans Light"/>
              <a:sym typeface="Plus Jakarta Sans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g3f5876fb336_0_2"/>
          <p:cNvSpPr txBox="1"/>
          <p:nvPr/>
        </p:nvSpPr>
        <p:spPr>
          <a:xfrm>
            <a:off x="652525" y="1528805"/>
            <a:ext cx="7824600" cy="171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800"/>
              <a:buFont typeface="Arial"/>
              <a:buNone/>
            </a:pPr>
            <a:r>
              <a:rPr b="0" i="0" lang="es" sz="4800" u="none" cap="none" strike="noStrike">
                <a:solidFill>
                  <a:srgbClr val="F8F2E8"/>
                </a:solidFill>
                <a:latin typeface="Plus Jakarta Sans ExtraBold"/>
                <a:ea typeface="Plus Jakarta Sans ExtraBold"/>
                <a:cs typeface="Plus Jakarta Sans ExtraBold"/>
                <a:sym typeface="Plus Jakarta Sans ExtraBold"/>
              </a:rPr>
              <a:t>¡Esta clase va a ser     grabada!	</a:t>
            </a:r>
            <a:endParaRPr b="0" i="0" sz="4800" u="none" cap="none" strike="noStrike">
              <a:solidFill>
                <a:srgbClr val="F8F2E8"/>
              </a:solidFill>
              <a:latin typeface="Plus Jakarta Sans ExtraBold"/>
              <a:ea typeface="Plus Jakarta Sans ExtraBold"/>
              <a:cs typeface="Plus Jakarta Sans ExtraBold"/>
              <a:sym typeface="Plus Jakarta Sans ExtraBold"/>
            </a:endParaRPr>
          </a:p>
        </p:txBody>
      </p:sp>
      <p:sp>
        <p:nvSpPr>
          <p:cNvPr id="116" name="Google Shape;116;g3f5876fb336_0_2"/>
          <p:cNvSpPr/>
          <p:nvPr/>
        </p:nvSpPr>
        <p:spPr>
          <a:xfrm>
            <a:off x="4457850" y="3361030"/>
            <a:ext cx="228300" cy="228300"/>
          </a:xfrm>
          <a:prstGeom prst="ellipse">
            <a:avLst/>
          </a:prstGeom>
          <a:solidFill>
            <a:srgbClr val="FDAB2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6"/>
          <p:cNvSpPr txBox="1"/>
          <p:nvPr/>
        </p:nvSpPr>
        <p:spPr>
          <a:xfrm>
            <a:off x="6180025" y="314075"/>
            <a:ext cx="2630700" cy="171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0"/>
              <a:buFont typeface="Arial"/>
              <a:buNone/>
            </a:pPr>
            <a:r>
              <a:rPr b="0" i="0" lang="es" sz="13000" u="none" cap="none" strike="noStrike">
                <a:solidFill>
                  <a:srgbClr val="FF632B"/>
                </a:solidFill>
                <a:latin typeface="Plus Jakarta Sans ExtraBold"/>
                <a:ea typeface="Plus Jakarta Sans ExtraBold"/>
                <a:cs typeface="Plus Jakarta Sans ExtraBold"/>
                <a:sym typeface="Plus Jakarta Sans ExtraBold"/>
              </a:rPr>
              <a:t>01</a:t>
            </a:r>
            <a:endParaRPr b="0" i="0" sz="13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122" name="Google Shape;122;p6"/>
          <p:cNvSpPr txBox="1"/>
          <p:nvPr/>
        </p:nvSpPr>
        <p:spPr>
          <a:xfrm>
            <a:off x="641650" y="3337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rPr b="0" i="0" lang="es" sz="4800" u="none" cap="none" strike="noStrike">
                <a:solidFill>
                  <a:srgbClr val="F8F2E8"/>
                </a:solidFill>
                <a:latin typeface="Plus Jakarta Sans ExtraBold"/>
                <a:ea typeface="Plus Jakarta Sans ExtraBold"/>
                <a:cs typeface="Plus Jakarta Sans ExtraBold"/>
                <a:sym typeface="Plus Jakarta Sans ExtraBold"/>
              </a:rPr>
              <a:t>¿Por qué RAG?</a:t>
            </a:r>
            <a:endParaRPr b="0" i="0" sz="48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7"/>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228600" lvl="0" marL="228600" marR="0" rtl="0" algn="l">
              <a:lnSpc>
                <a:spcPct val="112000"/>
              </a:lnSpc>
              <a:spcBef>
                <a:spcPts val="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Fecha de corte: </a:t>
            </a:r>
            <a:r>
              <a:rPr b="0" i="0" lang="es" sz="1300" u="none" cap="none" strike="noStrike">
                <a:solidFill>
                  <a:srgbClr val="171717"/>
                </a:solidFill>
                <a:latin typeface="Plus Jakarta Sans Light"/>
                <a:ea typeface="Plus Jakarta Sans Light"/>
                <a:cs typeface="Plus Jakarta Sans Light"/>
                <a:sym typeface="Plus Jakarta Sans Light"/>
              </a:rPr>
              <a:t>el modelo no sabe nada de lo que pasó después de su entrenamiento.</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Info privada: </a:t>
            </a:r>
            <a:r>
              <a:rPr b="0" i="0" lang="es" sz="1300" u="none" cap="none" strike="noStrike">
                <a:solidFill>
                  <a:srgbClr val="171717"/>
                </a:solidFill>
                <a:latin typeface="Plus Jakarta Sans Light"/>
                <a:ea typeface="Plus Jakarta Sans Light"/>
                <a:cs typeface="Plus Jakarta Sans Light"/>
                <a:sym typeface="Plus Jakarta Sans Light"/>
              </a:rPr>
              <a:t>tus manuales, contratos y bases de clientes le son inaccesibles.</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Docs cambiantes: </a:t>
            </a:r>
            <a:r>
              <a:rPr b="0" i="0" lang="es" sz="1300" u="none" cap="none" strike="noStrike">
                <a:solidFill>
                  <a:srgbClr val="171717"/>
                </a:solidFill>
                <a:latin typeface="Plus Jakarta Sans Light"/>
                <a:ea typeface="Plus Jakarta Sans Light"/>
                <a:cs typeface="Plus Jakarta Sans Light"/>
                <a:sym typeface="Plus Jakarta Sans Light"/>
              </a:rPr>
              <a:t>precios, catálogos y reglamentos se modifican todo el tiempo.</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52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El resultado: </a:t>
            </a:r>
            <a:r>
              <a:rPr b="0" i="0" lang="es" sz="1300" u="none" cap="none" strike="noStrike">
                <a:solidFill>
                  <a:srgbClr val="171717"/>
                </a:solidFill>
                <a:latin typeface="Plus Jakarta Sans Light"/>
                <a:ea typeface="Plus Jakarta Sans Light"/>
                <a:cs typeface="Plus Jakarta Sans Light"/>
                <a:sym typeface="Plus Jakarta Sans Light"/>
              </a:rPr>
              <a:t>sin ayuda, el agente responde obsoleto, incompleto o inventado.</a:t>
            </a:r>
            <a:endParaRPr b="0" i="0" sz="1300" u="none" cap="none" strike="noStrike">
              <a:solidFill>
                <a:srgbClr val="171717"/>
              </a:solidFill>
              <a:latin typeface="Plus Jakarta Sans Light"/>
              <a:ea typeface="Plus Jakarta Sans Light"/>
              <a:cs typeface="Plus Jakarta Sans Light"/>
              <a:sym typeface="Plus Jakarta Sans Light"/>
            </a:endParaRPr>
          </a:p>
        </p:txBody>
      </p:sp>
      <p:sp>
        <p:nvSpPr>
          <p:cNvPr id="128" name="Google Shape;128;p7"/>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0" i="0" lang="es" sz="4000" u="none" cap="none" strike="noStrike">
                <a:solidFill>
                  <a:srgbClr val="FF632B"/>
                </a:solidFill>
                <a:latin typeface="Plus Jakarta Sans ExtraBold"/>
                <a:ea typeface="Plus Jakarta Sans ExtraBold"/>
                <a:cs typeface="Plus Jakarta Sans ExtraBold"/>
                <a:sym typeface="Plus Jakarta Sans ExtraBold"/>
              </a:rPr>
              <a:t>El genio aislado</a:t>
            </a:r>
            <a:endParaRPr b="0" i="0" sz="4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129" name="Google Shape;129;p7"/>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Los límites del modelo</a:t>
            </a:r>
            <a:endParaRPr b="0" i="0" sz="20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8"/>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228600" lvl="0" marL="228600" marR="0" rtl="0" algn="l">
              <a:lnSpc>
                <a:spcPct val="112000"/>
              </a:lnSpc>
              <a:spcBef>
                <a:spcPts val="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Memoria (M3): </a:t>
            </a:r>
            <a:r>
              <a:rPr b="0" i="0" lang="es" sz="1300" u="none" cap="none" strike="noStrike">
                <a:solidFill>
                  <a:srgbClr val="171717"/>
                </a:solidFill>
                <a:latin typeface="Plus Jakarta Sans Light"/>
                <a:ea typeface="Plus Jakarta Sans Light"/>
                <a:cs typeface="Plus Jakarta Sans Light"/>
                <a:sym typeface="Plus Jakarta Sans Light"/>
              </a:rPr>
              <a:t>el historial de la charla. Dinámico: 'prefiere el azul, presupuesto $500'.</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Conocimiento (M5): </a:t>
            </a:r>
            <a:r>
              <a:rPr b="0" i="0" lang="es" sz="1300" u="none" cap="none" strike="noStrike">
                <a:solidFill>
                  <a:srgbClr val="171717"/>
                </a:solidFill>
                <a:latin typeface="Plus Jakarta Sans Light"/>
                <a:ea typeface="Plus Jakarta Sans Light"/>
                <a:cs typeface="Plus Jakarta Sans Light"/>
                <a:sym typeface="Plus Jakarta Sans Light"/>
              </a:rPr>
              <a:t>los archivos oficiales. Estático: el manual de garantía de 80 páginas.</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52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El error frecuente: </a:t>
            </a:r>
            <a:r>
              <a:rPr b="0" i="0" lang="es" sz="1300" u="none" cap="none" strike="noStrike">
                <a:solidFill>
                  <a:srgbClr val="171717"/>
                </a:solidFill>
                <a:latin typeface="Plus Jakarta Sans Light"/>
                <a:ea typeface="Plus Jakarta Sans Light"/>
                <a:cs typeface="Plus Jakarta Sans Light"/>
                <a:sym typeface="Plus Jakarta Sans Light"/>
              </a:rPr>
              <a:t>confundir los dos y meter todo en el mismo lugar.</a:t>
            </a:r>
            <a:endParaRPr b="0" i="0" sz="1300" u="none" cap="none" strike="noStrike">
              <a:solidFill>
                <a:srgbClr val="171717"/>
              </a:solidFill>
              <a:latin typeface="Plus Jakarta Sans Light"/>
              <a:ea typeface="Plus Jakarta Sans Light"/>
              <a:cs typeface="Plus Jakarta Sans Light"/>
              <a:sym typeface="Plus Jakarta Sans Light"/>
            </a:endParaRPr>
          </a:p>
        </p:txBody>
      </p:sp>
      <p:sp>
        <p:nvSpPr>
          <p:cNvPr id="135" name="Google Shape;135;p8"/>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s" sz="3200" u="none" cap="none" strike="noStrike">
                <a:solidFill>
                  <a:srgbClr val="FF632B"/>
                </a:solidFill>
                <a:latin typeface="Plus Jakarta Sans ExtraBold"/>
                <a:ea typeface="Plus Jakarta Sans ExtraBold"/>
                <a:cs typeface="Plus Jakarta Sans ExtraBold"/>
                <a:sym typeface="Plus Jakarta Sans ExtraBold"/>
              </a:rPr>
              <a:t>Memoria vs. conocimiento</a:t>
            </a:r>
            <a:endParaRPr b="0" i="0" sz="32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136" name="Google Shape;136;p8"/>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M3 y M5 no son lo mismo</a:t>
            </a:r>
            <a:endParaRPr b="0" i="0" sz="20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9"/>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228600" lvl="0" marL="228600" marR="0" rtl="0" algn="l">
              <a:lnSpc>
                <a:spcPct val="112000"/>
              </a:lnSpc>
              <a:spcBef>
                <a:spcPts val="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La idea: </a:t>
            </a:r>
            <a:r>
              <a:rPr b="0" i="0" lang="es" sz="1300" u="none" cap="none" strike="noStrike">
                <a:solidFill>
                  <a:srgbClr val="171717"/>
                </a:solidFill>
                <a:latin typeface="Plus Jakarta Sans Light"/>
                <a:ea typeface="Plus Jakarta Sans Light"/>
                <a:cs typeface="Plus Jakarta Sans Light"/>
                <a:sym typeface="Plus Jakarta Sans Light"/>
              </a:rPr>
              <a:t>antes de responder, el agente busca en los manuales oficiales.</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El flujo: </a:t>
            </a:r>
            <a:r>
              <a:rPr b="0" i="0" lang="es" sz="1300" u="none" cap="none" strike="noStrike">
                <a:solidFill>
                  <a:srgbClr val="171717"/>
                </a:solidFill>
                <a:latin typeface="Plus Jakarta Sans Light"/>
                <a:ea typeface="Plus Jakarta Sans Light"/>
                <a:cs typeface="Plus Jakarta Sans Light"/>
                <a:sym typeface="Plus Jakarta Sans Light"/>
              </a:rPr>
              <a:t>pregunta → búsqueda semántica en los documentos → respuesta basada en la fuente.</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El efecto: </a:t>
            </a:r>
            <a:r>
              <a:rPr b="0" i="0" lang="es" sz="1300" u="none" cap="none" strike="noStrike">
                <a:solidFill>
                  <a:srgbClr val="171717"/>
                </a:solidFill>
                <a:latin typeface="Plus Jakarta Sans Light"/>
                <a:ea typeface="Plus Jakarta Sans Light"/>
                <a:cs typeface="Plus Jakarta Sans Light"/>
                <a:sym typeface="Plus Jakarta Sans Light"/>
              </a:rPr>
              <a:t>el modelo deja de adivinar; lee los fragmentos y redacta la verdad institucional.</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52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Casos: </a:t>
            </a:r>
            <a:r>
              <a:rPr b="0" i="0" lang="es" sz="1300" u="none" cap="none" strike="noStrike">
                <a:solidFill>
                  <a:srgbClr val="171717"/>
                </a:solidFill>
                <a:latin typeface="Plus Jakarta Sans Light"/>
                <a:ea typeface="Plus Jakarta Sans Light"/>
                <a:cs typeface="Plus Jakarta Sans Light"/>
                <a:sym typeface="Plus Jakarta Sans Light"/>
              </a:rPr>
              <a:t>RRHH (reglamento), soporte (catálogo), legal (contratos vigentes).</a:t>
            </a:r>
            <a:endParaRPr b="0" i="0" sz="1300" u="none" cap="none" strike="noStrike">
              <a:solidFill>
                <a:srgbClr val="171717"/>
              </a:solidFill>
              <a:latin typeface="Plus Jakarta Sans Light"/>
              <a:ea typeface="Plus Jakarta Sans Light"/>
              <a:cs typeface="Plus Jakarta Sans Light"/>
              <a:sym typeface="Plus Jakarta Sans Light"/>
            </a:endParaRPr>
          </a:p>
        </p:txBody>
      </p:sp>
      <p:sp>
        <p:nvSpPr>
          <p:cNvPr id="142" name="Google Shape;142;p9"/>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0" i="0" lang="es" sz="4000" u="none" cap="none" strike="noStrike">
                <a:solidFill>
                  <a:srgbClr val="FF632B"/>
                </a:solidFill>
                <a:latin typeface="Plus Jakarta Sans ExtraBold"/>
                <a:ea typeface="Plus Jakarta Sans ExtraBold"/>
                <a:cs typeface="Plus Jakarta Sans ExtraBold"/>
                <a:sym typeface="Plus Jakarta Sans ExtraBold"/>
              </a:rPr>
              <a:t>El paradigma RAG</a:t>
            </a:r>
            <a:endParaRPr b="0" i="0" sz="4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143" name="Google Shape;143;p9"/>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Buscar antes de hablar</a:t>
            </a:r>
            <a:endParaRPr b="0" i="0" sz="20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0"/>
          <p:cNvSpPr/>
          <p:nvPr/>
        </p:nvSpPr>
        <p:spPr>
          <a:xfrm>
            <a:off x="0" y="0"/>
            <a:ext cx="9144000" cy="1950900"/>
          </a:xfrm>
          <a:prstGeom prst="rect">
            <a:avLst/>
          </a:prstGeom>
          <a:solidFill>
            <a:srgbClr val="FDAB2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10"/>
          <p:cNvSpPr txBox="1"/>
          <p:nvPr/>
        </p:nvSpPr>
        <p:spPr>
          <a:xfrm>
            <a:off x="600250" y="656475"/>
            <a:ext cx="8220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Momentos de la Clase:</a:t>
            </a:r>
            <a:endParaRPr b="0" i="0" sz="5000" u="none" cap="none" strike="noStrike">
              <a:solidFill>
                <a:srgbClr val="F8F2E8"/>
              </a:solidFill>
              <a:latin typeface="Plus Jakarta Sans"/>
              <a:ea typeface="Plus Jakarta Sans"/>
              <a:cs typeface="Plus Jakarta Sans"/>
              <a:sym typeface="Plus Jakarta Sans"/>
            </a:endParaRPr>
          </a:p>
        </p:txBody>
      </p:sp>
      <p:sp>
        <p:nvSpPr>
          <p:cNvPr id="150" name="Google Shape;150;p10"/>
          <p:cNvSpPr txBox="1"/>
          <p:nvPr/>
        </p:nvSpPr>
        <p:spPr>
          <a:xfrm>
            <a:off x="730900" y="2015917"/>
            <a:ext cx="8220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Actividad colaborativa</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260700"/>
                </a:solidFill>
                <a:latin typeface="Plus Jakarta Sans ExtraBold"/>
                <a:ea typeface="Plus Jakarta Sans ExtraBold"/>
                <a:cs typeface="Plus Jakarta Sans ExtraBold"/>
                <a:sym typeface="Plus Jakarta Sans ExtraBold"/>
              </a:rPr>
              <a:t>Para pensar</a:t>
            </a:r>
            <a:endParaRPr b="0" i="0" sz="5000" u="none" cap="none" strike="noStrike">
              <a:solidFill>
                <a:srgbClr val="260700"/>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Para recordar</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Coder Tips</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Material ampliado</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Cuestionario de tarea</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#FindTheBug</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p:txBody>
      </p:sp>
      <p:sp>
        <p:nvSpPr>
          <p:cNvPr id="151" name="Google Shape;151;p10"/>
          <p:cNvSpPr txBox="1"/>
          <p:nvPr/>
        </p:nvSpPr>
        <p:spPr>
          <a:xfrm>
            <a:off x="5777125" y="2962125"/>
            <a:ext cx="28731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2000"/>
              </a:lnSpc>
              <a:spcBef>
                <a:spcPts val="0"/>
              </a:spcBef>
              <a:spcAft>
                <a:spcPts val="0"/>
              </a:spcAft>
              <a:buClr>
                <a:srgbClr val="000000"/>
              </a:buClr>
              <a:buSzPts val="1200"/>
              <a:buFont typeface="Arial"/>
              <a:buNone/>
            </a:pPr>
            <a:r>
              <a:rPr b="0" i="0" lang="es" sz="1200" u="none" cap="none" strike="noStrike">
                <a:solidFill>
                  <a:srgbClr val="171717"/>
                </a:solidFill>
                <a:latin typeface="Plus Jakarta Sans Light"/>
                <a:ea typeface="Plus Jakarta Sans Light"/>
                <a:cs typeface="Plus Jakarta Sans Light"/>
                <a:sym typeface="Plus Jakarta Sans Light"/>
              </a:rPr>
              <a:t>No todo agente necesita RAG. SÍ cuando hay textos extensos, info que cambia seguido o cero tolerancia a alucinar. NO cuando es puro transaccional o la lógica entra en el prompt. ¿Tu proceso de qué lado cae?</a:t>
            </a:r>
            <a:endParaRPr b="0" i="0" sz="1200" u="none" cap="none" strike="noStrike">
              <a:solidFill>
                <a:srgbClr val="171717"/>
              </a:solidFill>
              <a:latin typeface="Plus Jakarta Sans Light"/>
              <a:ea typeface="Plus Jakarta Sans Light"/>
              <a:cs typeface="Plus Jakarta Sans Light"/>
              <a:sym typeface="Plus Jakarta Sans 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1"/>
          <p:cNvSpPr txBox="1"/>
          <p:nvPr/>
        </p:nvSpPr>
        <p:spPr>
          <a:xfrm>
            <a:off x="739075" y="2866306"/>
            <a:ext cx="7815600" cy="2748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rPr b="0" i="0" lang="es" sz="1200" u="none" cap="none" strike="noStrike">
                <a:solidFill>
                  <a:srgbClr val="F8F2E8"/>
                </a:solidFill>
                <a:latin typeface="Plus Jakarta Sans Light"/>
                <a:ea typeface="Plus Jakarta Sans Light"/>
                <a:cs typeface="Plus Jakarta Sans Light"/>
                <a:sym typeface="Plus Jakarta Sans Light"/>
              </a:rPr>
              <a:t>El modelo deja de adivinar y responde con la fuente.</a:t>
            </a:r>
            <a:endParaRPr b="0" i="0" sz="1200" u="none" cap="none" strike="noStrike">
              <a:solidFill>
                <a:srgbClr val="F8F2E8"/>
              </a:solidFill>
              <a:latin typeface="Plus Jakarta Sans Light"/>
              <a:ea typeface="Plus Jakarta Sans Light"/>
              <a:cs typeface="Plus Jakarta Sans Light"/>
              <a:sym typeface="Plus Jakarta Sans Light"/>
            </a:endParaRPr>
          </a:p>
        </p:txBody>
      </p:sp>
      <p:sp>
        <p:nvSpPr>
          <p:cNvPr id="157" name="Google Shape;157;p11"/>
          <p:cNvSpPr txBox="1"/>
          <p:nvPr/>
        </p:nvSpPr>
        <p:spPr>
          <a:xfrm>
            <a:off x="1340550" y="1189138"/>
            <a:ext cx="6462900" cy="1138800"/>
          </a:xfrm>
          <a:prstGeom prst="rect">
            <a:avLst/>
          </a:prstGeom>
          <a:noFill/>
          <a:ln>
            <a:noFill/>
          </a:ln>
        </p:spPr>
        <p:txBody>
          <a:bodyPr anchorCtr="0" anchor="t" bIns="91425" lIns="91425" spcFirstLastPara="1" rIns="91425" wrap="square" tIns="91425">
            <a:noAutofit/>
          </a:bodyPr>
          <a:lstStyle/>
          <a:p>
            <a:pPr indent="0" lvl="0" marL="0" marR="0" rtl="0" algn="ctr">
              <a:lnSpc>
                <a:spcPct val="70000"/>
              </a:lnSpc>
              <a:spcBef>
                <a:spcPts val="0"/>
              </a:spcBef>
              <a:spcAft>
                <a:spcPts val="0"/>
              </a:spcAft>
              <a:buClr>
                <a:srgbClr val="000000"/>
              </a:buClr>
              <a:buSzPts val="4800"/>
              <a:buFont typeface="Arial"/>
              <a:buNone/>
            </a:pPr>
            <a:r>
              <a:rPr b="0" i="0" lang="es" sz="4800" u="none" cap="none" strike="noStrike">
                <a:solidFill>
                  <a:srgbClr val="F8F2E8"/>
                </a:solidFill>
                <a:latin typeface="Plus Jakarta Sans ExtraBold"/>
                <a:ea typeface="Plus Jakarta Sans ExtraBold"/>
                <a:cs typeface="Plus Jakarta Sans ExtraBold"/>
                <a:sym typeface="Plus Jakarta Sans ExtraBold"/>
              </a:rPr>
              <a:t>RAG: buscar en los libros antes de hablar.</a:t>
            </a:r>
            <a:endParaRPr b="0" i="0" sz="48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2"/>
          <p:cNvSpPr txBox="1"/>
          <p:nvPr/>
        </p:nvSpPr>
        <p:spPr>
          <a:xfrm>
            <a:off x="6180025" y="314075"/>
            <a:ext cx="2630700" cy="171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0"/>
              <a:buFont typeface="Arial"/>
              <a:buNone/>
            </a:pPr>
            <a:r>
              <a:rPr b="0" i="0" lang="es" sz="13000" u="none" cap="none" strike="noStrike">
                <a:solidFill>
                  <a:srgbClr val="FDAB2E"/>
                </a:solidFill>
                <a:latin typeface="Plus Jakarta Sans ExtraBold"/>
                <a:ea typeface="Plus Jakarta Sans ExtraBold"/>
                <a:cs typeface="Plus Jakarta Sans ExtraBold"/>
                <a:sym typeface="Plus Jakarta Sans ExtraBold"/>
              </a:rPr>
              <a:t>02</a:t>
            </a:r>
            <a:endParaRPr b="0" i="0" sz="13000" u="none" cap="none" strike="noStrike">
              <a:solidFill>
                <a:srgbClr val="FDAB2E"/>
              </a:solidFill>
              <a:latin typeface="Plus Jakarta Sans ExtraBold"/>
              <a:ea typeface="Plus Jakarta Sans ExtraBold"/>
              <a:cs typeface="Plus Jakarta Sans ExtraBold"/>
              <a:sym typeface="Plus Jakarta Sans ExtraBold"/>
            </a:endParaRPr>
          </a:p>
        </p:txBody>
      </p:sp>
      <p:sp>
        <p:nvSpPr>
          <p:cNvPr id="163" name="Google Shape;163;p12"/>
          <p:cNvSpPr txBox="1"/>
          <p:nvPr/>
        </p:nvSpPr>
        <p:spPr>
          <a:xfrm>
            <a:off x="641650" y="3337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0" i="0" lang="es" sz="2800" u="none" cap="none" strike="noStrike">
                <a:solidFill>
                  <a:srgbClr val="F8F2E8"/>
                </a:solidFill>
                <a:latin typeface="Plus Jakarta Sans ExtraBold"/>
                <a:ea typeface="Plus Jakarta Sans ExtraBold"/>
                <a:cs typeface="Plus Jakarta Sans ExtraBold"/>
                <a:sym typeface="Plus Jakarta Sans ExtraBold"/>
              </a:rPr>
              <a:t>Del documento al agente</a:t>
            </a:r>
            <a:endParaRPr b="0" i="0" sz="28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h4b93c11d3265945c_0_90"/>
          <p:cNvSpPr txBox="1"/>
          <p:nvPr>
            <p:ph type="title"/>
          </p:nvPr>
        </p:nvSpPr>
        <p:spPr>
          <a:xfrm>
            <a:off x="411480" y="240030"/>
            <a:ext cx="8318700" cy="480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2700"/>
              <a:buFont typeface="Plus Jakarta Sans"/>
              <a:buNone/>
            </a:pPr>
            <a:r>
              <a:rPr b="1" lang="es" sz="2700">
                <a:solidFill>
                  <a:schemeClr val="dk1"/>
                </a:solidFill>
              </a:rPr>
              <a:t>Cómo funciona </a:t>
            </a:r>
            <a:r>
              <a:rPr b="1" lang="es" sz="2700">
                <a:solidFill>
                  <a:schemeClr val="accent1"/>
                </a:solidFill>
              </a:rPr>
              <a:t>LlamaCloud</a:t>
            </a:r>
            <a:endParaRPr sz="2700"/>
          </a:p>
        </p:txBody>
      </p:sp>
      <p:sp>
        <p:nvSpPr>
          <p:cNvPr id="170" name="Google Shape;170;h4b93c11d3265945c_0_90"/>
          <p:cNvSpPr txBox="1"/>
          <p:nvPr/>
        </p:nvSpPr>
        <p:spPr>
          <a:xfrm>
            <a:off x="411480" y="720090"/>
            <a:ext cx="8318700" cy="30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300"/>
              <a:buFont typeface="Plus Jakarta Sans"/>
              <a:buNone/>
            </a:pPr>
            <a:r>
              <a:rPr b="0" i="1" lang="es" sz="1300" u="none" cap="none" strike="noStrike">
                <a:solidFill>
                  <a:schemeClr val="dk1"/>
                </a:solidFill>
                <a:latin typeface="Plus Jakarta Sans"/>
                <a:ea typeface="Plus Jakarta Sans"/>
                <a:cs typeface="Plus Jakarta Sans"/>
                <a:sym typeface="Plus Jakarta Sans"/>
              </a:rPr>
              <a:t>Es como un bibliotecario que prepara tus documentos para que el agente los pueda consultar.</a:t>
            </a:r>
            <a:endParaRPr b="0" i="0" sz="1300" u="none" cap="none" strike="noStrike">
              <a:solidFill>
                <a:schemeClr val="dk1"/>
              </a:solidFill>
              <a:latin typeface="Plus Jakarta Sans"/>
              <a:ea typeface="Plus Jakarta Sans"/>
              <a:cs typeface="Plus Jakarta Sans"/>
              <a:sym typeface="Plus Jakarta Sans"/>
            </a:endParaRPr>
          </a:p>
        </p:txBody>
      </p:sp>
      <p:sp>
        <p:nvSpPr>
          <p:cNvPr id="171" name="Google Shape;171;h4b93c11d3265945c_0_90"/>
          <p:cNvSpPr txBox="1"/>
          <p:nvPr/>
        </p:nvSpPr>
        <p:spPr>
          <a:xfrm>
            <a:off x="411480" y="1152144"/>
            <a:ext cx="54864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900"/>
              <a:buFont typeface="Plus Jakarta Sans"/>
              <a:buNone/>
            </a:pPr>
            <a:r>
              <a:rPr b="1" i="0" lang="es" sz="900" u="none" cap="none" strike="noStrike">
                <a:solidFill>
                  <a:schemeClr val="accent1"/>
                </a:solidFill>
                <a:latin typeface="Plus Jakarta Sans"/>
                <a:ea typeface="Plus Jakarta Sans"/>
                <a:cs typeface="Plus Jakarta Sans"/>
                <a:sym typeface="Plus Jakarta Sans"/>
              </a:rPr>
              <a:t>1 · PREPARA TUS DOCUMENTOS (UNA SOLA VEZ)</a:t>
            </a:r>
            <a:endParaRPr b="0" i="0" sz="900" u="none" cap="none" strike="noStrike">
              <a:solidFill>
                <a:schemeClr val="dk1"/>
              </a:solidFill>
              <a:latin typeface="Plus Jakarta Sans"/>
              <a:ea typeface="Plus Jakarta Sans"/>
              <a:cs typeface="Plus Jakarta Sans"/>
              <a:sym typeface="Plus Jakarta Sans"/>
            </a:endParaRPr>
          </a:p>
        </p:txBody>
      </p:sp>
      <p:sp>
        <p:nvSpPr>
          <p:cNvPr id="172" name="Google Shape;172;h4b93c11d3265945c_0_90"/>
          <p:cNvSpPr/>
          <p:nvPr/>
        </p:nvSpPr>
        <p:spPr>
          <a:xfrm>
            <a:off x="411480" y="1405890"/>
            <a:ext cx="1927200" cy="1405800"/>
          </a:xfrm>
          <a:prstGeom prst="roundRect">
            <a:avLst>
              <a:gd fmla="val 5854" name="adj"/>
            </a:avLst>
          </a:prstGeom>
          <a:solidFill>
            <a:schemeClr val="lt1"/>
          </a:solidFill>
          <a:ln>
            <a:noFill/>
          </a:ln>
          <a:effectLst>
            <a:outerShdw blurRad="76200" rotWithShape="0" algn="bl" dir="5400000" dist="19050">
              <a:srgbClr val="260700">
                <a:alpha val="1216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3" name="Google Shape;173;h4b93c11d3265945c_0_90"/>
          <p:cNvSpPr/>
          <p:nvPr/>
        </p:nvSpPr>
        <p:spPr>
          <a:xfrm>
            <a:off x="548640" y="1543050"/>
            <a:ext cx="342900" cy="342900"/>
          </a:xfrm>
          <a:prstGeom prst="ellipse">
            <a:avLst/>
          </a:prstGeom>
          <a:solidFill>
            <a:schemeClr val="accent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4" name="Google Shape;174;h4b93c11d3265945c_0_90"/>
          <p:cNvSpPr txBox="1"/>
          <p:nvPr/>
        </p:nvSpPr>
        <p:spPr>
          <a:xfrm>
            <a:off x="548640" y="1543050"/>
            <a:ext cx="3429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400"/>
              <a:buFont typeface="Plus Jakarta Sans"/>
              <a:buNone/>
            </a:pPr>
            <a:r>
              <a:rPr b="1" i="0" lang="es" sz="1400" u="none" cap="none" strike="noStrike">
                <a:solidFill>
                  <a:schemeClr val="dk1"/>
                </a:solidFill>
                <a:latin typeface="Plus Jakarta Sans"/>
                <a:ea typeface="Plus Jakarta Sans"/>
                <a:cs typeface="Plus Jakarta Sans"/>
                <a:sym typeface="Plus Jakarta Sans"/>
              </a:rPr>
              <a:t>1</a:t>
            </a:r>
            <a:endParaRPr b="0" i="0" sz="1400" u="none" cap="none" strike="noStrike">
              <a:solidFill>
                <a:schemeClr val="dk1"/>
              </a:solidFill>
              <a:latin typeface="Plus Jakarta Sans"/>
              <a:ea typeface="Plus Jakarta Sans"/>
              <a:cs typeface="Plus Jakarta Sans"/>
              <a:sym typeface="Plus Jakarta Sans"/>
            </a:endParaRPr>
          </a:p>
        </p:txBody>
      </p:sp>
      <p:sp>
        <p:nvSpPr>
          <p:cNvPr id="175" name="Google Shape;175;h4b93c11d3265945c_0_90"/>
          <p:cNvSpPr txBox="1"/>
          <p:nvPr/>
        </p:nvSpPr>
        <p:spPr>
          <a:xfrm>
            <a:off x="973836" y="1508760"/>
            <a:ext cx="1261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100"/>
              <a:buFont typeface="Plus Jakarta Sans"/>
              <a:buNone/>
            </a:pPr>
            <a:r>
              <a:rPr b="1" i="0" lang="es" sz="1100" u="none" cap="none" strike="noStrike">
                <a:solidFill>
                  <a:schemeClr val="dk1"/>
                </a:solidFill>
                <a:latin typeface="Plus Jakarta Sans"/>
                <a:ea typeface="Plus Jakarta Sans"/>
                <a:cs typeface="Plus Jakarta Sans"/>
                <a:sym typeface="Plus Jakarta Sans"/>
              </a:rPr>
              <a:t>Leer (parseo)</a:t>
            </a:r>
            <a:endParaRPr b="0" i="0" sz="1100" u="none" cap="none" strike="noStrike">
              <a:solidFill>
                <a:schemeClr val="dk1"/>
              </a:solidFill>
              <a:latin typeface="Plus Jakarta Sans"/>
              <a:ea typeface="Plus Jakarta Sans"/>
              <a:cs typeface="Plus Jakarta Sans"/>
              <a:sym typeface="Plus Jakarta Sans"/>
            </a:endParaRPr>
          </a:p>
        </p:txBody>
      </p:sp>
      <p:sp>
        <p:nvSpPr>
          <p:cNvPr id="176" name="Google Shape;176;h4b93c11d3265945c_0_90"/>
          <p:cNvSpPr txBox="1"/>
          <p:nvPr/>
        </p:nvSpPr>
        <p:spPr>
          <a:xfrm>
            <a:off x="548640" y="1988820"/>
            <a:ext cx="1653000" cy="754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000"/>
              <a:buFont typeface="Plus Jakarta Sans"/>
              <a:buNone/>
            </a:pPr>
            <a:r>
              <a:rPr b="0" i="0" lang="es" sz="1000" u="none" cap="none" strike="noStrike">
                <a:solidFill>
                  <a:schemeClr val="dk1"/>
                </a:solidFill>
                <a:latin typeface="Plus Jakarta Sans"/>
                <a:ea typeface="Plus Jakarta Sans"/>
                <a:cs typeface="Plus Jakarta Sans"/>
                <a:sym typeface="Plus Jakarta Sans"/>
              </a:rPr>
              <a:t>Subís un PDF o un manual y lo convierte en texto ordenado, respetando títulos y tablas, para que no quede todo mezclado.</a:t>
            </a:r>
            <a:endParaRPr b="0" i="0" sz="1000" u="none" cap="none" strike="noStrike">
              <a:solidFill>
                <a:schemeClr val="dk1"/>
              </a:solidFill>
              <a:latin typeface="Plus Jakarta Sans"/>
              <a:ea typeface="Plus Jakarta Sans"/>
              <a:cs typeface="Plus Jakarta Sans"/>
              <a:sym typeface="Plus Jakarta Sans"/>
            </a:endParaRPr>
          </a:p>
        </p:txBody>
      </p:sp>
      <p:sp>
        <p:nvSpPr>
          <p:cNvPr id="177" name="Google Shape;177;h4b93c11d3265945c_0_90"/>
          <p:cNvSpPr/>
          <p:nvPr/>
        </p:nvSpPr>
        <p:spPr>
          <a:xfrm>
            <a:off x="2544318" y="1405890"/>
            <a:ext cx="1927200" cy="1405800"/>
          </a:xfrm>
          <a:prstGeom prst="roundRect">
            <a:avLst>
              <a:gd fmla="val 5854" name="adj"/>
            </a:avLst>
          </a:prstGeom>
          <a:solidFill>
            <a:schemeClr val="lt1"/>
          </a:solidFill>
          <a:ln>
            <a:noFill/>
          </a:ln>
          <a:effectLst>
            <a:outerShdw blurRad="76200" rotWithShape="0" algn="bl" dir="5400000" dist="19050">
              <a:srgbClr val="260700">
                <a:alpha val="1216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8" name="Google Shape;178;h4b93c11d3265945c_0_90"/>
          <p:cNvSpPr/>
          <p:nvPr/>
        </p:nvSpPr>
        <p:spPr>
          <a:xfrm>
            <a:off x="2681478" y="1543050"/>
            <a:ext cx="342900" cy="342900"/>
          </a:xfrm>
          <a:prstGeom prst="ellipse">
            <a:avLst/>
          </a:prstGeom>
          <a:solidFill>
            <a:schemeClr val="accent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9" name="Google Shape;179;h4b93c11d3265945c_0_90"/>
          <p:cNvSpPr txBox="1"/>
          <p:nvPr/>
        </p:nvSpPr>
        <p:spPr>
          <a:xfrm>
            <a:off x="2681478" y="1543050"/>
            <a:ext cx="3429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400"/>
              <a:buFont typeface="Plus Jakarta Sans"/>
              <a:buNone/>
            </a:pPr>
            <a:r>
              <a:rPr b="1" i="0" lang="es" sz="1400" u="none" cap="none" strike="noStrike">
                <a:solidFill>
                  <a:schemeClr val="dk1"/>
                </a:solidFill>
                <a:latin typeface="Plus Jakarta Sans"/>
                <a:ea typeface="Plus Jakarta Sans"/>
                <a:cs typeface="Plus Jakarta Sans"/>
                <a:sym typeface="Plus Jakarta Sans"/>
              </a:rPr>
              <a:t>2</a:t>
            </a:r>
            <a:endParaRPr b="0" i="0" sz="1400" u="none" cap="none" strike="noStrike">
              <a:solidFill>
                <a:schemeClr val="dk1"/>
              </a:solidFill>
              <a:latin typeface="Plus Jakarta Sans"/>
              <a:ea typeface="Plus Jakarta Sans"/>
              <a:cs typeface="Plus Jakarta Sans"/>
              <a:sym typeface="Plus Jakarta Sans"/>
            </a:endParaRPr>
          </a:p>
        </p:txBody>
      </p:sp>
      <p:sp>
        <p:nvSpPr>
          <p:cNvPr id="180" name="Google Shape;180;h4b93c11d3265945c_0_90"/>
          <p:cNvSpPr txBox="1"/>
          <p:nvPr/>
        </p:nvSpPr>
        <p:spPr>
          <a:xfrm>
            <a:off x="3106674" y="1508760"/>
            <a:ext cx="1261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100"/>
              <a:buFont typeface="Plus Jakarta Sans"/>
              <a:buNone/>
            </a:pPr>
            <a:r>
              <a:rPr b="1" i="0" lang="es" sz="1100" u="none" cap="none" strike="noStrike">
                <a:solidFill>
                  <a:schemeClr val="dk1"/>
                </a:solidFill>
                <a:latin typeface="Plus Jakarta Sans"/>
                <a:ea typeface="Plus Jakarta Sans"/>
                <a:cs typeface="Plus Jakarta Sans"/>
                <a:sym typeface="Plus Jakarta Sans"/>
              </a:rPr>
              <a:t>Cortar (chunks)</a:t>
            </a:r>
            <a:endParaRPr b="0" i="0" sz="1100" u="none" cap="none" strike="noStrike">
              <a:solidFill>
                <a:schemeClr val="dk1"/>
              </a:solidFill>
              <a:latin typeface="Plus Jakarta Sans"/>
              <a:ea typeface="Plus Jakarta Sans"/>
              <a:cs typeface="Plus Jakarta Sans"/>
              <a:sym typeface="Plus Jakarta Sans"/>
            </a:endParaRPr>
          </a:p>
        </p:txBody>
      </p:sp>
      <p:sp>
        <p:nvSpPr>
          <p:cNvPr id="181" name="Google Shape;181;h4b93c11d3265945c_0_90"/>
          <p:cNvSpPr txBox="1"/>
          <p:nvPr/>
        </p:nvSpPr>
        <p:spPr>
          <a:xfrm>
            <a:off x="2681478" y="1988820"/>
            <a:ext cx="1653000" cy="754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000"/>
              <a:buFont typeface="Plus Jakarta Sans"/>
              <a:buNone/>
            </a:pPr>
            <a:r>
              <a:rPr b="0" i="0" lang="es" sz="1000" u="none" cap="none" strike="noStrike">
                <a:solidFill>
                  <a:schemeClr val="dk1"/>
                </a:solidFill>
                <a:latin typeface="Plus Jakarta Sans"/>
                <a:ea typeface="Plus Jakarta Sans"/>
                <a:cs typeface="Plus Jakarta Sans"/>
                <a:sym typeface="Plus Jakarta Sans"/>
              </a:rPr>
              <a:t>Divide el documento en pedacitos chicos, como si arrancara las páginas en párrafos.</a:t>
            </a:r>
            <a:endParaRPr b="0" i="0" sz="1000" u="none" cap="none" strike="noStrike">
              <a:solidFill>
                <a:schemeClr val="dk1"/>
              </a:solidFill>
              <a:latin typeface="Plus Jakarta Sans"/>
              <a:ea typeface="Plus Jakarta Sans"/>
              <a:cs typeface="Plus Jakarta Sans"/>
              <a:sym typeface="Plus Jakarta Sans"/>
            </a:endParaRPr>
          </a:p>
        </p:txBody>
      </p:sp>
      <p:sp>
        <p:nvSpPr>
          <p:cNvPr id="182" name="Google Shape;182;h4b93c11d3265945c_0_90"/>
          <p:cNvSpPr/>
          <p:nvPr/>
        </p:nvSpPr>
        <p:spPr>
          <a:xfrm>
            <a:off x="4677156" y="1405890"/>
            <a:ext cx="1927200" cy="1405800"/>
          </a:xfrm>
          <a:prstGeom prst="roundRect">
            <a:avLst>
              <a:gd fmla="val 5854" name="adj"/>
            </a:avLst>
          </a:prstGeom>
          <a:solidFill>
            <a:schemeClr val="lt1"/>
          </a:solidFill>
          <a:ln>
            <a:noFill/>
          </a:ln>
          <a:effectLst>
            <a:outerShdw blurRad="76200" rotWithShape="0" algn="bl" dir="5400000" dist="19050">
              <a:srgbClr val="260700">
                <a:alpha val="1216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3" name="Google Shape;183;h4b93c11d3265945c_0_90"/>
          <p:cNvSpPr/>
          <p:nvPr/>
        </p:nvSpPr>
        <p:spPr>
          <a:xfrm>
            <a:off x="4814316" y="1543050"/>
            <a:ext cx="342900" cy="342900"/>
          </a:xfrm>
          <a:prstGeom prst="ellipse">
            <a:avLst/>
          </a:prstGeom>
          <a:solidFill>
            <a:schemeClr val="accent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4" name="Google Shape;184;h4b93c11d3265945c_0_90"/>
          <p:cNvSpPr txBox="1"/>
          <p:nvPr/>
        </p:nvSpPr>
        <p:spPr>
          <a:xfrm>
            <a:off x="4814316" y="1543050"/>
            <a:ext cx="3429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400"/>
              <a:buFont typeface="Plus Jakarta Sans"/>
              <a:buNone/>
            </a:pPr>
            <a:r>
              <a:rPr b="1" i="0" lang="es" sz="1400" u="none" cap="none" strike="noStrike">
                <a:solidFill>
                  <a:schemeClr val="dk1"/>
                </a:solidFill>
                <a:latin typeface="Plus Jakarta Sans"/>
                <a:ea typeface="Plus Jakarta Sans"/>
                <a:cs typeface="Plus Jakarta Sans"/>
                <a:sym typeface="Plus Jakarta Sans"/>
              </a:rPr>
              <a:t>3</a:t>
            </a:r>
            <a:endParaRPr b="0" i="0" sz="1400" u="none" cap="none" strike="noStrike">
              <a:solidFill>
                <a:schemeClr val="dk1"/>
              </a:solidFill>
              <a:latin typeface="Plus Jakarta Sans"/>
              <a:ea typeface="Plus Jakarta Sans"/>
              <a:cs typeface="Plus Jakarta Sans"/>
              <a:sym typeface="Plus Jakarta Sans"/>
            </a:endParaRPr>
          </a:p>
        </p:txBody>
      </p:sp>
      <p:sp>
        <p:nvSpPr>
          <p:cNvPr id="185" name="Google Shape;185;h4b93c11d3265945c_0_90"/>
          <p:cNvSpPr txBox="1"/>
          <p:nvPr/>
        </p:nvSpPr>
        <p:spPr>
          <a:xfrm>
            <a:off x="5239512" y="1508760"/>
            <a:ext cx="1261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100"/>
              <a:buFont typeface="Plus Jakarta Sans"/>
              <a:buNone/>
            </a:pPr>
            <a:r>
              <a:rPr b="1" i="0" lang="es" sz="1100" u="none" cap="none" strike="noStrike">
                <a:solidFill>
                  <a:schemeClr val="dk1"/>
                </a:solidFill>
                <a:latin typeface="Plus Jakarta Sans"/>
                <a:ea typeface="Plus Jakarta Sans"/>
                <a:cs typeface="Plus Jakarta Sans"/>
                <a:sym typeface="Plus Jakarta Sans"/>
              </a:rPr>
              <a:t>Convertir en flechas (embeddings)</a:t>
            </a:r>
            <a:endParaRPr b="0" i="0" sz="1100" u="none" cap="none" strike="noStrike">
              <a:solidFill>
                <a:schemeClr val="dk1"/>
              </a:solidFill>
              <a:latin typeface="Plus Jakarta Sans"/>
              <a:ea typeface="Plus Jakarta Sans"/>
              <a:cs typeface="Plus Jakarta Sans"/>
              <a:sym typeface="Plus Jakarta Sans"/>
            </a:endParaRPr>
          </a:p>
        </p:txBody>
      </p:sp>
      <p:sp>
        <p:nvSpPr>
          <p:cNvPr id="186" name="Google Shape;186;h4b93c11d3265945c_0_90"/>
          <p:cNvSpPr txBox="1"/>
          <p:nvPr/>
        </p:nvSpPr>
        <p:spPr>
          <a:xfrm>
            <a:off x="4814316" y="1988820"/>
            <a:ext cx="1653000" cy="754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000"/>
              <a:buFont typeface="Plus Jakarta Sans"/>
              <a:buNone/>
            </a:pPr>
            <a:r>
              <a:rPr b="0" i="0" lang="es" sz="1000" u="none" cap="none" strike="noStrike">
                <a:solidFill>
                  <a:schemeClr val="dk1"/>
                </a:solidFill>
                <a:latin typeface="Plus Jakarta Sans"/>
                <a:ea typeface="Plus Jakarta Sans"/>
                <a:cs typeface="Plus Jakarta Sans"/>
                <a:sym typeface="Plus Jakarta Sans"/>
              </a:rPr>
              <a:t>Cada pedacito se transforma en un vector, igual que en Word2Vec pero con frases enteras.</a:t>
            </a:r>
            <a:endParaRPr b="0" i="0" sz="1000" u="none" cap="none" strike="noStrike">
              <a:solidFill>
                <a:schemeClr val="dk1"/>
              </a:solidFill>
              <a:latin typeface="Plus Jakarta Sans"/>
              <a:ea typeface="Plus Jakarta Sans"/>
              <a:cs typeface="Plus Jakarta Sans"/>
              <a:sym typeface="Plus Jakarta Sans"/>
            </a:endParaRPr>
          </a:p>
        </p:txBody>
      </p:sp>
      <p:sp>
        <p:nvSpPr>
          <p:cNvPr id="187" name="Google Shape;187;h4b93c11d3265945c_0_90"/>
          <p:cNvSpPr/>
          <p:nvPr/>
        </p:nvSpPr>
        <p:spPr>
          <a:xfrm>
            <a:off x="6809994" y="1405890"/>
            <a:ext cx="1927200" cy="1405800"/>
          </a:xfrm>
          <a:prstGeom prst="roundRect">
            <a:avLst>
              <a:gd fmla="val 5854" name="adj"/>
            </a:avLst>
          </a:prstGeom>
          <a:solidFill>
            <a:schemeClr val="lt1"/>
          </a:solidFill>
          <a:ln>
            <a:noFill/>
          </a:ln>
          <a:effectLst>
            <a:outerShdw blurRad="76200" rotWithShape="0" algn="bl" dir="5400000" dist="19050">
              <a:srgbClr val="260700">
                <a:alpha val="1216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8" name="Google Shape;188;h4b93c11d3265945c_0_90"/>
          <p:cNvSpPr/>
          <p:nvPr/>
        </p:nvSpPr>
        <p:spPr>
          <a:xfrm>
            <a:off x="6947154" y="1543050"/>
            <a:ext cx="342900" cy="342900"/>
          </a:xfrm>
          <a:prstGeom prst="ellipse">
            <a:avLst/>
          </a:prstGeom>
          <a:solidFill>
            <a:schemeClr val="accent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9" name="Google Shape;189;h4b93c11d3265945c_0_90"/>
          <p:cNvSpPr txBox="1"/>
          <p:nvPr/>
        </p:nvSpPr>
        <p:spPr>
          <a:xfrm>
            <a:off x="6947154" y="1543050"/>
            <a:ext cx="3429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400"/>
              <a:buFont typeface="Plus Jakarta Sans"/>
              <a:buNone/>
            </a:pPr>
            <a:r>
              <a:rPr b="1" i="0" lang="es" sz="1400" u="none" cap="none" strike="noStrike">
                <a:solidFill>
                  <a:schemeClr val="dk1"/>
                </a:solidFill>
                <a:latin typeface="Plus Jakarta Sans"/>
                <a:ea typeface="Plus Jakarta Sans"/>
                <a:cs typeface="Plus Jakarta Sans"/>
                <a:sym typeface="Plus Jakarta Sans"/>
              </a:rPr>
              <a:t>4</a:t>
            </a:r>
            <a:endParaRPr b="0" i="0" sz="1400" u="none" cap="none" strike="noStrike">
              <a:solidFill>
                <a:schemeClr val="dk1"/>
              </a:solidFill>
              <a:latin typeface="Plus Jakarta Sans"/>
              <a:ea typeface="Plus Jakarta Sans"/>
              <a:cs typeface="Plus Jakarta Sans"/>
              <a:sym typeface="Plus Jakarta Sans"/>
            </a:endParaRPr>
          </a:p>
        </p:txBody>
      </p:sp>
      <p:sp>
        <p:nvSpPr>
          <p:cNvPr id="190" name="Google Shape;190;h4b93c11d3265945c_0_90"/>
          <p:cNvSpPr txBox="1"/>
          <p:nvPr/>
        </p:nvSpPr>
        <p:spPr>
          <a:xfrm>
            <a:off x="7372350" y="1508760"/>
            <a:ext cx="1261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100"/>
              <a:buFont typeface="Plus Jakarta Sans"/>
              <a:buNone/>
            </a:pPr>
            <a:r>
              <a:rPr b="1" i="0" lang="es" sz="1100" u="none" cap="none" strike="noStrike">
                <a:solidFill>
                  <a:schemeClr val="dk1"/>
                </a:solidFill>
                <a:latin typeface="Plus Jakarta Sans"/>
                <a:ea typeface="Plus Jakarta Sans"/>
                <a:cs typeface="Plus Jakarta Sans"/>
                <a:sym typeface="Plus Jakarta Sans"/>
              </a:rPr>
              <a:t>Guardar (índice)</a:t>
            </a:r>
            <a:endParaRPr b="0" i="0" sz="1100" u="none" cap="none" strike="noStrike">
              <a:solidFill>
                <a:schemeClr val="dk1"/>
              </a:solidFill>
              <a:latin typeface="Plus Jakarta Sans"/>
              <a:ea typeface="Plus Jakarta Sans"/>
              <a:cs typeface="Plus Jakarta Sans"/>
              <a:sym typeface="Plus Jakarta Sans"/>
            </a:endParaRPr>
          </a:p>
        </p:txBody>
      </p:sp>
      <p:sp>
        <p:nvSpPr>
          <p:cNvPr id="191" name="Google Shape;191;h4b93c11d3265945c_0_90"/>
          <p:cNvSpPr txBox="1"/>
          <p:nvPr/>
        </p:nvSpPr>
        <p:spPr>
          <a:xfrm>
            <a:off x="6947154" y="1988820"/>
            <a:ext cx="1653000" cy="754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000"/>
              <a:buFont typeface="Plus Jakarta Sans"/>
              <a:buNone/>
            </a:pPr>
            <a:r>
              <a:rPr b="0" i="0" lang="es" sz="1000" u="none" cap="none" strike="noStrike">
                <a:solidFill>
                  <a:schemeClr val="dk1"/>
                </a:solidFill>
                <a:latin typeface="Plus Jakarta Sans"/>
                <a:ea typeface="Plus Jakarta Sans"/>
                <a:cs typeface="Plus Jakarta Sans"/>
                <a:sym typeface="Plus Jakarta Sans"/>
              </a:rPr>
              <a:t>Guarda todas esas flechas en su Vector Store, listas para buscar.</a:t>
            </a:r>
            <a:endParaRPr b="0" i="0" sz="1000" u="none" cap="none" strike="noStrike">
              <a:solidFill>
                <a:schemeClr val="dk1"/>
              </a:solidFill>
              <a:latin typeface="Plus Jakarta Sans"/>
              <a:ea typeface="Plus Jakarta Sans"/>
              <a:cs typeface="Plus Jakarta Sans"/>
              <a:sym typeface="Plus Jakarta Sans"/>
            </a:endParaRPr>
          </a:p>
        </p:txBody>
      </p:sp>
      <p:sp>
        <p:nvSpPr>
          <p:cNvPr id="192" name="Google Shape;192;h4b93c11d3265945c_0_90"/>
          <p:cNvSpPr txBox="1"/>
          <p:nvPr/>
        </p:nvSpPr>
        <p:spPr>
          <a:xfrm>
            <a:off x="411480" y="3003804"/>
            <a:ext cx="54864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900"/>
              <a:buFont typeface="Plus Jakarta Sans"/>
              <a:buNone/>
            </a:pPr>
            <a:r>
              <a:rPr b="1" i="0" lang="es" sz="900" u="none" cap="none" strike="noStrike">
                <a:solidFill>
                  <a:schemeClr val="accent1"/>
                </a:solidFill>
                <a:latin typeface="Plus Jakarta Sans"/>
                <a:ea typeface="Plus Jakarta Sans"/>
                <a:cs typeface="Plus Jakarta Sans"/>
                <a:sym typeface="Plus Jakarta Sans"/>
              </a:rPr>
              <a:t>2 · CUANDO EL USUARIO PREGUNTA ALGO EN n8n</a:t>
            </a:r>
            <a:endParaRPr b="0" i="0" sz="900" u="none" cap="none" strike="noStrike">
              <a:solidFill>
                <a:schemeClr val="dk1"/>
              </a:solidFill>
              <a:latin typeface="Plus Jakarta Sans"/>
              <a:ea typeface="Plus Jakarta Sans"/>
              <a:cs typeface="Plus Jakarta Sans"/>
              <a:sym typeface="Plus Jakarta Sans"/>
            </a:endParaRPr>
          </a:p>
        </p:txBody>
      </p:sp>
      <p:sp>
        <p:nvSpPr>
          <p:cNvPr id="193" name="Google Shape;193;h4b93c11d3265945c_0_90"/>
          <p:cNvSpPr/>
          <p:nvPr/>
        </p:nvSpPr>
        <p:spPr>
          <a:xfrm>
            <a:off x="411480" y="3236976"/>
            <a:ext cx="1848300" cy="809400"/>
          </a:xfrm>
          <a:prstGeom prst="roundRect">
            <a:avLst>
              <a:gd fmla="val 10169" name="adj"/>
            </a:avLst>
          </a:prstGeom>
          <a:solidFill>
            <a:schemeClr val="dk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4" name="Google Shape;194;h4b93c11d3265945c_0_90"/>
          <p:cNvSpPr txBox="1"/>
          <p:nvPr/>
        </p:nvSpPr>
        <p:spPr>
          <a:xfrm>
            <a:off x="548640" y="3236976"/>
            <a:ext cx="1573800" cy="809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2"/>
              </a:buClr>
              <a:buSzPts val="1000"/>
              <a:buFont typeface="Plus Jakarta Sans"/>
              <a:buNone/>
            </a:pPr>
            <a:r>
              <a:rPr b="0" i="0" lang="es" sz="1000" u="none" cap="none" strike="noStrike">
                <a:solidFill>
                  <a:schemeClr val="lt2"/>
                </a:solidFill>
                <a:latin typeface="Plus Jakarta Sans"/>
                <a:ea typeface="Plus Jakarta Sans"/>
                <a:cs typeface="Plus Jakarta Sans"/>
                <a:sym typeface="Plus Jakarta Sans"/>
              </a:rPr>
              <a:t>La pregunta también se convierte en una flecha.</a:t>
            </a:r>
            <a:endParaRPr b="0" i="0" sz="1000" u="none" cap="none" strike="noStrike">
              <a:solidFill>
                <a:schemeClr val="dk1"/>
              </a:solidFill>
              <a:latin typeface="Plus Jakarta Sans"/>
              <a:ea typeface="Plus Jakarta Sans"/>
              <a:cs typeface="Plus Jakarta Sans"/>
              <a:sym typeface="Plus Jakarta Sans"/>
            </a:endParaRPr>
          </a:p>
        </p:txBody>
      </p:sp>
      <p:sp>
        <p:nvSpPr>
          <p:cNvPr id="195" name="Google Shape;195;h4b93c11d3265945c_0_90"/>
          <p:cNvSpPr/>
          <p:nvPr/>
        </p:nvSpPr>
        <p:spPr>
          <a:xfrm>
            <a:off x="2328291" y="3552444"/>
            <a:ext cx="171600" cy="178200"/>
          </a:xfrm>
          <a:prstGeom prst="rightArrow">
            <a:avLst>
              <a:gd fmla="val 50000" name="adj1"/>
              <a:gd fmla="val 50000" name="adj2"/>
            </a:avLst>
          </a:prstGeom>
          <a:solidFill>
            <a:schemeClr val="accent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6" name="Google Shape;196;h4b93c11d3265945c_0_90"/>
          <p:cNvSpPr/>
          <p:nvPr/>
        </p:nvSpPr>
        <p:spPr>
          <a:xfrm>
            <a:off x="2568321" y="3236976"/>
            <a:ext cx="1848300" cy="809400"/>
          </a:xfrm>
          <a:prstGeom prst="roundRect">
            <a:avLst>
              <a:gd fmla="val 10169" name="adj"/>
            </a:avLst>
          </a:prstGeom>
          <a:solidFill>
            <a:schemeClr val="dk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7" name="Google Shape;197;h4b93c11d3265945c_0_90"/>
          <p:cNvSpPr txBox="1"/>
          <p:nvPr/>
        </p:nvSpPr>
        <p:spPr>
          <a:xfrm>
            <a:off x="2705481" y="3236976"/>
            <a:ext cx="1573800" cy="809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2"/>
              </a:buClr>
              <a:buSzPts val="1000"/>
              <a:buFont typeface="Plus Jakarta Sans"/>
              <a:buNone/>
            </a:pPr>
            <a:r>
              <a:rPr b="0" i="0" lang="es" sz="1000" u="none" cap="none" strike="noStrike">
                <a:solidFill>
                  <a:schemeClr val="lt2"/>
                </a:solidFill>
                <a:latin typeface="Plus Jakarta Sans"/>
                <a:ea typeface="Plus Jakarta Sans"/>
                <a:cs typeface="Plus Jakarta Sans"/>
                <a:sym typeface="Plus Jakarta Sans"/>
              </a:rPr>
              <a:t>LlamaCloud busca los pedacitos que apuntan más parecido (por coseno).</a:t>
            </a:r>
            <a:endParaRPr b="0" i="0" sz="1000" u="none" cap="none" strike="noStrike">
              <a:solidFill>
                <a:schemeClr val="dk1"/>
              </a:solidFill>
              <a:latin typeface="Plus Jakarta Sans"/>
              <a:ea typeface="Plus Jakarta Sans"/>
              <a:cs typeface="Plus Jakarta Sans"/>
              <a:sym typeface="Plus Jakarta Sans"/>
            </a:endParaRPr>
          </a:p>
        </p:txBody>
      </p:sp>
      <p:sp>
        <p:nvSpPr>
          <p:cNvPr id="198" name="Google Shape;198;h4b93c11d3265945c_0_90"/>
          <p:cNvSpPr/>
          <p:nvPr/>
        </p:nvSpPr>
        <p:spPr>
          <a:xfrm>
            <a:off x="4485132" y="3552444"/>
            <a:ext cx="171600" cy="178200"/>
          </a:xfrm>
          <a:prstGeom prst="rightArrow">
            <a:avLst>
              <a:gd fmla="val 50000" name="adj1"/>
              <a:gd fmla="val 50000" name="adj2"/>
            </a:avLst>
          </a:prstGeom>
          <a:solidFill>
            <a:schemeClr val="accent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9" name="Google Shape;199;h4b93c11d3265945c_0_90"/>
          <p:cNvSpPr/>
          <p:nvPr/>
        </p:nvSpPr>
        <p:spPr>
          <a:xfrm>
            <a:off x="4725162" y="3236976"/>
            <a:ext cx="1848300" cy="809400"/>
          </a:xfrm>
          <a:prstGeom prst="roundRect">
            <a:avLst>
              <a:gd fmla="val 10169" name="adj"/>
            </a:avLst>
          </a:prstGeom>
          <a:solidFill>
            <a:schemeClr val="dk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0" name="Google Shape;200;h4b93c11d3265945c_0_90"/>
          <p:cNvSpPr txBox="1"/>
          <p:nvPr/>
        </p:nvSpPr>
        <p:spPr>
          <a:xfrm>
            <a:off x="4862322" y="3236976"/>
            <a:ext cx="1573800" cy="809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2"/>
              </a:buClr>
              <a:buSzPts val="1000"/>
              <a:buFont typeface="Plus Jakarta Sans"/>
              <a:buNone/>
            </a:pPr>
            <a:r>
              <a:rPr b="0" i="0" lang="es" sz="1000" u="none" cap="none" strike="noStrike">
                <a:solidFill>
                  <a:schemeClr val="lt2"/>
                </a:solidFill>
                <a:latin typeface="Plus Jakarta Sans"/>
                <a:ea typeface="Plus Jakarta Sans"/>
                <a:cs typeface="Plus Jakarta Sans"/>
                <a:sym typeface="Plus Jakarta Sans"/>
              </a:rPr>
              <a:t>Le devuelve al agente los 3 a 5 más relevantes (el Top-K).</a:t>
            </a:r>
            <a:endParaRPr b="0" i="0" sz="1000" u="none" cap="none" strike="noStrike">
              <a:solidFill>
                <a:schemeClr val="dk1"/>
              </a:solidFill>
              <a:latin typeface="Plus Jakarta Sans"/>
              <a:ea typeface="Plus Jakarta Sans"/>
              <a:cs typeface="Plus Jakarta Sans"/>
              <a:sym typeface="Plus Jakarta Sans"/>
            </a:endParaRPr>
          </a:p>
        </p:txBody>
      </p:sp>
      <p:sp>
        <p:nvSpPr>
          <p:cNvPr id="201" name="Google Shape;201;h4b93c11d3265945c_0_90"/>
          <p:cNvSpPr/>
          <p:nvPr/>
        </p:nvSpPr>
        <p:spPr>
          <a:xfrm>
            <a:off x="6641973" y="3552444"/>
            <a:ext cx="171600" cy="178200"/>
          </a:xfrm>
          <a:prstGeom prst="rightArrow">
            <a:avLst>
              <a:gd fmla="val 50000" name="adj1"/>
              <a:gd fmla="val 50000" name="adj2"/>
            </a:avLst>
          </a:prstGeom>
          <a:solidFill>
            <a:schemeClr val="accent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2" name="Google Shape;202;h4b93c11d3265945c_0_90"/>
          <p:cNvSpPr/>
          <p:nvPr/>
        </p:nvSpPr>
        <p:spPr>
          <a:xfrm>
            <a:off x="6882003" y="3236976"/>
            <a:ext cx="1848300" cy="809400"/>
          </a:xfrm>
          <a:prstGeom prst="roundRect">
            <a:avLst>
              <a:gd fmla="val 10169" name="adj"/>
            </a:avLst>
          </a:prstGeom>
          <a:solidFill>
            <a:schemeClr val="dk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3" name="Google Shape;203;h4b93c11d3265945c_0_90"/>
          <p:cNvSpPr txBox="1"/>
          <p:nvPr/>
        </p:nvSpPr>
        <p:spPr>
          <a:xfrm>
            <a:off x="7019163" y="3236976"/>
            <a:ext cx="1573800" cy="809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2"/>
              </a:buClr>
              <a:buSzPts val="1000"/>
              <a:buFont typeface="Plus Jakarta Sans"/>
              <a:buNone/>
            </a:pPr>
            <a:r>
              <a:rPr b="0" i="0" lang="es" sz="1000" u="none" cap="none" strike="noStrike">
                <a:solidFill>
                  <a:schemeClr val="lt2"/>
                </a:solidFill>
                <a:latin typeface="Plus Jakarta Sans"/>
                <a:ea typeface="Plus Jakarta Sans"/>
                <a:cs typeface="Plus Jakarta Sans"/>
                <a:sym typeface="Plus Jakarta Sans"/>
              </a:rPr>
              <a:t>El agente responde usando solo esos pedacitos.</a:t>
            </a:r>
            <a:endParaRPr b="0" i="0" sz="1000" u="none" cap="none" strike="noStrike">
              <a:solidFill>
                <a:schemeClr val="dk1"/>
              </a:solidFill>
              <a:latin typeface="Plus Jakarta Sans"/>
              <a:ea typeface="Plus Jakarta Sans"/>
              <a:cs typeface="Plus Jakarta Sans"/>
              <a:sym typeface="Plus Jakarta Sans"/>
            </a:endParaRPr>
          </a:p>
        </p:txBody>
      </p:sp>
      <p:sp>
        <p:nvSpPr>
          <p:cNvPr id="204" name="Google Shape;204;h4b93c11d3265945c_0_90"/>
          <p:cNvSpPr/>
          <p:nvPr/>
        </p:nvSpPr>
        <p:spPr>
          <a:xfrm>
            <a:off x="411480" y="4217670"/>
            <a:ext cx="8318700" cy="617100"/>
          </a:xfrm>
          <a:prstGeom prst="roundRect">
            <a:avLst>
              <a:gd fmla="val 13333" name="adj"/>
            </a:avLst>
          </a:prstGeom>
          <a:solidFill>
            <a:schemeClr val="accent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5" name="Google Shape;205;h4b93c11d3265945c_0_90"/>
          <p:cNvSpPr txBox="1"/>
          <p:nvPr/>
        </p:nvSpPr>
        <p:spPr>
          <a:xfrm>
            <a:off x="582930" y="4217670"/>
            <a:ext cx="7975800" cy="61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800"/>
              <a:buFont typeface="Plus Jakarta Sans"/>
              <a:buNone/>
            </a:pPr>
            <a:r>
              <a:rPr b="1" i="0" lang="es" sz="800" u="none" cap="none" strike="noStrike">
                <a:solidFill>
                  <a:schemeClr val="dk1"/>
                </a:solidFill>
                <a:latin typeface="Plus Jakarta Sans"/>
                <a:ea typeface="Plus Jakarta Sans"/>
                <a:cs typeface="Plus Jakarta Sans"/>
                <a:sym typeface="Plus Jakarta Sans"/>
              </a:rPr>
              <a:t>PARA EL PIZARRÓN</a:t>
            </a:r>
            <a:endParaRPr b="0" i="0" sz="800" u="none" cap="none" strike="noStrike">
              <a:solidFill>
                <a:schemeClr val="dk1"/>
              </a:solidFill>
              <a:latin typeface="Plus Jakarta Sans"/>
              <a:ea typeface="Plus Jakarta Sans"/>
              <a:cs typeface="Plus Jakarta Sans"/>
              <a:sym typeface="Plus Jakarta Sans"/>
            </a:endParaRPr>
          </a:p>
          <a:p>
            <a:pPr indent="0" lvl="0" marL="0" marR="0" rtl="0" algn="l">
              <a:spcBef>
                <a:spcPts val="0"/>
              </a:spcBef>
              <a:spcAft>
                <a:spcPts val="0"/>
              </a:spcAft>
              <a:buClr>
                <a:schemeClr val="dk1"/>
              </a:buClr>
              <a:buSzPts val="1200"/>
              <a:buFont typeface="Plus Jakarta Sans"/>
              <a:buNone/>
            </a:pPr>
            <a:r>
              <a:rPr b="1" i="0" lang="es" sz="1200" u="none" cap="none" strike="noStrike">
                <a:solidFill>
                  <a:schemeClr val="dk1"/>
                </a:solidFill>
                <a:latin typeface="Plus Jakarta Sans"/>
                <a:ea typeface="Plus Jakarta Sans"/>
                <a:cs typeface="Plus Jakarta Sans"/>
                <a:sym typeface="Plus Jakarta Sans"/>
              </a:rPr>
              <a:t>“LlamaCloud lee, corta, vectoriza y guarda tus documentos; n8n le pregunta y LlamaCloud le alcanza los párrafos justos.”</a:t>
            </a:r>
            <a:endParaRPr b="0" i="0" sz="800" u="none" cap="none" strike="noStrike">
              <a:solidFill>
                <a:schemeClr val="dk1"/>
              </a:solidFill>
              <a:latin typeface="Plus Jakarta Sans"/>
              <a:ea typeface="Plus Jakarta Sans"/>
              <a:cs typeface="Plus Jakarta Sans"/>
              <a:sym typeface="Plus Jakarta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3"/>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228600" lvl="0" marL="228600" marR="0" rtl="0" algn="l">
              <a:lnSpc>
                <a:spcPct val="112000"/>
              </a:lnSpc>
              <a:spcBef>
                <a:spcPts val="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El problema: </a:t>
            </a:r>
            <a:r>
              <a:rPr b="0" i="0" lang="es" sz="1300" u="none" cap="none" strike="noStrike">
                <a:solidFill>
                  <a:srgbClr val="171717"/>
                </a:solidFill>
                <a:latin typeface="Plus Jakarta Sans Light"/>
                <a:ea typeface="Plus Jakarta Sans Light"/>
                <a:cs typeface="Plus Jakarta Sans Light"/>
                <a:sym typeface="Plus Jakarta Sans Light"/>
              </a:rPr>
              <a:t>un PDF con columnas, tablas y gráficos confunde a la IA si se lee en línea recta.</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LlamaParse: </a:t>
            </a:r>
            <a:r>
              <a:rPr b="0" i="0" lang="es" sz="1300" u="none" cap="none" strike="noStrike">
                <a:solidFill>
                  <a:srgbClr val="171717"/>
                </a:solidFill>
                <a:latin typeface="Plus Jakarta Sans Light"/>
                <a:ea typeface="Plus Jakarta Sans Light"/>
                <a:cs typeface="Plus Jakarta Sans Light"/>
                <a:sym typeface="Plus Jakarta Sans Light"/>
              </a:rPr>
              <a:t>rompe y reestructura el archivo respetando títulos y tablas, sin código.</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52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Formatos: </a:t>
            </a:r>
            <a:r>
              <a:rPr b="0" i="0" lang="es" sz="1300" u="none" cap="none" strike="noStrike">
                <a:solidFill>
                  <a:srgbClr val="171717"/>
                </a:solidFill>
                <a:latin typeface="Plus Jakarta Sans Light"/>
                <a:ea typeface="Plus Jakarta Sans Light"/>
                <a:cs typeface="Plus Jakarta Sans Light"/>
                <a:sym typeface="Plus Jakarta Sans Light"/>
              </a:rPr>
              <a:t>PDF, Word, PPT, Excel, CSV e incluso páginas web por URL.</a:t>
            </a:r>
            <a:endParaRPr b="0" i="0" sz="1300" u="none" cap="none" strike="noStrike">
              <a:solidFill>
                <a:srgbClr val="171717"/>
              </a:solidFill>
              <a:latin typeface="Plus Jakarta Sans Light"/>
              <a:ea typeface="Plus Jakarta Sans Light"/>
              <a:cs typeface="Plus Jakarta Sans Light"/>
              <a:sym typeface="Plus Jakarta Sans Light"/>
            </a:endParaRPr>
          </a:p>
        </p:txBody>
      </p:sp>
      <p:sp>
        <p:nvSpPr>
          <p:cNvPr id="211" name="Google Shape;211;p13"/>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600"/>
              <a:buFont typeface="Arial"/>
              <a:buNone/>
            </a:pPr>
            <a:r>
              <a:rPr b="0" i="0" lang="es" sz="2600" u="none" cap="none" strike="noStrike">
                <a:solidFill>
                  <a:srgbClr val="FF632B"/>
                </a:solidFill>
                <a:latin typeface="Plus Jakarta Sans ExtraBold"/>
                <a:ea typeface="Plus Jakarta Sans ExtraBold"/>
                <a:cs typeface="Plus Jakarta Sans ExtraBold"/>
                <a:sym typeface="Plus Jakarta Sans ExtraBold"/>
              </a:rPr>
              <a:t>LlamaCloud parsea el caos</a:t>
            </a:r>
            <a:endParaRPr b="0" i="0" sz="26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212" name="Google Shape;212;p13"/>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El PDF no es para máquinas</a:t>
            </a:r>
            <a:endParaRPr b="0" i="0" sz="20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4"/>
          <p:cNvSpPr txBox="1"/>
          <p:nvPr/>
        </p:nvSpPr>
        <p:spPr>
          <a:xfrm>
            <a:off x="602400" y="659600"/>
            <a:ext cx="79902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rPr b="0" i="0" lang="es" sz="4800" u="none" cap="none" strike="noStrike">
                <a:solidFill>
                  <a:srgbClr val="FF632B"/>
                </a:solidFill>
                <a:latin typeface="Plus Jakarta Sans ExtraBold"/>
                <a:ea typeface="Plus Jakarta Sans ExtraBold"/>
                <a:cs typeface="Plus Jakarta Sans ExtraBold"/>
                <a:sym typeface="Plus Jakarta Sans ExtraBold"/>
              </a:rPr>
              <a:t>Curar el conocimiento</a:t>
            </a:r>
            <a:endParaRPr b="0" i="0" sz="2400" u="none" cap="none" strike="noStrike">
              <a:solidFill>
                <a:srgbClr val="260700"/>
              </a:solidFill>
              <a:latin typeface="Plus Jakarta Sans"/>
              <a:ea typeface="Plus Jakarta Sans"/>
              <a:cs typeface="Plus Jakarta Sans"/>
              <a:sym typeface="Plus Jakarta Sans"/>
            </a:endParaRPr>
          </a:p>
        </p:txBody>
      </p:sp>
      <p:sp>
        <p:nvSpPr>
          <p:cNvPr id="218" name="Google Shape;218;p14"/>
          <p:cNvSpPr/>
          <p:nvPr/>
        </p:nvSpPr>
        <p:spPr>
          <a:xfrm>
            <a:off x="667475"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2000"/>
              </a:lnSpc>
              <a:spcBef>
                <a:spcPts val="0"/>
              </a:spcBef>
              <a:spcAft>
                <a:spcPts val="0"/>
              </a:spcAft>
              <a:buClr>
                <a:srgbClr val="000000"/>
              </a:buClr>
              <a:buSzPts val="1500"/>
              <a:buFont typeface="Arial"/>
              <a:buNone/>
            </a:pPr>
            <a:r>
              <a:rPr b="0" i="0" lang="es" sz="1500" u="none" cap="none" strike="noStrike">
                <a:solidFill>
                  <a:srgbClr val="171717"/>
                </a:solidFill>
                <a:latin typeface="Plus Jakarta Sans ExtraBold"/>
                <a:ea typeface="Plus Jakarta Sans ExtraBold"/>
                <a:cs typeface="Plus Jakarta Sans ExtraBold"/>
                <a:sym typeface="Plus Jakarta Sans ExtraBold"/>
              </a:rPr>
              <a:t>Relevancia</a:t>
            </a:r>
            <a:endParaRPr b="0" i="0" sz="1500" u="none" cap="none" strike="noStrike">
              <a:solidFill>
                <a:srgbClr val="171717"/>
              </a:solidFill>
              <a:latin typeface="Plus Jakarta Sans Light"/>
              <a:ea typeface="Plus Jakarta Sans Light"/>
              <a:cs typeface="Plus Jakarta Sans Light"/>
              <a:sym typeface="Plus Jakarta Sans Light"/>
            </a:endParaRPr>
          </a:p>
          <a:p>
            <a:pPr indent="0" lvl="0" marL="0" marR="0" rtl="0" algn="ctr">
              <a:lnSpc>
                <a:spcPct val="112000"/>
              </a:lnSpc>
              <a:spcBef>
                <a:spcPts val="300"/>
              </a:spcBef>
              <a:spcAft>
                <a:spcPts val="0"/>
              </a:spcAft>
              <a:buClr>
                <a:srgbClr val="000000"/>
              </a:buClr>
              <a:buSzPts val="1200"/>
              <a:buFont typeface="Arial"/>
              <a:buNone/>
            </a:pPr>
            <a:r>
              <a:rPr b="0" i="0" lang="es" sz="1200" u="none" cap="none" strike="noStrike">
                <a:solidFill>
                  <a:srgbClr val="171717"/>
                </a:solidFill>
                <a:latin typeface="Plus Jakarta Sans Light"/>
                <a:ea typeface="Plus Jakarta Sans Light"/>
                <a:cs typeface="Plus Jakarta Sans Light"/>
                <a:sym typeface="Plus Jakarta Sans Light"/>
              </a:rPr>
              <a:t>El doc responde a lo que el usuario pregunta. Nada de historia de la empresa en soporte.</a:t>
            </a:r>
            <a:endParaRPr b="0" i="0" sz="1200" u="none" cap="none" strike="noStrike">
              <a:solidFill>
                <a:srgbClr val="171717"/>
              </a:solidFill>
              <a:latin typeface="Plus Jakarta Sans Light"/>
              <a:ea typeface="Plus Jakarta Sans Light"/>
              <a:cs typeface="Plus Jakarta Sans Light"/>
              <a:sym typeface="Plus Jakarta Sans Light"/>
            </a:endParaRPr>
          </a:p>
        </p:txBody>
      </p:sp>
      <p:sp>
        <p:nvSpPr>
          <p:cNvPr id="219" name="Google Shape;219;p14"/>
          <p:cNvSpPr/>
          <p:nvPr/>
        </p:nvSpPr>
        <p:spPr>
          <a:xfrm>
            <a:off x="4766370"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2000"/>
              </a:lnSpc>
              <a:spcBef>
                <a:spcPts val="0"/>
              </a:spcBef>
              <a:spcAft>
                <a:spcPts val="0"/>
              </a:spcAft>
              <a:buClr>
                <a:srgbClr val="000000"/>
              </a:buClr>
              <a:buSzPts val="1500"/>
              <a:buFont typeface="Arial"/>
              <a:buNone/>
            </a:pPr>
            <a:r>
              <a:rPr b="0" i="0" lang="es" sz="1500" u="none" cap="none" strike="noStrike">
                <a:solidFill>
                  <a:srgbClr val="171717"/>
                </a:solidFill>
                <a:latin typeface="Plus Jakarta Sans ExtraBold"/>
                <a:ea typeface="Plus Jakarta Sans ExtraBold"/>
                <a:cs typeface="Plus Jakarta Sans ExtraBold"/>
                <a:sym typeface="Plus Jakarta Sans ExtraBold"/>
              </a:rPr>
              <a:t>Vigencia</a:t>
            </a:r>
            <a:endParaRPr b="0" i="0" sz="1500" u="none" cap="none" strike="noStrike">
              <a:solidFill>
                <a:srgbClr val="171717"/>
              </a:solidFill>
              <a:latin typeface="Plus Jakarta Sans Light"/>
              <a:ea typeface="Plus Jakarta Sans Light"/>
              <a:cs typeface="Plus Jakarta Sans Light"/>
              <a:sym typeface="Plus Jakarta Sans Light"/>
            </a:endParaRPr>
          </a:p>
          <a:p>
            <a:pPr indent="0" lvl="0" marL="0" marR="0" rtl="0" algn="ctr">
              <a:lnSpc>
                <a:spcPct val="112000"/>
              </a:lnSpc>
              <a:spcBef>
                <a:spcPts val="300"/>
              </a:spcBef>
              <a:spcAft>
                <a:spcPts val="0"/>
              </a:spcAft>
              <a:buClr>
                <a:srgbClr val="000000"/>
              </a:buClr>
              <a:buSzPts val="1200"/>
              <a:buFont typeface="Arial"/>
              <a:buNone/>
            </a:pPr>
            <a:r>
              <a:rPr b="0" i="0" lang="es" sz="1200" u="none" cap="none" strike="noStrike">
                <a:solidFill>
                  <a:srgbClr val="171717"/>
                </a:solidFill>
                <a:latin typeface="Plus Jakarta Sans Light"/>
                <a:ea typeface="Plus Jakarta Sans Light"/>
                <a:cs typeface="Plus Jakarta Sans Light"/>
                <a:sym typeface="Plus Jakarta Sans Light"/>
              </a:rPr>
              <a:t>Solo la última versión. Los borradores viejos generan contradicciones.</a:t>
            </a:r>
            <a:endParaRPr b="0" i="0" sz="1200" u="none" cap="none" strike="noStrike">
              <a:solidFill>
                <a:srgbClr val="171717"/>
              </a:solidFill>
              <a:latin typeface="Plus Jakarta Sans Light"/>
              <a:ea typeface="Plus Jakarta Sans Light"/>
              <a:cs typeface="Plus Jakarta Sans Light"/>
              <a:sym typeface="Plus Jakarta Sans Light"/>
            </a:endParaRPr>
          </a:p>
        </p:txBody>
      </p:sp>
      <p:sp>
        <p:nvSpPr>
          <p:cNvPr id="220" name="Google Shape;220;p14"/>
          <p:cNvSpPr/>
          <p:nvPr/>
        </p:nvSpPr>
        <p:spPr>
          <a:xfrm>
            <a:off x="667475" y="3866726"/>
            <a:ext cx="8041200" cy="840300"/>
          </a:xfrm>
          <a:prstGeom prst="roundRect">
            <a:avLst>
              <a:gd fmla="val 30840"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2000"/>
              </a:lnSpc>
              <a:spcBef>
                <a:spcPts val="0"/>
              </a:spcBef>
              <a:spcAft>
                <a:spcPts val="0"/>
              </a:spcAft>
              <a:buClr>
                <a:srgbClr val="000000"/>
              </a:buClr>
              <a:buSzPts val="1500"/>
              <a:buFont typeface="Arial"/>
              <a:buNone/>
            </a:pPr>
            <a:r>
              <a:rPr b="0" i="0" lang="es" sz="1500" u="none" cap="none" strike="noStrike">
                <a:solidFill>
                  <a:srgbClr val="171717"/>
                </a:solidFill>
                <a:latin typeface="Plus Jakarta Sans ExtraBold"/>
                <a:ea typeface="Plus Jakarta Sans ExtraBold"/>
                <a:cs typeface="Plus Jakarta Sans ExtraBold"/>
                <a:sym typeface="Plus Jakarta Sans ExtraBold"/>
              </a:rPr>
              <a:t>Formato</a:t>
            </a:r>
            <a:endParaRPr b="0" i="0" sz="1500" u="none" cap="none" strike="noStrike">
              <a:solidFill>
                <a:srgbClr val="171717"/>
              </a:solidFill>
              <a:latin typeface="Plus Jakarta Sans Light"/>
              <a:ea typeface="Plus Jakarta Sans Light"/>
              <a:cs typeface="Plus Jakarta Sans Light"/>
              <a:sym typeface="Plus Jakarta Sans Light"/>
            </a:endParaRPr>
          </a:p>
          <a:p>
            <a:pPr indent="0" lvl="0" marL="0" marR="0" rtl="0" algn="ctr">
              <a:lnSpc>
                <a:spcPct val="112000"/>
              </a:lnSpc>
              <a:spcBef>
                <a:spcPts val="300"/>
              </a:spcBef>
              <a:spcAft>
                <a:spcPts val="0"/>
              </a:spcAft>
              <a:buClr>
                <a:srgbClr val="000000"/>
              </a:buClr>
              <a:buSzPts val="1200"/>
              <a:buFont typeface="Arial"/>
              <a:buNone/>
            </a:pPr>
            <a:r>
              <a:rPr b="0" i="0" lang="es" sz="1200" u="none" cap="none" strike="noStrike">
                <a:solidFill>
                  <a:srgbClr val="171717"/>
                </a:solidFill>
                <a:latin typeface="Plus Jakarta Sans Light"/>
                <a:ea typeface="Plus Jakarta Sans Light"/>
                <a:cs typeface="Plus Jakarta Sans Light"/>
                <a:sym typeface="Plus Jakarta Sans Light"/>
              </a:rPr>
              <a:t>Texto limpio y seleccionable. Nada de escaneos torcidos ni tablas rotas.</a:t>
            </a:r>
            <a:endParaRPr b="0" i="0" sz="1200" u="none" cap="none" strike="noStrike">
              <a:solidFill>
                <a:srgbClr val="171717"/>
              </a:solidFill>
              <a:latin typeface="Plus Jakarta Sans Light"/>
              <a:ea typeface="Plus Jakarta Sans Light"/>
              <a:cs typeface="Plus Jakarta Sans Light"/>
              <a:sym typeface="Plus Jakarta Sans 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5"/>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228600" lvl="0" marL="228600" marR="0" rtl="0" algn="l">
              <a:lnSpc>
                <a:spcPct val="112000"/>
              </a:lnSpc>
              <a:spcBef>
                <a:spcPts val="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Qué es: </a:t>
            </a:r>
            <a:r>
              <a:rPr b="0" i="0" lang="es" sz="1300" u="none" cap="none" strike="noStrike">
                <a:solidFill>
                  <a:srgbClr val="171717"/>
                </a:solidFill>
                <a:latin typeface="Plus Jakarta Sans Light"/>
                <a:ea typeface="Plus Jakarta Sans Light"/>
                <a:cs typeface="Plus Jakarta Sans Light"/>
                <a:sym typeface="Plus Jakarta Sans Light"/>
              </a:rPr>
              <a:t>LlamaCloud corta el texto en bloques lógicos de 100 a 200 palabras.</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Por qué: </a:t>
            </a:r>
            <a:r>
              <a:rPr b="0" i="0" lang="es" sz="1300" u="none" cap="none" strike="noStrike">
                <a:solidFill>
                  <a:srgbClr val="171717"/>
                </a:solidFill>
                <a:latin typeface="Plus Jakarta Sans Light"/>
                <a:ea typeface="Plus Jakarta Sans Light"/>
                <a:cs typeface="Plus Jakarta Sans Light"/>
                <a:sym typeface="Plus Jakarta Sans Light"/>
              </a:rPr>
              <a:t>el agente no lee 200 páginas por pregunta; recupera solo los 2-3 fragmentos exactos.</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52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La clave: </a:t>
            </a:r>
            <a:r>
              <a:rPr b="0" i="0" lang="es" sz="1300" u="none" cap="none" strike="noStrike">
                <a:solidFill>
                  <a:srgbClr val="171717"/>
                </a:solidFill>
                <a:latin typeface="Plus Jakarta Sans Light"/>
                <a:ea typeface="Plus Jakarta Sans Light"/>
                <a:cs typeface="Plus Jakarta Sans Light"/>
                <a:sym typeface="Plus Jakarta Sans Light"/>
              </a:rPr>
              <a:t>si el corte respeta el sentido, la respuesta es impecable; si corta a la mitad, falla.</a:t>
            </a:r>
            <a:endParaRPr b="0" i="0" sz="1300" u="none" cap="none" strike="noStrike">
              <a:solidFill>
                <a:srgbClr val="171717"/>
              </a:solidFill>
              <a:latin typeface="Plus Jakarta Sans Light"/>
              <a:ea typeface="Plus Jakarta Sans Light"/>
              <a:cs typeface="Plus Jakarta Sans Light"/>
              <a:sym typeface="Plus Jakarta Sans Light"/>
            </a:endParaRPr>
          </a:p>
        </p:txBody>
      </p:sp>
      <p:sp>
        <p:nvSpPr>
          <p:cNvPr id="226" name="Google Shape;226;p15"/>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600"/>
              <a:buFont typeface="Arial"/>
              <a:buNone/>
            </a:pPr>
            <a:r>
              <a:rPr b="0" i="0" lang="es" sz="2600" u="none" cap="none" strike="noStrike">
                <a:solidFill>
                  <a:srgbClr val="FF632B"/>
                </a:solidFill>
                <a:latin typeface="Plus Jakarta Sans ExtraBold"/>
                <a:ea typeface="Plus Jakarta Sans ExtraBold"/>
                <a:cs typeface="Plus Jakarta Sans ExtraBold"/>
                <a:sym typeface="Plus Jakarta Sans ExtraBold"/>
              </a:rPr>
              <a:t>Chunking: el corte que importa</a:t>
            </a:r>
            <a:endParaRPr b="0" i="0" sz="26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227" name="Google Shape;227;p15"/>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Fragmentar sin romper el sentido</a:t>
            </a:r>
            <a:endParaRPr b="0" i="0" sz="20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16"/>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304800" lvl="0" marL="342900" marR="0" rtl="0" algn="l">
              <a:lnSpc>
                <a:spcPct val="112000"/>
              </a:lnSpc>
              <a:spcBef>
                <a:spcPts val="0"/>
              </a:spcBef>
              <a:spcAft>
                <a:spcPts val="0"/>
              </a:spcAft>
              <a:buClr>
                <a:srgbClr val="FF632B"/>
              </a:buClr>
              <a:buSzPts val="1300"/>
              <a:buFont typeface="Plus Jakarta Sans"/>
              <a:buAutoNum type="arabicPeriod"/>
            </a:pPr>
            <a:r>
              <a:rPr b="0" i="0" lang="es" sz="1300" u="none" cap="none" strike="noStrike">
                <a:solidFill>
                  <a:srgbClr val="171717"/>
                </a:solidFill>
                <a:latin typeface="Plus Jakarta Sans Light"/>
                <a:ea typeface="Plus Jakarta Sans Light"/>
                <a:cs typeface="Plus Jakarta Sans Light"/>
                <a:sym typeface="Plus Jakarta Sans Light"/>
              </a:rPr>
              <a:t>Usá el nodo AI Agent en modo Tools Agent.</a:t>
            </a:r>
            <a:endParaRPr b="0" i="0" sz="1300" u="none" cap="none" strike="noStrike">
              <a:solidFill>
                <a:srgbClr val="171717"/>
              </a:solidFill>
              <a:latin typeface="Plus Jakarta Sans Light"/>
              <a:ea typeface="Plus Jakarta Sans Light"/>
              <a:cs typeface="Plus Jakarta Sans Light"/>
              <a:sym typeface="Plus Jakarta Sans Light"/>
            </a:endParaRPr>
          </a:p>
          <a:p>
            <a:pPr indent="-304800" lvl="0" marL="342900" marR="0" rtl="0" algn="l">
              <a:lnSpc>
                <a:spcPct val="112000"/>
              </a:lnSpc>
              <a:spcBef>
                <a:spcPts val="420"/>
              </a:spcBef>
              <a:spcAft>
                <a:spcPts val="0"/>
              </a:spcAft>
              <a:buClr>
                <a:srgbClr val="FF632B"/>
              </a:buClr>
              <a:buSzPts val="1300"/>
              <a:buFont typeface="Plus Jakarta Sans"/>
              <a:buAutoNum type="arabicPeriod"/>
            </a:pPr>
            <a:r>
              <a:rPr b="0" i="0" lang="es" sz="1300" u="none" cap="none" strike="noStrike">
                <a:solidFill>
                  <a:srgbClr val="171717"/>
                </a:solidFill>
                <a:latin typeface="Plus Jakarta Sans Light"/>
                <a:ea typeface="Plus Jakarta Sans Light"/>
                <a:cs typeface="Plus Jakarta Sans Light"/>
                <a:sym typeface="Plus Jakarta Sans Light"/>
              </a:rPr>
              <a:t>Acoplá el Vector Store Retrieve Tool en la sección de herramientas.</a:t>
            </a:r>
            <a:endParaRPr b="0" i="0" sz="1300" u="none" cap="none" strike="noStrike">
              <a:solidFill>
                <a:srgbClr val="171717"/>
              </a:solidFill>
              <a:latin typeface="Plus Jakarta Sans Light"/>
              <a:ea typeface="Plus Jakarta Sans Light"/>
              <a:cs typeface="Plus Jakarta Sans Light"/>
              <a:sym typeface="Plus Jakarta Sans Light"/>
            </a:endParaRPr>
          </a:p>
          <a:p>
            <a:pPr indent="-304800" lvl="0" marL="342900" marR="0" rtl="0" algn="l">
              <a:lnSpc>
                <a:spcPct val="112000"/>
              </a:lnSpc>
              <a:spcBef>
                <a:spcPts val="420"/>
              </a:spcBef>
              <a:spcAft>
                <a:spcPts val="0"/>
              </a:spcAft>
              <a:buClr>
                <a:srgbClr val="FF632B"/>
              </a:buClr>
              <a:buSzPts val="1300"/>
              <a:buFont typeface="Plus Jakarta Sans"/>
              <a:buAutoNum type="arabicPeriod"/>
            </a:pPr>
            <a:r>
              <a:rPr b="0" i="0" lang="es" sz="1300" u="none" cap="none" strike="noStrike">
                <a:solidFill>
                  <a:srgbClr val="171717"/>
                </a:solidFill>
                <a:latin typeface="Plus Jakarta Sans Light"/>
                <a:ea typeface="Plus Jakarta Sans Light"/>
                <a:cs typeface="Plus Jakarta Sans Light"/>
                <a:sym typeface="Plus Jakarta Sans Light"/>
              </a:rPr>
              <a:t>Cargá la credencial pre-configurada de la academia.</a:t>
            </a:r>
            <a:endParaRPr b="0" i="0" sz="1300" u="none" cap="none" strike="noStrike">
              <a:solidFill>
                <a:srgbClr val="171717"/>
              </a:solidFill>
              <a:latin typeface="Plus Jakarta Sans Light"/>
              <a:ea typeface="Plus Jakarta Sans Light"/>
              <a:cs typeface="Plus Jakarta Sans Light"/>
              <a:sym typeface="Plus Jakarta Sans Light"/>
            </a:endParaRPr>
          </a:p>
          <a:p>
            <a:pPr indent="-304800" lvl="0" marL="342900" marR="0" rtl="0" algn="l">
              <a:lnSpc>
                <a:spcPct val="112000"/>
              </a:lnSpc>
              <a:spcBef>
                <a:spcPts val="420"/>
              </a:spcBef>
              <a:spcAft>
                <a:spcPts val="420"/>
              </a:spcAft>
              <a:buClr>
                <a:srgbClr val="FF632B"/>
              </a:buClr>
              <a:buSzPts val="1300"/>
              <a:buFont typeface="Plus Jakarta Sans"/>
              <a:buAutoNum type="arabicPeriod"/>
            </a:pPr>
            <a:r>
              <a:rPr b="0" i="0" lang="es" sz="1300" u="none" cap="none" strike="noStrike">
                <a:solidFill>
                  <a:srgbClr val="171717"/>
                </a:solidFill>
                <a:latin typeface="Plus Jakarta Sans Light"/>
                <a:ea typeface="Plus Jakarta Sans Light"/>
                <a:cs typeface="Plus Jakarta Sans Light"/>
                <a:sym typeface="Plus Jakarta Sans Light"/>
              </a:rPr>
              <a:t>Ponele un nombre y una descripción semántica de cuándo usarla.</a:t>
            </a:r>
            <a:endParaRPr b="0" i="0" sz="1300" u="none" cap="none" strike="noStrike">
              <a:solidFill>
                <a:srgbClr val="171717"/>
              </a:solidFill>
              <a:latin typeface="Plus Jakarta Sans Light"/>
              <a:ea typeface="Plus Jakarta Sans Light"/>
              <a:cs typeface="Plus Jakarta Sans Light"/>
              <a:sym typeface="Plus Jakarta Sans Light"/>
            </a:endParaRPr>
          </a:p>
        </p:txBody>
      </p:sp>
      <p:sp>
        <p:nvSpPr>
          <p:cNvPr id="233" name="Google Shape;233;p16"/>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600"/>
              <a:buFont typeface="Arial"/>
              <a:buNone/>
            </a:pPr>
            <a:r>
              <a:rPr b="0" i="0" lang="es" sz="2600" u="none" cap="none" strike="noStrike">
                <a:solidFill>
                  <a:srgbClr val="FF632B"/>
                </a:solidFill>
                <a:latin typeface="Plus Jakarta Sans ExtraBold"/>
                <a:ea typeface="Plus Jakarta Sans ExtraBold"/>
                <a:cs typeface="Plus Jakarta Sans ExtraBold"/>
                <a:sym typeface="Plus Jakarta Sans ExtraBold"/>
              </a:rPr>
              <a:t>Conectar la base al agente</a:t>
            </a:r>
            <a:endParaRPr b="0" i="0" sz="26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234" name="Google Shape;234;p16"/>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El Vector Store Retrieve Tool</a:t>
            </a:r>
            <a:endParaRPr b="0" i="0" sz="20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17"/>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228600" lvl="0" marL="228600" marR="0" rtl="0" algn="l">
              <a:lnSpc>
                <a:spcPct val="112000"/>
              </a:lnSpc>
              <a:spcBef>
                <a:spcPts val="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Top-K: </a:t>
            </a:r>
            <a:r>
              <a:rPr b="0" i="0" lang="es" sz="1300" u="none" cap="none" strike="noStrike">
                <a:solidFill>
                  <a:srgbClr val="171717"/>
                </a:solidFill>
                <a:latin typeface="Plus Jakarta Sans Light"/>
                <a:ea typeface="Plus Jakarta Sans Light"/>
                <a:cs typeface="Plus Jakarta Sans Light"/>
                <a:sym typeface="Plus Jakarta Sans Light"/>
              </a:rPr>
              <a:t>cuántos fragmentos trae por pregunta. Arrancá entre 3 y 5.</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Muy bajo (1): </a:t>
            </a:r>
            <a:r>
              <a:rPr b="0" i="0" lang="es" sz="1300" u="none" cap="none" strike="noStrike">
                <a:solidFill>
                  <a:srgbClr val="171717"/>
                </a:solidFill>
                <a:latin typeface="Plus Jakarta Sans Light"/>
                <a:ea typeface="Plus Jakarta Sans Light"/>
                <a:cs typeface="Plus Jakarta Sans Light"/>
                <a:sym typeface="Plus Jakarta Sans Light"/>
              </a:rPr>
              <a:t>respuesta incompleta. Muy alto (15): texto redundante y más costo.</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Minimum Score: </a:t>
            </a:r>
            <a:r>
              <a:rPr b="0" i="0" lang="es" sz="1300" u="none" cap="none" strike="noStrike">
                <a:solidFill>
                  <a:srgbClr val="171717"/>
                </a:solidFill>
                <a:latin typeface="Plus Jakarta Sans Light"/>
                <a:ea typeface="Plus Jakarta Sans Light"/>
                <a:cs typeface="Plus Jakarta Sans Light"/>
                <a:sym typeface="Plus Jakarta Sans Light"/>
              </a:rPr>
              <a:t>cuán parecida debe ser la consulta al fragmento para inyectarlo.</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52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El umbral: </a:t>
            </a:r>
            <a:r>
              <a:rPr b="0" i="0" lang="es" sz="1300" u="none" cap="none" strike="noStrike">
                <a:solidFill>
                  <a:srgbClr val="171717"/>
                </a:solidFill>
                <a:latin typeface="Plus Jakarta Sans Light"/>
                <a:ea typeface="Plus Jakarta Sans Light"/>
                <a:cs typeface="Plus Jakarta Sans Light"/>
                <a:sym typeface="Plus Jakarta Sans Light"/>
              </a:rPr>
              <a:t>intermedio, para ignorar ruido pero captar sinónimos y lenguaje informal.</a:t>
            </a:r>
            <a:endParaRPr b="0" i="0" sz="1300" u="none" cap="none" strike="noStrike">
              <a:solidFill>
                <a:srgbClr val="171717"/>
              </a:solidFill>
              <a:latin typeface="Plus Jakarta Sans Light"/>
              <a:ea typeface="Plus Jakarta Sans Light"/>
              <a:cs typeface="Plus Jakarta Sans Light"/>
              <a:sym typeface="Plus Jakarta Sans Light"/>
            </a:endParaRPr>
          </a:p>
        </p:txBody>
      </p:sp>
      <p:sp>
        <p:nvSpPr>
          <p:cNvPr id="240" name="Google Shape;240;p17"/>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s" sz="3200" u="none" cap="none" strike="noStrike">
                <a:solidFill>
                  <a:srgbClr val="FF632B"/>
                </a:solidFill>
                <a:latin typeface="Plus Jakarta Sans ExtraBold"/>
                <a:ea typeface="Plus Jakarta Sans ExtraBold"/>
                <a:cs typeface="Plus Jakarta Sans ExtraBold"/>
                <a:sym typeface="Plus Jakarta Sans ExtraBold"/>
              </a:rPr>
              <a:t>Top-K y Minimum Score</a:t>
            </a:r>
            <a:endParaRPr b="0" i="0" sz="32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241" name="Google Shape;241;p17"/>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Las dos palancas del asesor</a:t>
            </a:r>
            <a:endParaRPr b="0" i="0" sz="20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18"/>
          <p:cNvSpPr/>
          <p:nvPr/>
        </p:nvSpPr>
        <p:spPr>
          <a:xfrm>
            <a:off x="0" y="0"/>
            <a:ext cx="9144000" cy="1950900"/>
          </a:xfrm>
          <a:prstGeom prst="rect">
            <a:avLst/>
          </a:prstGeom>
          <a:solidFill>
            <a:srgbClr val="FDAB2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18"/>
          <p:cNvSpPr txBox="1"/>
          <p:nvPr/>
        </p:nvSpPr>
        <p:spPr>
          <a:xfrm>
            <a:off x="600250" y="656475"/>
            <a:ext cx="8220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Momentos de la Clase:</a:t>
            </a:r>
            <a:endParaRPr b="0" i="0" sz="5000" u="none" cap="none" strike="noStrike">
              <a:solidFill>
                <a:srgbClr val="F8F2E8"/>
              </a:solidFill>
              <a:latin typeface="Plus Jakarta Sans"/>
              <a:ea typeface="Plus Jakarta Sans"/>
              <a:cs typeface="Plus Jakarta Sans"/>
              <a:sym typeface="Plus Jakarta Sans"/>
            </a:endParaRPr>
          </a:p>
        </p:txBody>
      </p:sp>
      <p:sp>
        <p:nvSpPr>
          <p:cNvPr id="248" name="Google Shape;248;p18"/>
          <p:cNvSpPr txBox="1"/>
          <p:nvPr/>
        </p:nvSpPr>
        <p:spPr>
          <a:xfrm>
            <a:off x="730900" y="2015917"/>
            <a:ext cx="8220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Para recordar</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260700"/>
                </a:solidFill>
                <a:latin typeface="Plus Jakarta Sans ExtraBold"/>
                <a:ea typeface="Plus Jakarta Sans ExtraBold"/>
                <a:cs typeface="Plus Jakarta Sans ExtraBold"/>
                <a:sym typeface="Plus Jakarta Sans ExtraBold"/>
              </a:rPr>
              <a:t>Coder Tips</a:t>
            </a:r>
            <a:endParaRPr b="0" i="0" sz="5000" u="none" cap="none" strike="noStrike">
              <a:solidFill>
                <a:srgbClr val="260700"/>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Material ampliado</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Cuestionario de tarea</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#FindTheBug</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p:txBody>
      </p:sp>
      <p:sp>
        <p:nvSpPr>
          <p:cNvPr id="249" name="Google Shape;249;p18"/>
          <p:cNvSpPr txBox="1"/>
          <p:nvPr/>
        </p:nvSpPr>
        <p:spPr>
          <a:xfrm>
            <a:off x="6363575" y="2481425"/>
            <a:ext cx="21912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2000"/>
              </a:lnSpc>
              <a:spcBef>
                <a:spcPts val="0"/>
              </a:spcBef>
              <a:spcAft>
                <a:spcPts val="0"/>
              </a:spcAft>
              <a:buClr>
                <a:srgbClr val="000000"/>
              </a:buClr>
              <a:buSzPts val="1200"/>
              <a:buFont typeface="Arial"/>
              <a:buNone/>
            </a:pPr>
            <a:r>
              <a:rPr b="0" i="0" lang="es" sz="1200" u="none" cap="none" strike="noStrike">
                <a:solidFill>
                  <a:srgbClr val="171717"/>
                </a:solidFill>
                <a:latin typeface="Plus Jakarta Sans Light"/>
                <a:ea typeface="Plus Jakarta Sans Light"/>
                <a:cs typeface="Plus Jakarta Sans Light"/>
                <a:sym typeface="Plus Jakarta Sans Light"/>
              </a:rPr>
              <a:t>Para saber si el RAG funciona, mirá el panel de ejecución. Éxito: el flujo se desvía al Vector Store, trae los fragmentos en verde y vuelve. Alerta: si el nodo queda gris y el agente responde directo, tu descripción o credencial está fallando.</a:t>
            </a:r>
            <a:endParaRPr b="0" i="0" sz="1200" u="none" cap="none" strike="noStrike">
              <a:solidFill>
                <a:srgbClr val="171717"/>
              </a:solidFill>
              <a:latin typeface="Plus Jakarta Sans Light"/>
              <a:ea typeface="Plus Jakarta Sans Light"/>
              <a:cs typeface="Plus Jakarta Sans Light"/>
              <a:sym typeface="Plus Jakarta Sans 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19"/>
          <p:cNvSpPr txBox="1"/>
          <p:nvPr/>
        </p:nvSpPr>
        <p:spPr>
          <a:xfrm>
            <a:off x="6180025" y="314075"/>
            <a:ext cx="2630700" cy="171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0"/>
              <a:buFont typeface="Arial"/>
              <a:buNone/>
            </a:pPr>
            <a:r>
              <a:rPr b="0" i="0" lang="es" sz="13000" u="none" cap="none" strike="noStrike">
                <a:solidFill>
                  <a:srgbClr val="FF632B"/>
                </a:solidFill>
                <a:latin typeface="Plus Jakarta Sans ExtraBold"/>
                <a:ea typeface="Plus Jakarta Sans ExtraBold"/>
                <a:cs typeface="Plus Jakarta Sans ExtraBold"/>
                <a:sym typeface="Plus Jakarta Sans ExtraBold"/>
              </a:rPr>
              <a:t>03</a:t>
            </a:r>
            <a:endParaRPr b="0" i="0" sz="13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255" name="Google Shape;255;p19"/>
          <p:cNvSpPr txBox="1"/>
          <p:nvPr/>
        </p:nvSpPr>
        <p:spPr>
          <a:xfrm>
            <a:off x="641650" y="3337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0" i="0" lang="es" sz="2800" u="none" cap="none" strike="noStrike">
                <a:solidFill>
                  <a:srgbClr val="F8F2E8"/>
                </a:solidFill>
                <a:latin typeface="Plus Jakarta Sans ExtraBold"/>
                <a:ea typeface="Plus Jakarta Sans ExtraBold"/>
                <a:cs typeface="Plus Jakarta Sans ExtraBold"/>
                <a:sym typeface="Plus Jakarta Sans ExtraBold"/>
              </a:rPr>
              <a:t>Gobernanza del conocimiento</a:t>
            </a:r>
            <a:endParaRPr b="0" i="0" sz="28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0"/>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228600" lvl="0" marL="228600" marR="0" rtl="0" algn="l">
              <a:lnSpc>
                <a:spcPct val="112000"/>
              </a:lnSpc>
              <a:spcBef>
                <a:spcPts val="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Cuándo buscar: </a:t>
            </a:r>
            <a:r>
              <a:rPr b="0" i="0" lang="es" sz="1300" u="none" cap="none" strike="noStrike">
                <a:solidFill>
                  <a:srgbClr val="171717"/>
                </a:solidFill>
                <a:latin typeface="Plus Jakarta Sans Light"/>
                <a:ea typeface="Plus Jakarta Sans Light"/>
                <a:cs typeface="Plus Jakarta Sans Light"/>
                <a:sym typeface="Plus Jakarta Sans Light"/>
              </a:rPr>
              <a:t>ante cualquier término ligado a los manuales, activá la herramienta.</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Cuándo no: </a:t>
            </a:r>
            <a:r>
              <a:rPr b="0" i="0" lang="es" sz="1300" u="none" cap="none" strike="noStrike">
                <a:solidFill>
                  <a:srgbClr val="171717"/>
                </a:solidFill>
                <a:latin typeface="Plus Jakarta Sans Light"/>
                <a:ea typeface="Plus Jakarta Sans Light"/>
                <a:cs typeface="Plus Jakarta Sans Light"/>
                <a:sym typeface="Plus Jakarta Sans Light"/>
              </a:rPr>
              <a:t>saludos y cortesía se responden solos, sin consulta lenta al vector store.</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52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La regla dorada: </a:t>
            </a:r>
            <a:r>
              <a:rPr b="0" i="0" lang="es" sz="1300" u="none" cap="none" strike="noStrike">
                <a:solidFill>
                  <a:srgbClr val="171717"/>
                </a:solidFill>
                <a:latin typeface="Plus Jakarta Sans Light"/>
                <a:ea typeface="Plus Jakarta Sans Light"/>
                <a:cs typeface="Plus Jakarta Sans Light"/>
                <a:sym typeface="Plus Jakarta Sans Light"/>
              </a:rPr>
              <a:t>si el dato no está en los fragmentos, respondé 'No cuento con ese dato'.</a:t>
            </a:r>
            <a:endParaRPr b="0" i="0" sz="1300" u="none" cap="none" strike="noStrike">
              <a:solidFill>
                <a:srgbClr val="171717"/>
              </a:solidFill>
              <a:latin typeface="Plus Jakarta Sans Light"/>
              <a:ea typeface="Plus Jakarta Sans Light"/>
              <a:cs typeface="Plus Jakarta Sans Light"/>
              <a:sym typeface="Plus Jakarta Sans Light"/>
            </a:endParaRPr>
          </a:p>
        </p:txBody>
      </p:sp>
      <p:sp>
        <p:nvSpPr>
          <p:cNvPr id="261" name="Google Shape;261;p20"/>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s" sz="3200" u="none" cap="none" strike="noStrike">
                <a:solidFill>
                  <a:srgbClr val="FF632B"/>
                </a:solidFill>
                <a:latin typeface="Plus Jakarta Sans ExtraBold"/>
                <a:ea typeface="Plus Jakarta Sans ExtraBold"/>
                <a:cs typeface="Plus Jakarta Sans ExtraBold"/>
                <a:sym typeface="Plus Jakarta Sans ExtraBold"/>
              </a:rPr>
              <a:t>El System Prompt RAG</a:t>
            </a:r>
            <a:endParaRPr b="0" i="0" sz="32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262" name="Google Shape;262;p20"/>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Un embudo de contención</a:t>
            </a:r>
            <a:endParaRPr b="0" i="0" sz="20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21"/>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228600" lvl="0" marL="228600" marR="0" rtl="0" algn="l">
              <a:lnSpc>
                <a:spcPct val="112000"/>
              </a:lnSpc>
              <a:spcBef>
                <a:spcPts val="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Por qué: </a:t>
            </a:r>
            <a:r>
              <a:rPr b="0" i="0" lang="es" sz="1300" u="none" cap="none" strike="noStrike">
                <a:solidFill>
                  <a:srgbClr val="171717"/>
                </a:solidFill>
                <a:latin typeface="Plus Jakarta Sans Light"/>
                <a:ea typeface="Plus Jakarta Sans Light"/>
                <a:cs typeface="Plus Jakarta Sans Light"/>
                <a:sym typeface="Plus Jakarta Sans Light"/>
              </a:rPr>
              <a:t>saber de qué documento salió el dato elimina la duda sobre la veracidad del bot.</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Cómo: </a:t>
            </a:r>
            <a:r>
              <a:rPr b="0" i="0" lang="es" sz="1300" u="none" cap="none" strike="noStrike">
                <a:solidFill>
                  <a:srgbClr val="171717"/>
                </a:solidFill>
                <a:latin typeface="Plus Jakarta Sans Light"/>
                <a:ea typeface="Plus Jakarta Sans Light"/>
                <a:cs typeface="Plus Jakarta Sans Light"/>
                <a:sym typeface="Plus Jakarta Sans Light"/>
              </a:rPr>
              <a:t>pedí al final de cada respuesta la etiqueta [Manual: Nombre_del_Archivo].</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52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Prohibido: </a:t>
            </a:r>
            <a:r>
              <a:rPr b="0" i="0" lang="es" sz="1300" u="none" cap="none" strike="noStrike">
                <a:solidFill>
                  <a:srgbClr val="171717"/>
                </a:solidFill>
                <a:latin typeface="Plus Jakarta Sans Light"/>
                <a:ea typeface="Plus Jakarta Sans Light"/>
                <a:cs typeface="Plus Jakarta Sans Light"/>
                <a:sym typeface="Plus Jakarta Sans Light"/>
              </a:rPr>
              <a:t>inventar nombres de archivos. Se usan los metadatos reales del fragmento.</a:t>
            </a:r>
            <a:endParaRPr b="0" i="0" sz="1300" u="none" cap="none" strike="noStrike">
              <a:solidFill>
                <a:srgbClr val="171717"/>
              </a:solidFill>
              <a:latin typeface="Plus Jakarta Sans Light"/>
              <a:ea typeface="Plus Jakarta Sans Light"/>
              <a:cs typeface="Plus Jakarta Sans Light"/>
              <a:sym typeface="Plus Jakarta Sans Light"/>
            </a:endParaRPr>
          </a:p>
        </p:txBody>
      </p:sp>
      <p:sp>
        <p:nvSpPr>
          <p:cNvPr id="268" name="Google Shape;268;p21"/>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0" i="0" lang="es" sz="4000" u="none" cap="none" strike="noStrike">
                <a:solidFill>
                  <a:srgbClr val="FF632B"/>
                </a:solidFill>
                <a:latin typeface="Plus Jakarta Sans ExtraBold"/>
                <a:ea typeface="Plus Jakarta Sans ExtraBold"/>
                <a:cs typeface="Plus Jakarta Sans ExtraBold"/>
                <a:sym typeface="Plus Jakarta Sans ExtraBold"/>
              </a:rPr>
              <a:t>Citar la fuente</a:t>
            </a:r>
            <a:endParaRPr b="0" i="0" sz="4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269" name="Google Shape;269;p21"/>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Confianza, transparencia y auditoría</a:t>
            </a:r>
            <a:endParaRPr b="0" i="0" sz="20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22"/>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228600" lvl="0" marL="228600" marR="0" rtl="0" algn="l">
              <a:lnSpc>
                <a:spcPct val="112000"/>
              </a:lnSpc>
              <a:spcBef>
                <a:spcPts val="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Memoria (M3): </a:t>
            </a:r>
            <a:r>
              <a:rPr b="0" i="0" lang="es" sz="1300" u="none" cap="none" strike="noStrike">
                <a:solidFill>
                  <a:srgbClr val="171717"/>
                </a:solidFill>
                <a:latin typeface="Plus Jakarta Sans Light"/>
                <a:ea typeface="Plus Jakarta Sans Light"/>
                <a:cs typeface="Plus Jakarta Sans Light"/>
                <a:sym typeface="Plus Jakarta Sans Light"/>
              </a:rPr>
              <a:t>personaliza: 'el usuario se llama Carlos y es de Buenos Aires'.</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RAG (M5): </a:t>
            </a:r>
            <a:r>
              <a:rPr b="0" i="0" lang="es" sz="1300" u="none" cap="none" strike="noStrike">
                <a:solidFill>
                  <a:srgbClr val="171717"/>
                </a:solidFill>
                <a:latin typeface="Plus Jakarta Sans Light"/>
                <a:ea typeface="Plus Jakarta Sans Light"/>
                <a:cs typeface="Plus Jakarta Sans Light"/>
                <a:sym typeface="Plus Jakarta Sans Light"/>
              </a:rPr>
              <a:t>el marco duro: 'el envío a Buenos Aires cuesta $10'.</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52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El output: </a:t>
            </a:r>
            <a:r>
              <a:rPr b="0" i="0" lang="es" sz="1300" u="none" cap="none" strike="noStrike">
                <a:solidFill>
                  <a:srgbClr val="171717"/>
                </a:solidFill>
                <a:latin typeface="Plus Jakarta Sans Light"/>
                <a:ea typeface="Plus Jakarta Sans Light"/>
                <a:cs typeface="Plus Jakarta Sans Light"/>
                <a:sym typeface="Plus Jakarta Sans Light"/>
              </a:rPr>
              <a:t>'Hola Carlos, según el manual, el envío a tu zona es $10 [Manual: Logistica_2026]'.</a:t>
            </a:r>
            <a:endParaRPr b="0" i="0" sz="1300" u="none" cap="none" strike="noStrike">
              <a:solidFill>
                <a:srgbClr val="171717"/>
              </a:solidFill>
              <a:latin typeface="Plus Jakarta Sans Light"/>
              <a:ea typeface="Plus Jakarta Sans Light"/>
              <a:cs typeface="Plus Jakarta Sans Light"/>
              <a:sym typeface="Plus Jakarta Sans Light"/>
            </a:endParaRPr>
          </a:p>
        </p:txBody>
      </p:sp>
      <p:sp>
        <p:nvSpPr>
          <p:cNvPr id="275" name="Google Shape;275;p22"/>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s" sz="3200" u="none" cap="none" strike="noStrike">
                <a:solidFill>
                  <a:srgbClr val="FF632B"/>
                </a:solidFill>
                <a:latin typeface="Plus Jakarta Sans ExtraBold"/>
                <a:ea typeface="Plus Jakarta Sans ExtraBold"/>
                <a:cs typeface="Plus Jakarta Sans ExtraBold"/>
                <a:sym typeface="Plus Jakarta Sans ExtraBold"/>
              </a:rPr>
              <a:t>Memoria + RAG juntos</a:t>
            </a:r>
            <a:endParaRPr b="0" i="0" sz="32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276" name="Google Shape;276;p22"/>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El prompt como coordinador</a:t>
            </a:r>
            <a:endParaRPr b="0" i="0" sz="20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23"/>
          <p:cNvSpPr/>
          <p:nvPr/>
        </p:nvSpPr>
        <p:spPr>
          <a:xfrm>
            <a:off x="0" y="0"/>
            <a:ext cx="9144000" cy="1950900"/>
          </a:xfrm>
          <a:prstGeom prst="rect">
            <a:avLst/>
          </a:prstGeom>
          <a:solidFill>
            <a:srgbClr val="FDAB2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23"/>
          <p:cNvSpPr txBox="1"/>
          <p:nvPr/>
        </p:nvSpPr>
        <p:spPr>
          <a:xfrm>
            <a:off x="600250" y="656475"/>
            <a:ext cx="8220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Momentos de la Clase:</a:t>
            </a:r>
            <a:endParaRPr b="0" i="0" sz="5000" u="none" cap="none" strike="noStrike">
              <a:solidFill>
                <a:srgbClr val="F8F2E8"/>
              </a:solidFill>
              <a:latin typeface="Plus Jakarta Sans"/>
              <a:ea typeface="Plus Jakarta Sans"/>
              <a:cs typeface="Plus Jakarta Sans"/>
              <a:sym typeface="Plus Jakarta Sans"/>
            </a:endParaRPr>
          </a:p>
        </p:txBody>
      </p:sp>
      <p:sp>
        <p:nvSpPr>
          <p:cNvPr id="283" name="Google Shape;283;p23"/>
          <p:cNvSpPr txBox="1"/>
          <p:nvPr/>
        </p:nvSpPr>
        <p:spPr>
          <a:xfrm>
            <a:off x="730900" y="2015944"/>
            <a:ext cx="8220900" cy="2936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Actividad colaborativa</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Para pensar</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260700"/>
                </a:solidFill>
                <a:latin typeface="Plus Jakarta Sans ExtraBold"/>
                <a:ea typeface="Plus Jakarta Sans ExtraBold"/>
                <a:cs typeface="Plus Jakarta Sans ExtraBold"/>
                <a:sym typeface="Plus Jakarta Sans ExtraBold"/>
              </a:rPr>
              <a:t>Para recordar</a:t>
            </a:r>
            <a:endParaRPr b="0" i="0" sz="5000" u="none" cap="none" strike="noStrike">
              <a:solidFill>
                <a:srgbClr val="260700"/>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Coder Tips</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Material ampliado</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Cuestionario de tarea</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#FindTheBug</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p:txBody>
      </p:sp>
      <p:sp>
        <p:nvSpPr>
          <p:cNvPr id="284" name="Google Shape;284;p23"/>
          <p:cNvSpPr txBox="1"/>
          <p:nvPr/>
        </p:nvSpPr>
        <p:spPr>
          <a:xfrm>
            <a:off x="5496825" y="2994750"/>
            <a:ext cx="3057900" cy="1756200"/>
          </a:xfrm>
          <a:prstGeom prst="rect">
            <a:avLst/>
          </a:prstGeom>
          <a:noFill/>
          <a:ln>
            <a:noFill/>
          </a:ln>
        </p:spPr>
        <p:txBody>
          <a:bodyPr anchorCtr="0" anchor="t" bIns="91425" lIns="91425" spcFirstLastPara="1" rIns="91425" wrap="square" tIns="91425">
            <a:noAutofit/>
          </a:bodyPr>
          <a:lstStyle/>
          <a:p>
            <a:pPr indent="0" lvl="0" marL="0" marR="0" rtl="0" algn="l">
              <a:lnSpc>
                <a:spcPct val="112000"/>
              </a:lnSpc>
              <a:spcBef>
                <a:spcPts val="0"/>
              </a:spcBef>
              <a:spcAft>
                <a:spcPts val="0"/>
              </a:spcAft>
              <a:buClr>
                <a:srgbClr val="000000"/>
              </a:buClr>
              <a:buSzPts val="1200"/>
              <a:buFont typeface="Arial"/>
              <a:buNone/>
            </a:pPr>
            <a:r>
              <a:rPr b="0" i="0" lang="es" sz="1200" u="none" cap="none" strike="noStrike">
                <a:solidFill>
                  <a:srgbClr val="171717"/>
                </a:solidFill>
                <a:latin typeface="Plus Jakarta Sans Light"/>
                <a:ea typeface="Plus Jakarta Sans Light"/>
                <a:cs typeface="Plus Jakarta Sans Light"/>
                <a:sym typeface="Plus Jakarta Sans Light"/>
              </a:rPr>
              <a:t>Tres señales de que tu base necesita revisión: respuestas vagas (chunking mal cortado), desactualizadas (nadie sincronizó el archivo) o contradictorias (dos documentos vigentes sobre el mismo tema). Auditá apenas las veas.</a:t>
            </a:r>
            <a:endParaRPr b="0" i="0" sz="1200" u="none" cap="none" strike="noStrike">
              <a:solidFill>
                <a:srgbClr val="171717"/>
              </a:solidFill>
              <a:latin typeface="Plus Jakarta Sans Light"/>
              <a:ea typeface="Plus Jakarta Sans Light"/>
              <a:cs typeface="Plus Jakarta Sans Light"/>
              <a:sym typeface="Plus Jakarta Sans Ligh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24"/>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228600" lvl="0" marL="228600" marR="0" rtl="0" algn="l">
              <a:lnSpc>
                <a:spcPct val="112000"/>
              </a:lnSpc>
              <a:spcBef>
                <a:spcPts val="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Actualizar: </a:t>
            </a:r>
            <a:r>
              <a:rPr b="0" i="0" lang="es" sz="1300" u="none" cap="none" strike="noStrike">
                <a:solidFill>
                  <a:srgbClr val="171717"/>
                </a:solidFill>
                <a:latin typeface="Plus Jakarta Sans Light"/>
                <a:ea typeface="Plus Jakarta Sans Light"/>
                <a:cs typeface="Plus Jakarta Sans Light"/>
                <a:sym typeface="Plus Jakarta Sans Light"/>
              </a:rPr>
              <a:t>usá Overwrite sobre el mismo Data Source; no borres el conector o rompés el ID.</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Reparsing: </a:t>
            </a:r>
            <a:r>
              <a:rPr b="0" i="0" lang="es" sz="1300" u="none" cap="none" strike="noStrike">
                <a:solidFill>
                  <a:srgbClr val="171717"/>
                </a:solidFill>
                <a:latin typeface="Plus Jakarta Sans Light"/>
                <a:ea typeface="Plus Jakarta Sans Light"/>
                <a:cs typeface="Plus Jakarta Sans Light"/>
                <a:sym typeface="Plus Jakarta Sans Light"/>
              </a:rPr>
              <a:t>LlamaCloud re-segmenta solo y mantiene el canal con n8n intacto.</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52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Eliminar cuando: </a:t>
            </a:r>
            <a:r>
              <a:rPr b="0" i="0" lang="es" sz="1300" u="none" cap="none" strike="noStrike">
                <a:solidFill>
                  <a:srgbClr val="171717"/>
                </a:solidFill>
                <a:latin typeface="Plus Jakarta Sans Light"/>
                <a:ea typeface="Plus Jakarta Sans Light"/>
                <a:cs typeface="Plus Jakarta Sans Light"/>
                <a:sym typeface="Plus Jakarta Sans Light"/>
              </a:rPr>
              <a:t>la normativa caducó, el formato es irreparable o duplica un archivo maestro.</a:t>
            </a:r>
            <a:endParaRPr b="0" i="0" sz="1300" u="none" cap="none" strike="noStrike">
              <a:solidFill>
                <a:srgbClr val="171717"/>
              </a:solidFill>
              <a:latin typeface="Plus Jakarta Sans Light"/>
              <a:ea typeface="Plus Jakarta Sans Light"/>
              <a:cs typeface="Plus Jakarta Sans Light"/>
              <a:sym typeface="Plus Jakarta Sans Light"/>
            </a:endParaRPr>
          </a:p>
        </p:txBody>
      </p:sp>
      <p:sp>
        <p:nvSpPr>
          <p:cNvPr id="290" name="Google Shape;290;p24"/>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s" sz="3200" u="none" cap="none" strike="noStrike">
                <a:solidFill>
                  <a:srgbClr val="FF632B"/>
                </a:solidFill>
                <a:latin typeface="Plus Jakarta Sans ExtraBold"/>
                <a:ea typeface="Plus Jakarta Sans ExtraBold"/>
                <a:cs typeface="Plus Jakarta Sans ExtraBold"/>
                <a:sym typeface="Plus Jakarta Sans ExtraBold"/>
              </a:rPr>
              <a:t>Mantener sin romper</a:t>
            </a:r>
            <a:endParaRPr b="0" i="0" sz="32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291" name="Google Shape;291;p24"/>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La gobernanza del conocimiento</a:t>
            </a:r>
            <a:endParaRPr b="0" i="0" sz="20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25"/>
          <p:cNvSpPr txBox="1"/>
          <p:nvPr/>
        </p:nvSpPr>
        <p:spPr>
          <a:xfrm>
            <a:off x="652525" y="1336525"/>
            <a:ext cx="6254700" cy="2441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0"/>
              <a:buFont typeface="Arial"/>
              <a:buNone/>
            </a:pPr>
            <a:r>
              <a:rPr b="0" i="0" lang="es" sz="6000" u="none" cap="none" strike="noStrike">
                <a:solidFill>
                  <a:srgbClr val="F8F2E8"/>
                </a:solidFill>
                <a:latin typeface="Plus Jakarta Sans ExtraBold"/>
                <a:ea typeface="Plus Jakarta Sans ExtraBold"/>
                <a:cs typeface="Plus Jakarta Sans ExtraBold"/>
                <a:sym typeface="Plus Jakarta Sans ExtraBold"/>
              </a:rPr>
              <a:t>Break,</a:t>
            </a:r>
            <a:endParaRPr b="0" i="0" sz="6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rgbClr val="F8F2E8"/>
                </a:solidFill>
                <a:latin typeface="Plus Jakarta Sans"/>
                <a:ea typeface="Plus Jakarta Sans"/>
                <a:cs typeface="Plus Jakarta Sans"/>
                <a:sym typeface="Plus Jakarta Sans"/>
              </a:rPr>
              <a:t>andá por un cafecito</a:t>
            </a:r>
            <a:endParaRPr b="0" i="0" sz="2400" u="none" cap="none" strike="noStrike">
              <a:solidFill>
                <a:srgbClr val="F8F2E8"/>
              </a:solidFill>
              <a:latin typeface="Plus Jakarta Sans"/>
              <a:ea typeface="Plus Jakarta Sans"/>
              <a:cs typeface="Plus Jakarta Sans"/>
              <a:sym typeface="Plus Jakarta Sans"/>
            </a:endParaRPr>
          </a:p>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rgbClr val="F8F2E8"/>
                </a:solidFill>
                <a:latin typeface="Plus Jakarta Sans"/>
                <a:ea typeface="Plus Jakarta Sans"/>
                <a:cs typeface="Plus Jakarta Sans"/>
                <a:sym typeface="Plus Jakarta Sans"/>
              </a:rPr>
              <a:t>o mate, ¡y volvemos!</a:t>
            </a:r>
            <a:endParaRPr b="0" i="0" sz="2400" u="none" cap="none" strike="noStrike">
              <a:solidFill>
                <a:srgbClr val="F8F2E8"/>
              </a:solidFill>
              <a:latin typeface="Plus Jakarta Sans"/>
              <a:ea typeface="Plus Jakarta Sans"/>
              <a:cs typeface="Plus Jakarta Sans"/>
              <a:sym typeface="Plus Jakarta Sans"/>
            </a:endParaRPr>
          </a:p>
        </p:txBody>
      </p:sp>
      <p:pic>
        <p:nvPicPr>
          <p:cNvPr id="297" name="Google Shape;297;p25" title="Vector.png"/>
          <p:cNvPicPr preferRelativeResize="0"/>
          <p:nvPr/>
        </p:nvPicPr>
        <p:blipFill rotWithShape="1">
          <a:blip r:embed="rId3">
            <a:alphaModFix/>
          </a:blip>
          <a:srcRect b="0" l="29" r="39" t="0"/>
          <a:stretch/>
        </p:blipFill>
        <p:spPr>
          <a:xfrm>
            <a:off x="7520578" y="2347936"/>
            <a:ext cx="524575" cy="4476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26"/>
          <p:cNvSpPr txBox="1"/>
          <p:nvPr/>
        </p:nvSpPr>
        <p:spPr>
          <a:xfrm>
            <a:off x="6180025" y="314075"/>
            <a:ext cx="2630700" cy="171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0"/>
              <a:buFont typeface="Arial"/>
              <a:buNone/>
            </a:pPr>
            <a:r>
              <a:rPr b="0" i="0" lang="es" sz="13000" u="none" cap="none" strike="noStrike">
                <a:solidFill>
                  <a:srgbClr val="FDAB2E"/>
                </a:solidFill>
                <a:latin typeface="Plus Jakarta Sans ExtraBold"/>
                <a:ea typeface="Plus Jakarta Sans ExtraBold"/>
                <a:cs typeface="Plus Jakarta Sans ExtraBold"/>
                <a:sym typeface="Plus Jakarta Sans ExtraBold"/>
              </a:rPr>
              <a:t>04</a:t>
            </a:r>
            <a:endParaRPr b="0" i="0" sz="13000" u="none" cap="none" strike="noStrike">
              <a:solidFill>
                <a:srgbClr val="FDAB2E"/>
              </a:solidFill>
              <a:latin typeface="Plus Jakarta Sans ExtraBold"/>
              <a:ea typeface="Plus Jakarta Sans ExtraBold"/>
              <a:cs typeface="Plus Jakarta Sans ExtraBold"/>
              <a:sym typeface="Plus Jakarta Sans ExtraBold"/>
            </a:endParaRPr>
          </a:p>
        </p:txBody>
      </p:sp>
      <p:sp>
        <p:nvSpPr>
          <p:cNvPr id="303" name="Google Shape;303;p26"/>
          <p:cNvSpPr txBox="1"/>
          <p:nvPr/>
        </p:nvSpPr>
        <p:spPr>
          <a:xfrm>
            <a:off x="641650" y="3337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s" sz="3600" u="none" cap="none" strike="noStrike">
                <a:solidFill>
                  <a:srgbClr val="F8F2E8"/>
                </a:solidFill>
                <a:latin typeface="Plus Jakarta Sans ExtraBold"/>
                <a:ea typeface="Plus Jakarta Sans ExtraBold"/>
                <a:cs typeface="Plus Jakarta Sans ExtraBold"/>
                <a:sym typeface="Plus Jakarta Sans ExtraBold"/>
              </a:rPr>
              <a:t>Práctica en vivo</a:t>
            </a:r>
            <a:endParaRPr b="0" i="0" sz="36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27"/>
          <p:cNvSpPr/>
          <p:nvPr/>
        </p:nvSpPr>
        <p:spPr>
          <a:xfrm>
            <a:off x="0" y="0"/>
            <a:ext cx="9144000" cy="1950900"/>
          </a:xfrm>
          <a:prstGeom prst="rect">
            <a:avLst/>
          </a:prstGeom>
          <a:solidFill>
            <a:srgbClr val="FDAB2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27"/>
          <p:cNvSpPr txBox="1"/>
          <p:nvPr/>
        </p:nvSpPr>
        <p:spPr>
          <a:xfrm>
            <a:off x="600250" y="656475"/>
            <a:ext cx="8220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Momentos de la Clase:</a:t>
            </a:r>
            <a:endParaRPr b="0" i="0" sz="5000" u="none" cap="none" strike="noStrike">
              <a:solidFill>
                <a:srgbClr val="F8F2E8"/>
              </a:solidFill>
              <a:latin typeface="Plus Jakarta Sans"/>
              <a:ea typeface="Plus Jakarta Sans"/>
              <a:cs typeface="Plus Jakarta Sans"/>
              <a:sym typeface="Plus Jakarta Sans"/>
            </a:endParaRPr>
          </a:p>
        </p:txBody>
      </p:sp>
      <p:sp>
        <p:nvSpPr>
          <p:cNvPr id="310" name="Google Shape;310;p27"/>
          <p:cNvSpPr txBox="1"/>
          <p:nvPr/>
        </p:nvSpPr>
        <p:spPr>
          <a:xfrm>
            <a:off x="730900" y="2015917"/>
            <a:ext cx="8220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260700"/>
                </a:solidFill>
                <a:latin typeface="Plus Jakarta Sans ExtraBold"/>
                <a:ea typeface="Plus Jakarta Sans ExtraBold"/>
                <a:cs typeface="Plus Jakarta Sans ExtraBold"/>
                <a:sym typeface="Plus Jakarta Sans ExtraBold"/>
              </a:rPr>
              <a:t>Ejemplo en Vivo</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Actividad colaborativa</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Para pensar</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Para recordar</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Coder Tips</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Material ampliado</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Cuestionario de tarea</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#FindTheBug</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p:txBody>
      </p:sp>
      <p:sp>
        <p:nvSpPr>
          <p:cNvPr id="311" name="Google Shape;311;p27"/>
          <p:cNvSpPr txBox="1"/>
          <p:nvPr/>
        </p:nvSpPr>
        <p:spPr>
          <a:xfrm>
            <a:off x="6363575" y="2481425"/>
            <a:ext cx="21912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2000"/>
              </a:lnSpc>
              <a:spcBef>
                <a:spcPts val="0"/>
              </a:spcBef>
              <a:spcAft>
                <a:spcPts val="0"/>
              </a:spcAft>
              <a:buClr>
                <a:srgbClr val="000000"/>
              </a:buClr>
              <a:buSzPts val="1200"/>
              <a:buFont typeface="Arial"/>
              <a:buNone/>
            </a:pPr>
            <a:r>
              <a:rPr b="0" i="0" lang="es" sz="1200" u="none" cap="none" strike="noStrike">
                <a:solidFill>
                  <a:srgbClr val="171717"/>
                </a:solidFill>
                <a:latin typeface="Plus Jakarta Sans Light"/>
                <a:ea typeface="Plus Jakarta Sans Light"/>
                <a:cs typeface="Plus Jakarta Sans Light"/>
                <a:sym typeface="Plus Jakarta Sans Light"/>
              </a:rPr>
              <a:t>Clínica de chunking. Tomamos un documento real y miramos cómo LlamaCloud lo fragmenta. Comparamos un corte limpio contra uno que parte una regla al medio, y vemos en vivo cómo eso cambia por completo la respuesta del agente.</a:t>
            </a:r>
            <a:endParaRPr b="0" i="0" sz="1200" u="none" cap="none" strike="noStrike">
              <a:solidFill>
                <a:srgbClr val="171717"/>
              </a:solidFill>
              <a:latin typeface="Plus Jakarta Sans Light"/>
              <a:ea typeface="Plus Jakarta Sans Light"/>
              <a:cs typeface="Plus Jakarta Sans Light"/>
              <a:sym typeface="Plus Jakarta Sans Light"/>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28"/>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2000"/>
              </a:lnSpc>
              <a:spcBef>
                <a:spcPts val="0"/>
              </a:spcBef>
              <a:spcAft>
                <a:spcPts val="0"/>
              </a:spcAft>
              <a:buClr>
                <a:srgbClr val="000000"/>
              </a:buClr>
              <a:buSzPts val="1300"/>
              <a:buFont typeface="Arial"/>
              <a:buNone/>
            </a:pPr>
            <a:r>
              <a:rPr b="0" i="0" lang="es" sz="1300" u="none" cap="none" strike="noStrike">
                <a:solidFill>
                  <a:srgbClr val="171717"/>
                </a:solidFill>
                <a:latin typeface="Plus Jakarta Sans ExtraBold"/>
                <a:ea typeface="Plus Jakarta Sans ExtraBold"/>
                <a:cs typeface="Plus Jakarta Sans ExtraBold"/>
                <a:sym typeface="Plus Jakarta Sans ExtraBold"/>
              </a:rPr>
              <a:t>Objetivo: </a:t>
            </a:r>
            <a:r>
              <a:rPr b="0" i="0" lang="es" sz="1300" u="none" cap="none" strike="noStrike">
                <a:solidFill>
                  <a:srgbClr val="171717"/>
                </a:solidFill>
                <a:latin typeface="Plus Jakarta Sans Light"/>
                <a:ea typeface="Plus Jakarta Sans Light"/>
                <a:cs typeface="Plus Jakarta Sans Light"/>
                <a:sym typeface="Plus Jakarta Sans Light"/>
              </a:rPr>
              <a:t>elegir el conocimiento correcto y cargarlo limpio.</a:t>
            </a:r>
            <a:endParaRPr b="0" i="0" sz="1300" u="none" cap="none" strike="noStrike">
              <a:solidFill>
                <a:srgbClr val="171717"/>
              </a:solidFill>
              <a:latin typeface="Plus Jakarta Sans Light"/>
              <a:ea typeface="Plus Jakarta Sans Light"/>
              <a:cs typeface="Plus Jakarta Sans Light"/>
              <a:sym typeface="Plus Jakarta Sans Light"/>
            </a:endParaRPr>
          </a:p>
          <a:p>
            <a:pPr indent="0" lvl="0" marL="0" marR="0" rtl="0" algn="l">
              <a:lnSpc>
                <a:spcPct val="112000"/>
              </a:lnSpc>
              <a:spcBef>
                <a:spcPts val="300"/>
              </a:spcBef>
              <a:spcAft>
                <a:spcPts val="0"/>
              </a:spcAft>
              <a:buClr>
                <a:srgbClr val="000000"/>
              </a:buClr>
              <a:buSzPts val="1300"/>
              <a:buFont typeface="Arial"/>
              <a:buNone/>
            </a:pPr>
            <a:r>
              <a:rPr b="0" i="0" lang="es" sz="1300" u="none" cap="none" strike="noStrike">
                <a:solidFill>
                  <a:srgbClr val="FF632B"/>
                </a:solidFill>
                <a:latin typeface="Plus Jakarta Sans ExtraBold"/>
                <a:ea typeface="Plus Jakarta Sans ExtraBold"/>
                <a:cs typeface="Plus Jakarta Sans ExtraBold"/>
                <a:sym typeface="Plus Jakarta Sans ExtraBold"/>
              </a:rPr>
              <a:t>Durante este paso vamos a:</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200"/>
              </a:spcBef>
              <a:spcAft>
                <a:spcPts val="0"/>
              </a:spcAft>
              <a:buClr>
                <a:srgbClr val="FF632B"/>
              </a:buClr>
              <a:buSzPts val="1170"/>
              <a:buFont typeface="Plus Jakarta Sans"/>
              <a:buChar char="•"/>
            </a:pPr>
            <a:r>
              <a:rPr b="0" i="0" lang="es" sz="1300" u="none" cap="none" strike="noStrike">
                <a:solidFill>
                  <a:srgbClr val="171717"/>
                </a:solidFill>
                <a:latin typeface="Plus Jakarta Sans Light"/>
                <a:ea typeface="Plus Jakarta Sans Light"/>
                <a:cs typeface="Plus Jakarta Sans Light"/>
                <a:sym typeface="Plus Jakarta Sans Light"/>
              </a:rPr>
              <a:t>Auditar los archivos del cliente y elegir un maestro extenso (manual, políticas, FAQs).</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200"/>
              </a:spcBef>
              <a:spcAft>
                <a:spcPts val="0"/>
              </a:spcAft>
              <a:buClr>
                <a:srgbClr val="FF632B"/>
              </a:buClr>
              <a:buSzPts val="1170"/>
              <a:buFont typeface="Plus Jakarta Sans"/>
              <a:buChar char="•"/>
            </a:pPr>
            <a:r>
              <a:rPr b="0" i="0" lang="es" sz="1300" u="none" cap="none" strike="noStrike">
                <a:solidFill>
                  <a:srgbClr val="171717"/>
                </a:solidFill>
                <a:latin typeface="Plus Jakarta Sans Light"/>
                <a:ea typeface="Plus Jakarta Sans Light"/>
                <a:cs typeface="Plus Jakarta Sans Light"/>
                <a:sym typeface="Plus Jakarta Sans Light"/>
              </a:rPr>
              <a:t>Crear un Data Source nuevo en LlamaCloud.</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200"/>
              </a:spcBef>
              <a:spcAft>
                <a:spcPts val="0"/>
              </a:spcAft>
              <a:buClr>
                <a:srgbClr val="FF632B"/>
              </a:buClr>
              <a:buSzPts val="1170"/>
              <a:buFont typeface="Plus Jakarta Sans"/>
              <a:buChar char="•"/>
            </a:pPr>
            <a:r>
              <a:rPr b="0" i="0" lang="es" sz="1300" u="none" cap="none" strike="noStrike">
                <a:solidFill>
                  <a:srgbClr val="171717"/>
                </a:solidFill>
                <a:latin typeface="Plus Jakarta Sans Light"/>
                <a:ea typeface="Plus Jakarta Sans Light"/>
                <a:cs typeface="Plus Jakarta Sans Light"/>
                <a:sym typeface="Plus Jakarta Sans Light"/>
              </a:rPr>
              <a:t>Cargar el archivo sin escaneos dañados ni tablas rotas.</a:t>
            </a:r>
            <a:endParaRPr b="0" i="0" sz="1300" u="none" cap="none" strike="noStrike">
              <a:solidFill>
                <a:srgbClr val="171717"/>
              </a:solidFill>
              <a:latin typeface="Plus Jakarta Sans Light"/>
              <a:ea typeface="Plus Jakarta Sans Light"/>
              <a:cs typeface="Plus Jakarta Sans Light"/>
              <a:sym typeface="Plus Jakarta Sans Light"/>
            </a:endParaRPr>
          </a:p>
          <a:p>
            <a:pPr indent="0" lvl="0" marL="0" marR="0" rtl="0" algn="l">
              <a:lnSpc>
                <a:spcPct val="112000"/>
              </a:lnSpc>
              <a:spcBef>
                <a:spcPts val="200"/>
              </a:spcBef>
              <a:spcAft>
                <a:spcPts val="0"/>
              </a:spcAft>
              <a:buClr>
                <a:srgbClr val="000000"/>
              </a:buClr>
              <a:buSzPts val="1300"/>
              <a:buFont typeface="Arial"/>
              <a:buNone/>
            </a:pPr>
            <a:r>
              <a:rPr b="0" i="0" lang="es" sz="1300" u="none" cap="none" strike="noStrike">
                <a:solidFill>
                  <a:srgbClr val="FF632B"/>
                </a:solidFill>
                <a:latin typeface="Plus Jakarta Sans ExtraBold"/>
                <a:ea typeface="Plus Jakarta Sans ExtraBold"/>
                <a:cs typeface="Plus Jakarta Sans ExtraBold"/>
                <a:sym typeface="Plus Jakarta Sans ExtraBold"/>
              </a:rPr>
              <a:t>Resultado esperado: </a:t>
            </a:r>
            <a:r>
              <a:rPr b="0" i="0" lang="es" sz="1300" u="none" cap="none" strike="noStrike">
                <a:solidFill>
                  <a:srgbClr val="171717"/>
                </a:solidFill>
                <a:latin typeface="Plus Jakarta Sans Light"/>
                <a:ea typeface="Plus Jakarta Sans Light"/>
                <a:cs typeface="Plus Jakarta Sans Light"/>
                <a:sym typeface="Plus Jakarta Sans Light"/>
              </a:rPr>
              <a:t>un documento oficial listo para procesar.</a:t>
            </a:r>
            <a:endParaRPr b="0" i="0" sz="1300" u="none" cap="none" strike="noStrike">
              <a:solidFill>
                <a:srgbClr val="171717"/>
              </a:solidFill>
              <a:latin typeface="Plus Jakarta Sans Light"/>
              <a:ea typeface="Plus Jakarta Sans Light"/>
              <a:cs typeface="Plus Jakarta Sans Light"/>
              <a:sym typeface="Plus Jakarta Sans Light"/>
            </a:endParaRPr>
          </a:p>
        </p:txBody>
      </p:sp>
      <p:sp>
        <p:nvSpPr>
          <p:cNvPr id="317" name="Google Shape;317;p28"/>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s" sz="3200" u="none" cap="none" strike="noStrike">
                <a:solidFill>
                  <a:srgbClr val="FF632B"/>
                </a:solidFill>
                <a:latin typeface="Plus Jakarta Sans ExtraBold"/>
                <a:ea typeface="Plus Jakarta Sans ExtraBold"/>
                <a:cs typeface="Plus Jakarta Sans ExtraBold"/>
                <a:sym typeface="Plus Jakarta Sans ExtraBold"/>
              </a:rPr>
              <a:t>Paso 1: curar y subir</a:t>
            </a:r>
            <a:endParaRPr b="0" i="0" sz="32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318" name="Google Shape;318;p28"/>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El documento maestro</a:t>
            </a:r>
            <a:endParaRPr b="0" i="0" sz="20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29"/>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2000"/>
              </a:lnSpc>
              <a:spcBef>
                <a:spcPts val="0"/>
              </a:spcBef>
              <a:spcAft>
                <a:spcPts val="0"/>
              </a:spcAft>
              <a:buClr>
                <a:srgbClr val="000000"/>
              </a:buClr>
              <a:buSzPts val="1300"/>
              <a:buFont typeface="Arial"/>
              <a:buNone/>
            </a:pPr>
            <a:r>
              <a:rPr b="0" i="0" lang="es" sz="1300" u="none" cap="none" strike="noStrike">
                <a:solidFill>
                  <a:srgbClr val="171717"/>
                </a:solidFill>
                <a:latin typeface="Plus Jakarta Sans ExtraBold"/>
                <a:ea typeface="Plus Jakarta Sans ExtraBold"/>
                <a:cs typeface="Plus Jakarta Sans ExtraBold"/>
                <a:sym typeface="Plus Jakarta Sans ExtraBold"/>
              </a:rPr>
              <a:t>Objetivo: </a:t>
            </a:r>
            <a:r>
              <a:rPr b="0" i="0" lang="es" sz="1300" u="none" cap="none" strike="noStrike">
                <a:solidFill>
                  <a:srgbClr val="171717"/>
                </a:solidFill>
                <a:latin typeface="Plus Jakarta Sans Light"/>
                <a:ea typeface="Plus Jakarta Sans Light"/>
                <a:cs typeface="Plus Jakarta Sans Light"/>
                <a:sym typeface="Plus Jakarta Sans Light"/>
              </a:rPr>
              <a:t>verificar que la fragmentación no rompa las reglas.</a:t>
            </a:r>
            <a:endParaRPr b="0" i="0" sz="1300" u="none" cap="none" strike="noStrike">
              <a:solidFill>
                <a:srgbClr val="171717"/>
              </a:solidFill>
              <a:latin typeface="Plus Jakarta Sans Light"/>
              <a:ea typeface="Plus Jakarta Sans Light"/>
              <a:cs typeface="Plus Jakarta Sans Light"/>
              <a:sym typeface="Plus Jakarta Sans Light"/>
            </a:endParaRPr>
          </a:p>
          <a:p>
            <a:pPr indent="0" lvl="0" marL="0" marR="0" rtl="0" algn="l">
              <a:lnSpc>
                <a:spcPct val="112000"/>
              </a:lnSpc>
              <a:spcBef>
                <a:spcPts val="300"/>
              </a:spcBef>
              <a:spcAft>
                <a:spcPts val="0"/>
              </a:spcAft>
              <a:buClr>
                <a:srgbClr val="000000"/>
              </a:buClr>
              <a:buSzPts val="1300"/>
              <a:buFont typeface="Arial"/>
              <a:buNone/>
            </a:pPr>
            <a:r>
              <a:rPr b="0" i="0" lang="es" sz="1300" u="none" cap="none" strike="noStrike">
                <a:solidFill>
                  <a:srgbClr val="FF632B"/>
                </a:solidFill>
                <a:latin typeface="Plus Jakarta Sans ExtraBold"/>
                <a:ea typeface="Plus Jakarta Sans ExtraBold"/>
                <a:cs typeface="Plus Jakarta Sans ExtraBold"/>
                <a:sym typeface="Plus Jakarta Sans ExtraBold"/>
              </a:rPr>
              <a:t>Durante este paso vamos a:</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200"/>
              </a:spcBef>
              <a:spcAft>
                <a:spcPts val="0"/>
              </a:spcAft>
              <a:buClr>
                <a:srgbClr val="FF632B"/>
              </a:buClr>
              <a:buSzPts val="1170"/>
              <a:buFont typeface="Plus Jakarta Sans"/>
              <a:buChar char="•"/>
            </a:pPr>
            <a:r>
              <a:rPr b="0" i="0" lang="es" sz="1300" u="none" cap="none" strike="noStrike">
                <a:solidFill>
                  <a:srgbClr val="171717"/>
                </a:solidFill>
                <a:latin typeface="Plus Jakarta Sans Light"/>
                <a:ea typeface="Plus Jakarta Sans Light"/>
                <a:cs typeface="Plus Jakarta Sans Light"/>
                <a:sym typeface="Plus Jakarta Sans Light"/>
              </a:rPr>
              <a:t>Revisar cómo quedó fragmentado el texto.</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200"/>
              </a:spcBef>
              <a:spcAft>
                <a:spcPts val="0"/>
              </a:spcAft>
              <a:buClr>
                <a:srgbClr val="FF632B"/>
              </a:buClr>
              <a:buSzPts val="1170"/>
              <a:buFont typeface="Plus Jakarta Sans"/>
              <a:buChar char="•"/>
            </a:pPr>
            <a:r>
              <a:rPr b="0" i="0" lang="es" sz="1300" u="none" cap="none" strike="noStrike">
                <a:solidFill>
                  <a:srgbClr val="171717"/>
                </a:solidFill>
                <a:latin typeface="Plus Jakarta Sans Light"/>
                <a:ea typeface="Plus Jakarta Sans Light"/>
                <a:cs typeface="Plus Jakarta Sans Light"/>
                <a:sym typeface="Plus Jakarta Sans Light"/>
              </a:rPr>
              <a:t>Confirmar que respeta la jerarquía de títulos.</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200"/>
              </a:spcBef>
              <a:spcAft>
                <a:spcPts val="0"/>
              </a:spcAft>
              <a:buClr>
                <a:srgbClr val="FF632B"/>
              </a:buClr>
              <a:buSzPts val="1170"/>
              <a:buFont typeface="Plus Jakarta Sans"/>
              <a:buChar char="•"/>
            </a:pPr>
            <a:r>
              <a:rPr b="0" i="0" lang="es" sz="1300" u="none" cap="none" strike="noStrike">
                <a:solidFill>
                  <a:srgbClr val="171717"/>
                </a:solidFill>
                <a:latin typeface="Plus Jakarta Sans Light"/>
                <a:ea typeface="Plus Jakarta Sans Light"/>
                <a:cs typeface="Plus Jakarta Sans Light"/>
                <a:sym typeface="Plus Jakarta Sans Light"/>
              </a:rPr>
              <a:t>Chequear que las tablas se interpreten fila por fila.</a:t>
            </a:r>
            <a:endParaRPr b="0" i="0" sz="1300" u="none" cap="none" strike="noStrike">
              <a:solidFill>
                <a:srgbClr val="171717"/>
              </a:solidFill>
              <a:latin typeface="Plus Jakarta Sans Light"/>
              <a:ea typeface="Plus Jakarta Sans Light"/>
              <a:cs typeface="Plus Jakarta Sans Light"/>
              <a:sym typeface="Plus Jakarta Sans Light"/>
            </a:endParaRPr>
          </a:p>
          <a:p>
            <a:pPr indent="0" lvl="0" marL="0" marR="0" rtl="0" algn="l">
              <a:lnSpc>
                <a:spcPct val="112000"/>
              </a:lnSpc>
              <a:spcBef>
                <a:spcPts val="200"/>
              </a:spcBef>
              <a:spcAft>
                <a:spcPts val="0"/>
              </a:spcAft>
              <a:buClr>
                <a:srgbClr val="000000"/>
              </a:buClr>
              <a:buSzPts val="1300"/>
              <a:buFont typeface="Arial"/>
              <a:buNone/>
            </a:pPr>
            <a:r>
              <a:rPr b="0" i="0" lang="es" sz="1300" u="none" cap="none" strike="noStrike">
                <a:solidFill>
                  <a:srgbClr val="FF632B"/>
                </a:solidFill>
                <a:latin typeface="Plus Jakarta Sans ExtraBold"/>
                <a:ea typeface="Plus Jakarta Sans ExtraBold"/>
                <a:cs typeface="Plus Jakarta Sans ExtraBold"/>
                <a:sym typeface="Plus Jakarta Sans ExtraBold"/>
              </a:rPr>
              <a:t>Resultado esperado: </a:t>
            </a:r>
            <a:r>
              <a:rPr b="0" i="0" lang="es" sz="1300" u="none" cap="none" strike="noStrike">
                <a:solidFill>
                  <a:srgbClr val="171717"/>
                </a:solidFill>
                <a:latin typeface="Plus Jakarta Sans Light"/>
                <a:ea typeface="Plus Jakarta Sans Light"/>
                <a:cs typeface="Plus Jakarta Sans Light"/>
                <a:sym typeface="Plus Jakarta Sans Light"/>
              </a:rPr>
              <a:t>fragmentos limpios que preservan el sentido.</a:t>
            </a:r>
            <a:endParaRPr b="0" i="0" sz="1300" u="none" cap="none" strike="noStrike">
              <a:solidFill>
                <a:srgbClr val="171717"/>
              </a:solidFill>
              <a:latin typeface="Plus Jakarta Sans Light"/>
              <a:ea typeface="Plus Jakarta Sans Light"/>
              <a:cs typeface="Plus Jakarta Sans Light"/>
              <a:sym typeface="Plus Jakarta Sans Light"/>
            </a:endParaRPr>
          </a:p>
        </p:txBody>
      </p:sp>
      <p:sp>
        <p:nvSpPr>
          <p:cNvPr id="324" name="Google Shape;324;p29"/>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600"/>
              <a:buFont typeface="Arial"/>
              <a:buNone/>
            </a:pPr>
            <a:r>
              <a:rPr b="0" i="0" lang="es" sz="2600" u="none" cap="none" strike="noStrike">
                <a:solidFill>
                  <a:srgbClr val="FF632B"/>
                </a:solidFill>
                <a:latin typeface="Plus Jakarta Sans ExtraBold"/>
                <a:ea typeface="Plus Jakarta Sans ExtraBold"/>
                <a:cs typeface="Plus Jakarta Sans ExtraBold"/>
                <a:sym typeface="Plus Jakarta Sans ExtraBold"/>
              </a:rPr>
              <a:t>Paso 2: revisar el chunking</a:t>
            </a:r>
            <a:endParaRPr b="0" i="0" sz="26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325" name="Google Shape;325;p29"/>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Que el corte tenga sentido</a:t>
            </a:r>
            <a:endParaRPr b="0" i="0" sz="20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30"/>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2000"/>
              </a:lnSpc>
              <a:spcBef>
                <a:spcPts val="0"/>
              </a:spcBef>
              <a:spcAft>
                <a:spcPts val="0"/>
              </a:spcAft>
              <a:buClr>
                <a:srgbClr val="000000"/>
              </a:buClr>
              <a:buSzPts val="1300"/>
              <a:buFont typeface="Arial"/>
              <a:buNone/>
            </a:pPr>
            <a:r>
              <a:rPr b="0" i="0" lang="es" sz="1300" u="none" cap="none" strike="noStrike">
                <a:solidFill>
                  <a:srgbClr val="171717"/>
                </a:solidFill>
                <a:latin typeface="Plus Jakarta Sans ExtraBold"/>
                <a:ea typeface="Plus Jakarta Sans ExtraBold"/>
                <a:cs typeface="Plus Jakarta Sans ExtraBold"/>
                <a:sym typeface="Plus Jakarta Sans ExtraBold"/>
              </a:rPr>
              <a:t>Objetivo: </a:t>
            </a:r>
            <a:r>
              <a:rPr b="0" i="0" lang="es" sz="1300" u="none" cap="none" strike="noStrike">
                <a:solidFill>
                  <a:srgbClr val="171717"/>
                </a:solidFill>
                <a:latin typeface="Plus Jakarta Sans Light"/>
                <a:ea typeface="Plus Jakarta Sans Light"/>
                <a:cs typeface="Plus Jakarta Sans Light"/>
                <a:sym typeface="Plus Jakarta Sans Light"/>
              </a:rPr>
              <a:t>darle al agente acceso al conocimiento.</a:t>
            </a:r>
            <a:endParaRPr b="0" i="0" sz="1300" u="none" cap="none" strike="noStrike">
              <a:solidFill>
                <a:srgbClr val="171717"/>
              </a:solidFill>
              <a:latin typeface="Plus Jakarta Sans Light"/>
              <a:ea typeface="Plus Jakarta Sans Light"/>
              <a:cs typeface="Plus Jakarta Sans Light"/>
              <a:sym typeface="Plus Jakarta Sans Light"/>
            </a:endParaRPr>
          </a:p>
          <a:p>
            <a:pPr indent="0" lvl="0" marL="0" marR="0" rtl="0" algn="l">
              <a:lnSpc>
                <a:spcPct val="112000"/>
              </a:lnSpc>
              <a:spcBef>
                <a:spcPts val="300"/>
              </a:spcBef>
              <a:spcAft>
                <a:spcPts val="0"/>
              </a:spcAft>
              <a:buClr>
                <a:srgbClr val="000000"/>
              </a:buClr>
              <a:buSzPts val="1300"/>
              <a:buFont typeface="Arial"/>
              <a:buNone/>
            </a:pPr>
            <a:r>
              <a:rPr b="0" i="0" lang="es" sz="1300" u="none" cap="none" strike="noStrike">
                <a:solidFill>
                  <a:srgbClr val="FF632B"/>
                </a:solidFill>
                <a:latin typeface="Plus Jakarta Sans ExtraBold"/>
                <a:ea typeface="Plus Jakarta Sans ExtraBold"/>
                <a:cs typeface="Plus Jakarta Sans ExtraBold"/>
                <a:sym typeface="Plus Jakarta Sans ExtraBold"/>
              </a:rPr>
              <a:t>Durante este paso vamos a:</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200"/>
              </a:spcBef>
              <a:spcAft>
                <a:spcPts val="0"/>
              </a:spcAft>
              <a:buClr>
                <a:srgbClr val="FF632B"/>
              </a:buClr>
              <a:buSzPts val="1170"/>
              <a:buFont typeface="Plus Jakarta Sans"/>
              <a:buChar char="•"/>
            </a:pPr>
            <a:r>
              <a:rPr b="0" i="0" lang="es" sz="1300" u="none" cap="none" strike="noStrike">
                <a:solidFill>
                  <a:srgbClr val="171717"/>
                </a:solidFill>
                <a:latin typeface="Plus Jakarta Sans Light"/>
                <a:ea typeface="Plus Jakarta Sans Light"/>
                <a:cs typeface="Plus Jakarta Sans Light"/>
                <a:sym typeface="Plus Jakarta Sans Light"/>
              </a:rPr>
              <a:t>Abrir el AI Agent en modo Tools Agent.</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200"/>
              </a:spcBef>
              <a:spcAft>
                <a:spcPts val="0"/>
              </a:spcAft>
              <a:buClr>
                <a:srgbClr val="FF632B"/>
              </a:buClr>
              <a:buSzPts val="1170"/>
              <a:buFont typeface="Plus Jakarta Sans"/>
              <a:buChar char="•"/>
            </a:pPr>
            <a:r>
              <a:rPr b="0" i="0" lang="es" sz="1300" u="none" cap="none" strike="noStrike">
                <a:solidFill>
                  <a:srgbClr val="171717"/>
                </a:solidFill>
                <a:latin typeface="Plus Jakarta Sans Light"/>
                <a:ea typeface="Plus Jakarta Sans Light"/>
                <a:cs typeface="Plus Jakarta Sans Light"/>
                <a:sym typeface="Plus Jakarta Sans Light"/>
              </a:rPr>
              <a:t>Acoplar el Vector Store Retrieve Tool con la credencial de la academia.</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200"/>
              </a:spcBef>
              <a:spcAft>
                <a:spcPts val="0"/>
              </a:spcAft>
              <a:buClr>
                <a:srgbClr val="FF632B"/>
              </a:buClr>
              <a:buSzPts val="1170"/>
              <a:buFont typeface="Plus Jakarta Sans"/>
              <a:buChar char="•"/>
            </a:pPr>
            <a:r>
              <a:rPr b="0" i="0" lang="es" sz="1300" u="none" cap="none" strike="noStrike">
                <a:solidFill>
                  <a:srgbClr val="171717"/>
                </a:solidFill>
                <a:latin typeface="Plus Jakarta Sans Light"/>
                <a:ea typeface="Plus Jakarta Sans Light"/>
                <a:cs typeface="Plus Jakarta Sans Light"/>
                <a:sym typeface="Plus Jakarta Sans Light"/>
              </a:rPr>
              <a:t>Escribir una descripción semántica clara de cuándo usarla.</a:t>
            </a:r>
            <a:endParaRPr b="0" i="0" sz="1300" u="none" cap="none" strike="noStrike">
              <a:solidFill>
                <a:srgbClr val="171717"/>
              </a:solidFill>
              <a:latin typeface="Plus Jakarta Sans Light"/>
              <a:ea typeface="Plus Jakarta Sans Light"/>
              <a:cs typeface="Plus Jakarta Sans Light"/>
              <a:sym typeface="Plus Jakarta Sans Light"/>
            </a:endParaRPr>
          </a:p>
          <a:p>
            <a:pPr indent="0" lvl="0" marL="0" marR="0" rtl="0" algn="l">
              <a:lnSpc>
                <a:spcPct val="112000"/>
              </a:lnSpc>
              <a:spcBef>
                <a:spcPts val="200"/>
              </a:spcBef>
              <a:spcAft>
                <a:spcPts val="0"/>
              </a:spcAft>
              <a:buClr>
                <a:srgbClr val="000000"/>
              </a:buClr>
              <a:buSzPts val="1300"/>
              <a:buFont typeface="Arial"/>
              <a:buNone/>
            </a:pPr>
            <a:r>
              <a:rPr b="0" i="0" lang="es" sz="1300" u="none" cap="none" strike="noStrike">
                <a:solidFill>
                  <a:srgbClr val="FF632B"/>
                </a:solidFill>
                <a:latin typeface="Plus Jakarta Sans ExtraBold"/>
                <a:ea typeface="Plus Jakarta Sans ExtraBold"/>
                <a:cs typeface="Plus Jakarta Sans ExtraBold"/>
                <a:sym typeface="Plus Jakarta Sans ExtraBold"/>
              </a:rPr>
              <a:t>Resultado esperado: </a:t>
            </a:r>
            <a:r>
              <a:rPr b="0" i="0" lang="es" sz="1300" u="none" cap="none" strike="noStrike">
                <a:solidFill>
                  <a:srgbClr val="171717"/>
                </a:solidFill>
                <a:latin typeface="Plus Jakarta Sans Light"/>
                <a:ea typeface="Plus Jakarta Sans Light"/>
                <a:cs typeface="Plus Jakarta Sans Light"/>
                <a:sym typeface="Plus Jakarta Sans Light"/>
              </a:rPr>
              <a:t>un agente que sabe cuándo consultar los manuales.</a:t>
            </a:r>
            <a:endParaRPr b="0" i="0" sz="1300" u="none" cap="none" strike="noStrike">
              <a:solidFill>
                <a:srgbClr val="171717"/>
              </a:solidFill>
              <a:latin typeface="Plus Jakarta Sans Light"/>
              <a:ea typeface="Plus Jakarta Sans Light"/>
              <a:cs typeface="Plus Jakarta Sans Light"/>
              <a:sym typeface="Plus Jakarta Sans Light"/>
            </a:endParaRPr>
          </a:p>
        </p:txBody>
      </p:sp>
      <p:sp>
        <p:nvSpPr>
          <p:cNvPr id="331" name="Google Shape;331;p30"/>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600"/>
              <a:buFont typeface="Arial"/>
              <a:buNone/>
            </a:pPr>
            <a:r>
              <a:rPr b="0" i="0" lang="es" sz="2600" u="none" cap="none" strike="noStrike">
                <a:solidFill>
                  <a:srgbClr val="FF632B"/>
                </a:solidFill>
                <a:latin typeface="Plus Jakarta Sans ExtraBold"/>
                <a:ea typeface="Plus Jakarta Sans ExtraBold"/>
                <a:cs typeface="Plus Jakarta Sans ExtraBold"/>
                <a:sym typeface="Plus Jakarta Sans ExtraBold"/>
              </a:rPr>
              <a:t>Paso 3: conectar la herramienta</a:t>
            </a:r>
            <a:endParaRPr b="0" i="0" sz="26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332" name="Google Shape;332;p30"/>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Vector Store Retrieve Tool</a:t>
            </a:r>
            <a:endParaRPr b="0" i="0" sz="20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31"/>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2000"/>
              </a:lnSpc>
              <a:spcBef>
                <a:spcPts val="0"/>
              </a:spcBef>
              <a:spcAft>
                <a:spcPts val="0"/>
              </a:spcAft>
              <a:buClr>
                <a:srgbClr val="000000"/>
              </a:buClr>
              <a:buSzPts val="1300"/>
              <a:buFont typeface="Arial"/>
              <a:buNone/>
            </a:pPr>
            <a:r>
              <a:rPr b="0" i="0" lang="es" sz="1300" u="none" cap="none" strike="noStrike">
                <a:solidFill>
                  <a:srgbClr val="171717"/>
                </a:solidFill>
                <a:latin typeface="Plus Jakarta Sans ExtraBold"/>
                <a:ea typeface="Plus Jakarta Sans ExtraBold"/>
                <a:cs typeface="Plus Jakarta Sans ExtraBold"/>
                <a:sym typeface="Plus Jakarta Sans ExtraBold"/>
              </a:rPr>
              <a:t>Objetivo: </a:t>
            </a:r>
            <a:r>
              <a:rPr b="0" i="0" lang="es" sz="1300" u="none" cap="none" strike="noStrike">
                <a:solidFill>
                  <a:srgbClr val="171717"/>
                </a:solidFill>
                <a:latin typeface="Plus Jakarta Sans Light"/>
                <a:ea typeface="Plus Jakarta Sans Light"/>
                <a:cs typeface="Plus Jakarta Sans Light"/>
                <a:sym typeface="Plus Jakarta Sans Light"/>
              </a:rPr>
              <a:t>equilibrar precisión y costo.</a:t>
            </a:r>
            <a:endParaRPr b="0" i="0" sz="1300" u="none" cap="none" strike="noStrike">
              <a:solidFill>
                <a:srgbClr val="171717"/>
              </a:solidFill>
              <a:latin typeface="Plus Jakarta Sans Light"/>
              <a:ea typeface="Plus Jakarta Sans Light"/>
              <a:cs typeface="Plus Jakarta Sans Light"/>
              <a:sym typeface="Plus Jakarta Sans Light"/>
            </a:endParaRPr>
          </a:p>
          <a:p>
            <a:pPr indent="0" lvl="0" marL="0" marR="0" rtl="0" algn="l">
              <a:lnSpc>
                <a:spcPct val="112000"/>
              </a:lnSpc>
              <a:spcBef>
                <a:spcPts val="300"/>
              </a:spcBef>
              <a:spcAft>
                <a:spcPts val="0"/>
              </a:spcAft>
              <a:buClr>
                <a:srgbClr val="000000"/>
              </a:buClr>
              <a:buSzPts val="1300"/>
              <a:buFont typeface="Arial"/>
              <a:buNone/>
            </a:pPr>
            <a:r>
              <a:rPr b="0" i="0" lang="es" sz="1300" u="none" cap="none" strike="noStrike">
                <a:solidFill>
                  <a:srgbClr val="FF632B"/>
                </a:solidFill>
                <a:latin typeface="Plus Jakarta Sans ExtraBold"/>
                <a:ea typeface="Plus Jakarta Sans ExtraBold"/>
                <a:cs typeface="Plus Jakarta Sans ExtraBold"/>
                <a:sym typeface="Plus Jakarta Sans ExtraBold"/>
              </a:rPr>
              <a:t>Durante este paso vamos a:</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200"/>
              </a:spcBef>
              <a:spcAft>
                <a:spcPts val="0"/>
              </a:spcAft>
              <a:buClr>
                <a:srgbClr val="FF632B"/>
              </a:buClr>
              <a:buSzPts val="1170"/>
              <a:buFont typeface="Plus Jakarta Sans"/>
              <a:buChar char="•"/>
            </a:pPr>
            <a:r>
              <a:rPr b="0" i="0" lang="es" sz="1300" u="none" cap="none" strike="noStrike">
                <a:solidFill>
                  <a:srgbClr val="171717"/>
                </a:solidFill>
                <a:latin typeface="Plus Jakarta Sans Light"/>
                <a:ea typeface="Plus Jakarta Sans Light"/>
                <a:cs typeface="Plus Jakarta Sans Light"/>
                <a:sym typeface="Plus Jakarta Sans Light"/>
              </a:rPr>
              <a:t>Fijar Top-K entre 3 y 5 fragmentos.</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200"/>
              </a:spcBef>
              <a:spcAft>
                <a:spcPts val="0"/>
              </a:spcAft>
              <a:buClr>
                <a:srgbClr val="FF632B"/>
              </a:buClr>
              <a:buSzPts val="1170"/>
              <a:buFont typeface="Plus Jakarta Sans"/>
              <a:buChar char="•"/>
            </a:pPr>
            <a:r>
              <a:rPr b="0" i="0" lang="es" sz="1300" u="none" cap="none" strike="noStrike">
                <a:solidFill>
                  <a:srgbClr val="171717"/>
                </a:solidFill>
                <a:latin typeface="Plus Jakarta Sans Light"/>
                <a:ea typeface="Plus Jakarta Sans Light"/>
                <a:cs typeface="Plus Jakarta Sans Light"/>
                <a:sym typeface="Plus Jakarta Sans Light"/>
              </a:rPr>
              <a:t>Ajustar el Minimum Score en un umbral intermedio.</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200"/>
              </a:spcBef>
              <a:spcAft>
                <a:spcPts val="0"/>
              </a:spcAft>
              <a:buClr>
                <a:srgbClr val="FF632B"/>
              </a:buClr>
              <a:buSzPts val="1170"/>
              <a:buFont typeface="Plus Jakarta Sans"/>
              <a:buChar char="•"/>
            </a:pPr>
            <a:r>
              <a:rPr b="0" i="0" lang="es" sz="1300" u="none" cap="none" strike="noStrike">
                <a:solidFill>
                  <a:srgbClr val="171717"/>
                </a:solidFill>
                <a:latin typeface="Plus Jakarta Sans Light"/>
                <a:ea typeface="Plus Jakarta Sans Light"/>
                <a:cs typeface="Plus Jakarta Sans Light"/>
                <a:sym typeface="Plus Jakarta Sans Light"/>
              </a:rPr>
              <a:t>Probar con sinónimos y lenguaje informal.</a:t>
            </a:r>
            <a:endParaRPr b="0" i="0" sz="1300" u="none" cap="none" strike="noStrike">
              <a:solidFill>
                <a:srgbClr val="171717"/>
              </a:solidFill>
              <a:latin typeface="Plus Jakarta Sans Light"/>
              <a:ea typeface="Plus Jakarta Sans Light"/>
              <a:cs typeface="Plus Jakarta Sans Light"/>
              <a:sym typeface="Plus Jakarta Sans Light"/>
            </a:endParaRPr>
          </a:p>
          <a:p>
            <a:pPr indent="0" lvl="0" marL="0" marR="0" rtl="0" algn="l">
              <a:lnSpc>
                <a:spcPct val="112000"/>
              </a:lnSpc>
              <a:spcBef>
                <a:spcPts val="200"/>
              </a:spcBef>
              <a:spcAft>
                <a:spcPts val="0"/>
              </a:spcAft>
              <a:buClr>
                <a:srgbClr val="000000"/>
              </a:buClr>
              <a:buSzPts val="1300"/>
              <a:buFont typeface="Arial"/>
              <a:buNone/>
            </a:pPr>
            <a:r>
              <a:rPr b="0" i="0" lang="es" sz="1300" u="none" cap="none" strike="noStrike">
                <a:solidFill>
                  <a:srgbClr val="FF632B"/>
                </a:solidFill>
                <a:latin typeface="Plus Jakarta Sans ExtraBold"/>
                <a:ea typeface="Plus Jakarta Sans ExtraBold"/>
                <a:cs typeface="Plus Jakarta Sans ExtraBold"/>
                <a:sym typeface="Plus Jakarta Sans ExtraBold"/>
              </a:rPr>
              <a:t>Resultado esperado: </a:t>
            </a:r>
            <a:r>
              <a:rPr b="0" i="0" lang="es" sz="1300" u="none" cap="none" strike="noStrike">
                <a:solidFill>
                  <a:srgbClr val="171717"/>
                </a:solidFill>
                <a:latin typeface="Plus Jakarta Sans Light"/>
                <a:ea typeface="Plus Jakarta Sans Light"/>
                <a:cs typeface="Plus Jakarta Sans Light"/>
                <a:sym typeface="Plus Jakarta Sans Light"/>
              </a:rPr>
              <a:t>una recuperación precisa y sin texto redundante.</a:t>
            </a:r>
            <a:endParaRPr b="0" i="0" sz="1300" u="none" cap="none" strike="noStrike">
              <a:solidFill>
                <a:srgbClr val="171717"/>
              </a:solidFill>
              <a:latin typeface="Plus Jakarta Sans Light"/>
              <a:ea typeface="Plus Jakarta Sans Light"/>
              <a:cs typeface="Plus Jakarta Sans Light"/>
              <a:sym typeface="Plus Jakarta Sans Light"/>
            </a:endParaRPr>
          </a:p>
        </p:txBody>
      </p:sp>
      <p:sp>
        <p:nvSpPr>
          <p:cNvPr id="338" name="Google Shape;338;p31"/>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600"/>
              <a:buFont typeface="Arial"/>
              <a:buNone/>
            </a:pPr>
            <a:r>
              <a:rPr b="0" i="0" lang="es" sz="2600" u="none" cap="none" strike="noStrike">
                <a:solidFill>
                  <a:srgbClr val="FF632B"/>
                </a:solidFill>
                <a:latin typeface="Plus Jakarta Sans ExtraBold"/>
                <a:ea typeface="Plus Jakarta Sans ExtraBold"/>
                <a:cs typeface="Plus Jakarta Sans ExtraBold"/>
                <a:sym typeface="Plus Jakarta Sans ExtraBold"/>
              </a:rPr>
              <a:t>Paso 4: calibrar la recuperación</a:t>
            </a:r>
            <a:endParaRPr b="0" i="0" sz="26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339" name="Google Shape;339;p31"/>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Top-K y Minimum Score</a:t>
            </a:r>
            <a:endParaRPr b="0" i="0" sz="20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32"/>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2000"/>
              </a:lnSpc>
              <a:spcBef>
                <a:spcPts val="0"/>
              </a:spcBef>
              <a:spcAft>
                <a:spcPts val="0"/>
              </a:spcAft>
              <a:buClr>
                <a:srgbClr val="000000"/>
              </a:buClr>
              <a:buSzPts val="1300"/>
              <a:buFont typeface="Arial"/>
              <a:buNone/>
            </a:pPr>
            <a:r>
              <a:rPr b="0" i="0" lang="es" sz="1300" u="none" cap="none" strike="noStrike">
                <a:solidFill>
                  <a:srgbClr val="171717"/>
                </a:solidFill>
                <a:latin typeface="Plus Jakarta Sans ExtraBold"/>
                <a:ea typeface="Plus Jakarta Sans ExtraBold"/>
                <a:cs typeface="Plus Jakarta Sans ExtraBold"/>
                <a:sym typeface="Plus Jakarta Sans ExtraBold"/>
              </a:rPr>
              <a:t>Objetivo: </a:t>
            </a:r>
            <a:r>
              <a:rPr b="0" i="0" lang="es" sz="1300" u="none" cap="none" strike="noStrike">
                <a:solidFill>
                  <a:srgbClr val="171717"/>
                </a:solidFill>
                <a:latin typeface="Plus Jakarta Sans Light"/>
                <a:ea typeface="Plus Jakarta Sans Light"/>
                <a:cs typeface="Plus Jakarta Sans Light"/>
                <a:sym typeface="Plus Jakarta Sans Light"/>
              </a:rPr>
              <a:t>blindar contra alucinaciones y documentar.</a:t>
            </a:r>
            <a:endParaRPr b="0" i="0" sz="1300" u="none" cap="none" strike="noStrike">
              <a:solidFill>
                <a:srgbClr val="171717"/>
              </a:solidFill>
              <a:latin typeface="Plus Jakarta Sans Light"/>
              <a:ea typeface="Plus Jakarta Sans Light"/>
              <a:cs typeface="Plus Jakarta Sans Light"/>
              <a:sym typeface="Plus Jakarta Sans Light"/>
            </a:endParaRPr>
          </a:p>
          <a:p>
            <a:pPr indent="0" lvl="0" marL="0" marR="0" rtl="0" algn="l">
              <a:lnSpc>
                <a:spcPct val="112000"/>
              </a:lnSpc>
              <a:spcBef>
                <a:spcPts val="300"/>
              </a:spcBef>
              <a:spcAft>
                <a:spcPts val="0"/>
              </a:spcAft>
              <a:buClr>
                <a:srgbClr val="000000"/>
              </a:buClr>
              <a:buSzPts val="1300"/>
              <a:buFont typeface="Arial"/>
              <a:buNone/>
            </a:pPr>
            <a:r>
              <a:rPr b="0" i="0" lang="es" sz="1300" u="none" cap="none" strike="noStrike">
                <a:solidFill>
                  <a:srgbClr val="FF632B"/>
                </a:solidFill>
                <a:latin typeface="Plus Jakarta Sans ExtraBold"/>
                <a:ea typeface="Plus Jakarta Sans ExtraBold"/>
                <a:cs typeface="Plus Jakarta Sans ExtraBold"/>
                <a:sym typeface="Plus Jakarta Sans ExtraBold"/>
              </a:rPr>
              <a:t>Durante este paso vamos a:</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200"/>
              </a:spcBef>
              <a:spcAft>
                <a:spcPts val="0"/>
              </a:spcAft>
              <a:buClr>
                <a:srgbClr val="FF632B"/>
              </a:buClr>
              <a:buSzPts val="1170"/>
              <a:buFont typeface="Plus Jakarta Sans"/>
              <a:buChar char="•"/>
            </a:pPr>
            <a:r>
              <a:rPr b="0" i="0" lang="es" sz="1300" u="none" cap="none" strike="noStrike">
                <a:solidFill>
                  <a:srgbClr val="171717"/>
                </a:solidFill>
                <a:latin typeface="Plus Jakarta Sans Light"/>
                <a:ea typeface="Plus Jakarta Sans Light"/>
                <a:cs typeface="Plus Jakarta Sans Light"/>
                <a:sym typeface="Plus Jakarta Sans Light"/>
              </a:rPr>
              <a:t>Escribir el System Prompt con la regla 'No sé' y la citación [Manual: X].</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200"/>
              </a:spcBef>
              <a:spcAft>
                <a:spcPts val="0"/>
              </a:spcAft>
              <a:buClr>
                <a:srgbClr val="FF632B"/>
              </a:buClr>
              <a:buSzPts val="1170"/>
              <a:buFont typeface="Plus Jakarta Sans"/>
              <a:buChar char="•"/>
            </a:pPr>
            <a:r>
              <a:rPr b="0" i="0" lang="es" sz="1300" u="none" cap="none" strike="noStrike">
                <a:solidFill>
                  <a:srgbClr val="171717"/>
                </a:solidFill>
                <a:latin typeface="Plus Jakarta Sans Light"/>
                <a:ea typeface="Plus Jakarta Sans Light"/>
                <a:cs typeface="Plus Jakarta Sans Light"/>
                <a:sym typeface="Plus Jakarta Sans Light"/>
              </a:rPr>
              <a:t>Correr un testeo ciego de 5 preguntas con sinónimos.</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200"/>
              </a:spcBef>
              <a:spcAft>
                <a:spcPts val="0"/>
              </a:spcAft>
              <a:buClr>
                <a:srgbClr val="FF632B"/>
              </a:buClr>
              <a:buSzPts val="1170"/>
              <a:buFont typeface="Plus Jakarta Sans"/>
              <a:buChar char="•"/>
            </a:pPr>
            <a:r>
              <a:rPr b="0" i="0" lang="es" sz="1300" u="none" cap="none" strike="noStrike">
                <a:solidFill>
                  <a:srgbClr val="171717"/>
                </a:solidFill>
                <a:latin typeface="Plus Jakarta Sans Light"/>
                <a:ea typeface="Plus Jakarta Sans Light"/>
                <a:cs typeface="Plus Jakarta Sans Light"/>
                <a:sym typeface="Plus Jakarta Sans Light"/>
              </a:rPr>
              <a:t>Documentar las métricas de precisión en un PDF.</a:t>
            </a:r>
            <a:endParaRPr b="0" i="0" sz="1300" u="none" cap="none" strike="noStrike">
              <a:solidFill>
                <a:srgbClr val="171717"/>
              </a:solidFill>
              <a:latin typeface="Plus Jakarta Sans Light"/>
              <a:ea typeface="Plus Jakarta Sans Light"/>
              <a:cs typeface="Plus Jakarta Sans Light"/>
              <a:sym typeface="Plus Jakarta Sans Light"/>
            </a:endParaRPr>
          </a:p>
          <a:p>
            <a:pPr indent="0" lvl="0" marL="0" marR="0" rtl="0" algn="l">
              <a:lnSpc>
                <a:spcPct val="112000"/>
              </a:lnSpc>
              <a:spcBef>
                <a:spcPts val="200"/>
              </a:spcBef>
              <a:spcAft>
                <a:spcPts val="0"/>
              </a:spcAft>
              <a:buClr>
                <a:srgbClr val="000000"/>
              </a:buClr>
              <a:buSzPts val="1300"/>
              <a:buFont typeface="Arial"/>
              <a:buNone/>
            </a:pPr>
            <a:r>
              <a:rPr b="0" i="0" lang="es" sz="1300" u="none" cap="none" strike="noStrike">
                <a:solidFill>
                  <a:srgbClr val="FF632B"/>
                </a:solidFill>
                <a:latin typeface="Plus Jakarta Sans ExtraBold"/>
                <a:ea typeface="Plus Jakarta Sans ExtraBold"/>
                <a:cs typeface="Plus Jakarta Sans ExtraBold"/>
                <a:sym typeface="Plus Jakarta Sans ExtraBold"/>
              </a:rPr>
              <a:t>Resultado esperado: </a:t>
            </a:r>
            <a:r>
              <a:rPr b="0" i="0" lang="es" sz="1300" u="none" cap="none" strike="noStrike">
                <a:solidFill>
                  <a:srgbClr val="171717"/>
                </a:solidFill>
                <a:latin typeface="Plus Jakarta Sans Light"/>
                <a:ea typeface="Plus Jakarta Sans Light"/>
                <a:cs typeface="Plus Jakarta Sans Light"/>
                <a:sym typeface="Plus Jakarta Sans Light"/>
              </a:rPr>
              <a:t>esta documentación ES tu Pre-entrega 5.</a:t>
            </a:r>
            <a:endParaRPr b="0" i="0" sz="1300" u="none" cap="none" strike="noStrike">
              <a:solidFill>
                <a:srgbClr val="171717"/>
              </a:solidFill>
              <a:latin typeface="Plus Jakarta Sans Light"/>
              <a:ea typeface="Plus Jakarta Sans Light"/>
              <a:cs typeface="Plus Jakarta Sans Light"/>
              <a:sym typeface="Plus Jakarta Sans Light"/>
            </a:endParaRPr>
          </a:p>
        </p:txBody>
      </p:sp>
      <p:sp>
        <p:nvSpPr>
          <p:cNvPr id="345" name="Google Shape;345;p32"/>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600"/>
              <a:buFont typeface="Arial"/>
              <a:buNone/>
            </a:pPr>
            <a:r>
              <a:rPr b="0" i="0" lang="es" sz="2600" u="none" cap="none" strike="noStrike">
                <a:solidFill>
                  <a:srgbClr val="FF632B"/>
                </a:solidFill>
                <a:latin typeface="Plus Jakarta Sans ExtraBold"/>
                <a:ea typeface="Plus Jakarta Sans ExtraBold"/>
                <a:cs typeface="Plus Jakarta Sans ExtraBold"/>
                <a:sym typeface="Plus Jakarta Sans ExtraBold"/>
              </a:rPr>
              <a:t>Paso 5: prompt, test y entrega</a:t>
            </a:r>
            <a:endParaRPr b="0" i="0" sz="26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346" name="Google Shape;346;p32"/>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Contingencia y validación</a:t>
            </a:r>
            <a:endParaRPr b="0" i="0" sz="20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33"/>
          <p:cNvSpPr txBox="1"/>
          <p:nvPr/>
        </p:nvSpPr>
        <p:spPr>
          <a:xfrm>
            <a:off x="6180025" y="314075"/>
            <a:ext cx="2630700" cy="171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0"/>
              <a:buFont typeface="Arial"/>
              <a:buNone/>
            </a:pPr>
            <a:r>
              <a:rPr b="0" i="0" lang="es" sz="13000" u="none" cap="none" strike="noStrike">
                <a:solidFill>
                  <a:srgbClr val="FF632B"/>
                </a:solidFill>
                <a:latin typeface="Plus Jakarta Sans ExtraBold"/>
                <a:ea typeface="Plus Jakarta Sans ExtraBold"/>
                <a:cs typeface="Plus Jakarta Sans ExtraBold"/>
                <a:sym typeface="Plus Jakarta Sans ExtraBold"/>
              </a:rPr>
              <a:t>05</a:t>
            </a:r>
            <a:endParaRPr b="0" i="0" sz="13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352" name="Google Shape;352;p33"/>
          <p:cNvSpPr txBox="1"/>
          <p:nvPr/>
        </p:nvSpPr>
        <p:spPr>
          <a:xfrm>
            <a:off x="641650" y="3337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rPr b="0" i="0" lang="es" sz="4800" u="none" cap="none" strike="noStrike">
                <a:solidFill>
                  <a:srgbClr val="F8F2E8"/>
                </a:solidFill>
                <a:latin typeface="Plus Jakarta Sans ExtraBold"/>
                <a:ea typeface="Plus Jakarta Sans ExtraBold"/>
                <a:cs typeface="Plus Jakarta Sans ExtraBold"/>
                <a:sym typeface="Plus Jakarta Sans ExtraBold"/>
              </a:rPr>
              <a:t>Pre-entrega 5</a:t>
            </a:r>
            <a:endParaRPr b="0" i="0" sz="48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34"/>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228600" lvl="0" marL="228600" marR="0" rtl="0" algn="l">
              <a:lnSpc>
                <a:spcPct val="112000"/>
              </a:lnSpc>
              <a:spcBef>
                <a:spcPts val="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Conectás un documento maestro real </a:t>
            </a:r>
            <a:r>
              <a:rPr b="0" i="0" lang="es" sz="1300" u="none" cap="none" strike="noStrike">
                <a:solidFill>
                  <a:srgbClr val="171717"/>
                </a:solidFill>
                <a:latin typeface="Plus Jakarta Sans Light"/>
                <a:ea typeface="Plus Jakarta Sans Light"/>
                <a:cs typeface="Plus Jakarta Sans Light"/>
                <a:sym typeface="Plus Jakarta Sans Light"/>
              </a:rPr>
              <a:t>de la empresa al agente autónomo.</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Calibrás la recuperación </a:t>
            </a:r>
            <a:r>
              <a:rPr b="0" i="0" lang="es" sz="1300" u="none" cap="none" strike="noStrike">
                <a:solidFill>
                  <a:srgbClr val="171717"/>
                </a:solidFill>
                <a:latin typeface="Plus Jakarta Sans Light"/>
                <a:ea typeface="Plus Jakarta Sans Light"/>
                <a:cs typeface="Plus Jakarta Sans Light"/>
                <a:sym typeface="Plus Jakarta Sans Light"/>
              </a:rPr>
              <a:t>y blindás las respuestas contra alucinaciones.</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52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El objetivo: </a:t>
            </a:r>
            <a:r>
              <a:rPr b="0" i="0" lang="es" sz="1300" u="none" cap="none" strike="noStrike">
                <a:solidFill>
                  <a:srgbClr val="171717"/>
                </a:solidFill>
                <a:latin typeface="Plus Jakarta Sans Light"/>
                <a:ea typeface="Plus Jakarta Sans Light"/>
                <a:cs typeface="Plus Jakarta Sans Light"/>
                <a:sym typeface="Plus Jakarta Sans Light"/>
              </a:rPr>
              <a:t>que el agente hable siempre con la verdad institucional aprobada.</a:t>
            </a:r>
            <a:endParaRPr b="0" i="0" sz="1300" u="none" cap="none" strike="noStrike">
              <a:solidFill>
                <a:srgbClr val="171717"/>
              </a:solidFill>
              <a:latin typeface="Plus Jakarta Sans Light"/>
              <a:ea typeface="Plus Jakarta Sans Light"/>
              <a:cs typeface="Plus Jakarta Sans Light"/>
              <a:sym typeface="Plus Jakarta Sans Light"/>
            </a:endParaRPr>
          </a:p>
        </p:txBody>
      </p:sp>
      <p:sp>
        <p:nvSpPr>
          <p:cNvPr id="358" name="Google Shape;358;p34"/>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0" i="0" lang="es" sz="4000" u="none" cap="none" strike="noStrike">
                <a:solidFill>
                  <a:srgbClr val="FF632B"/>
                </a:solidFill>
                <a:latin typeface="Plus Jakarta Sans ExtraBold"/>
                <a:ea typeface="Plus Jakarta Sans ExtraBold"/>
                <a:cs typeface="Plus Jakarta Sans ExtraBold"/>
                <a:sym typeface="Plus Jakarta Sans ExtraBold"/>
              </a:rPr>
              <a:t>¿De qué se trata?</a:t>
            </a:r>
            <a:endParaRPr b="0" i="0" sz="4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359" name="Google Shape;359;p34"/>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Un agente con conocimiento organizacional</a:t>
            </a:r>
            <a:endParaRPr b="0" i="0" sz="20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35"/>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228600" lvl="0" marL="228600" marR="0" rtl="0" algn="l">
              <a:lnSpc>
                <a:spcPct val="112000"/>
              </a:lnSpc>
              <a:spcBef>
                <a:spcPts val="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Documento maestro en LlamaCloud </a:t>
            </a:r>
            <a:r>
              <a:rPr b="0" i="0" lang="es" sz="1300" u="none" cap="none" strike="noStrike">
                <a:solidFill>
                  <a:srgbClr val="171717"/>
                </a:solidFill>
                <a:latin typeface="Plus Jakarta Sans Light"/>
                <a:ea typeface="Plus Jakarta Sans Light"/>
                <a:cs typeface="Plus Jakarta Sans Light"/>
                <a:sym typeface="Plus Jakarta Sans Light"/>
              </a:rPr>
              <a:t>curado, limpio y bien fragmentado.</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Vector Store Retrieve Tool </a:t>
            </a:r>
            <a:r>
              <a:rPr b="0" i="0" lang="es" sz="1300" u="none" cap="none" strike="noStrike">
                <a:solidFill>
                  <a:srgbClr val="171717"/>
                </a:solidFill>
                <a:latin typeface="Plus Jakarta Sans Light"/>
                <a:ea typeface="Plus Jakarta Sans Light"/>
                <a:cs typeface="Plus Jakarta Sans Light"/>
                <a:sym typeface="Plus Jakarta Sans Light"/>
              </a:rPr>
              <a:t>con Top-K y Minimum Score calibrados.</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System Prompt </a:t>
            </a:r>
            <a:r>
              <a:rPr b="0" i="0" lang="es" sz="1300" u="none" cap="none" strike="noStrike">
                <a:solidFill>
                  <a:srgbClr val="171717"/>
                </a:solidFill>
                <a:latin typeface="Plus Jakarta Sans Light"/>
                <a:ea typeface="Plus Jakarta Sans Light"/>
                <a:cs typeface="Plus Jakarta Sans Light"/>
                <a:sym typeface="Plus Jakarta Sans Light"/>
              </a:rPr>
              <a:t>con contingencia 'No sé' y citación de fuentes.</a:t>
            </a:r>
            <a:endParaRPr b="0" i="0" sz="1300" u="none" cap="none" strike="noStrike">
              <a:solidFill>
                <a:srgbClr val="171717"/>
              </a:solidFill>
              <a:latin typeface="Plus Jakarta Sans Light"/>
              <a:ea typeface="Plus Jakarta Sans Light"/>
              <a:cs typeface="Plus Jakarta Sans Light"/>
              <a:sym typeface="Plus Jakarta Sans Light"/>
            </a:endParaRPr>
          </a:p>
          <a:p>
            <a:pPr indent="0" lvl="0" marL="0" marR="0" rtl="0" algn="l">
              <a:lnSpc>
                <a:spcPct val="112000"/>
              </a:lnSpc>
              <a:spcBef>
                <a:spcPts val="520"/>
              </a:spcBef>
              <a:spcAft>
                <a:spcPts val="0"/>
              </a:spcAft>
              <a:buClr>
                <a:srgbClr val="000000"/>
              </a:buClr>
              <a:buSzPts val="1300"/>
              <a:buFont typeface="Arial"/>
              <a:buNone/>
            </a:pPr>
            <a:r>
              <a:rPr b="0" i="0" lang="es" sz="1300" u="none" cap="none" strike="noStrike">
                <a:solidFill>
                  <a:srgbClr val="FF632B"/>
                </a:solidFill>
                <a:latin typeface="Plus Jakarta Sans ExtraBold"/>
                <a:ea typeface="Plus Jakarta Sans ExtraBold"/>
                <a:cs typeface="Plus Jakarta Sans ExtraBold"/>
                <a:sym typeface="Plus Jakarta Sans ExtraBold"/>
              </a:rPr>
              <a:t>Entrega: </a:t>
            </a:r>
            <a:r>
              <a:rPr b="0" i="0" lang="es" sz="1300" u="none" cap="none" strike="noStrike">
                <a:solidFill>
                  <a:srgbClr val="171717"/>
                </a:solidFill>
                <a:latin typeface="Plus Jakarta Sans Light"/>
                <a:ea typeface="Plus Jakarta Sans Light"/>
                <a:cs typeface="Plus Jakarta Sans Light"/>
                <a:sym typeface="Plus Jakarta Sans Light"/>
              </a:rPr>
              <a:t>PDF con el reporte de 5 preguntas, el prompt RAG y el plan de gobernanza.</a:t>
            </a:r>
            <a:endParaRPr b="0" i="0" sz="1300" u="none" cap="none" strike="noStrike">
              <a:solidFill>
                <a:srgbClr val="171717"/>
              </a:solidFill>
              <a:latin typeface="Plus Jakarta Sans Light"/>
              <a:ea typeface="Plus Jakarta Sans Light"/>
              <a:cs typeface="Plus Jakarta Sans Light"/>
              <a:sym typeface="Plus Jakarta Sans Light"/>
            </a:endParaRPr>
          </a:p>
        </p:txBody>
      </p:sp>
      <p:sp>
        <p:nvSpPr>
          <p:cNvPr id="365" name="Google Shape;365;p35"/>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0" i="0" lang="es" sz="4000" u="none" cap="none" strike="noStrike">
                <a:solidFill>
                  <a:srgbClr val="FF632B"/>
                </a:solidFill>
                <a:latin typeface="Plus Jakarta Sans ExtraBold"/>
                <a:ea typeface="Plus Jakarta Sans ExtraBold"/>
                <a:cs typeface="Plus Jakarta Sans ExtraBold"/>
                <a:sym typeface="Plus Jakarta Sans ExtraBold"/>
              </a:rPr>
              <a:t>Tu misión</a:t>
            </a:r>
            <a:endParaRPr b="0" i="0" sz="4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366" name="Google Shape;366;p35"/>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Construir el cerebro documental</a:t>
            </a:r>
            <a:endParaRPr b="0" i="0" sz="20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36"/>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228600" lvl="0" marL="228600" marR="0" rtl="0" algn="l">
              <a:lnSpc>
                <a:spcPct val="112000"/>
              </a:lnSpc>
              <a:spcBef>
                <a:spcPts val="0"/>
              </a:spcBef>
              <a:spcAft>
                <a:spcPts val="0"/>
              </a:spcAft>
              <a:buClr>
                <a:srgbClr val="FF632B"/>
              </a:buClr>
              <a:buSzPts val="1080"/>
              <a:buFont typeface="Plus Jakarta Sans"/>
              <a:buChar char="•"/>
            </a:pPr>
            <a:r>
              <a:rPr b="0" i="0" lang="es" sz="1200" u="none" cap="none" strike="noStrike">
                <a:solidFill>
                  <a:srgbClr val="171717"/>
                </a:solidFill>
                <a:latin typeface="Plus Jakarta Sans ExtraBold"/>
                <a:ea typeface="Plus Jakarta Sans ExtraBold"/>
                <a:cs typeface="Plus Jakarta Sans ExtraBold"/>
                <a:sym typeface="Plus Jakarta Sans ExtraBold"/>
              </a:rPr>
              <a:t>Precisión y contingencia — 40%: </a:t>
            </a:r>
            <a:r>
              <a:rPr b="0" i="0" lang="es" sz="1200" u="none" cap="none" strike="noStrike">
                <a:solidFill>
                  <a:srgbClr val="171717"/>
                </a:solidFill>
                <a:latin typeface="Plus Jakarta Sans Light"/>
                <a:ea typeface="Plus Jakarta Sans Light"/>
                <a:cs typeface="Plus Jakarta Sans Light"/>
                <a:sym typeface="Plus Jakarta Sans Light"/>
              </a:rPr>
              <a:t>reglas que fuerzan citar la fuente y responder 'No sé' ante vacíos.</a:t>
            </a:r>
            <a:endParaRPr b="0" i="0" sz="12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0"/>
              </a:spcAft>
              <a:buClr>
                <a:srgbClr val="FF632B"/>
              </a:buClr>
              <a:buSzPts val="1080"/>
              <a:buFont typeface="Plus Jakarta Sans"/>
              <a:buChar char="•"/>
            </a:pPr>
            <a:r>
              <a:rPr b="0" i="0" lang="es" sz="1200" u="none" cap="none" strike="noStrike">
                <a:solidFill>
                  <a:srgbClr val="171717"/>
                </a:solidFill>
                <a:latin typeface="Plus Jakarta Sans ExtraBold"/>
                <a:ea typeface="Plus Jakarta Sans ExtraBold"/>
                <a:cs typeface="Plus Jakarta Sans ExtraBold"/>
                <a:sym typeface="Plus Jakarta Sans ExtraBold"/>
              </a:rPr>
              <a:t>Calibración de recuperación — 25%: </a:t>
            </a:r>
            <a:r>
              <a:rPr b="0" i="0" lang="es" sz="1200" u="none" cap="none" strike="noStrike">
                <a:solidFill>
                  <a:srgbClr val="171717"/>
                </a:solidFill>
                <a:latin typeface="Plus Jakarta Sans Light"/>
                <a:ea typeface="Plus Jakarta Sans Light"/>
                <a:cs typeface="Plus Jakarta Sans Light"/>
                <a:sym typeface="Plus Jakarta Sans Light"/>
              </a:rPr>
              <a:t>Top-K y Minimum Score bien elegidos y justificados.</a:t>
            </a:r>
            <a:endParaRPr b="0" i="0" sz="12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0"/>
              </a:spcAft>
              <a:buClr>
                <a:srgbClr val="FF632B"/>
              </a:buClr>
              <a:buSzPts val="1080"/>
              <a:buFont typeface="Plus Jakarta Sans"/>
              <a:buChar char="•"/>
            </a:pPr>
            <a:r>
              <a:rPr b="0" i="0" lang="es" sz="1200" u="none" cap="none" strike="noStrike">
                <a:solidFill>
                  <a:srgbClr val="171717"/>
                </a:solidFill>
                <a:latin typeface="Plus Jakarta Sans ExtraBold"/>
                <a:ea typeface="Plus Jakarta Sans ExtraBold"/>
                <a:cs typeface="Plus Jakarta Sans ExtraBold"/>
                <a:sym typeface="Plus Jakarta Sans ExtraBold"/>
              </a:rPr>
              <a:t>Curaduría e ingesta — 20%: </a:t>
            </a:r>
            <a:r>
              <a:rPr b="0" i="0" lang="es" sz="1200" u="none" cap="none" strike="noStrike">
                <a:solidFill>
                  <a:srgbClr val="171717"/>
                </a:solidFill>
                <a:latin typeface="Plus Jakarta Sans Light"/>
                <a:ea typeface="Plus Jakarta Sans Light"/>
                <a:cs typeface="Plus Jakarta Sans Light"/>
                <a:sym typeface="Plus Jakarta Sans Light"/>
              </a:rPr>
              <a:t>archivos normalizados, limpios y bien estructurados.</a:t>
            </a:r>
            <a:endParaRPr b="0" i="0" sz="12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520"/>
              </a:spcAft>
              <a:buClr>
                <a:srgbClr val="FF632B"/>
              </a:buClr>
              <a:buSzPts val="1080"/>
              <a:buFont typeface="Plus Jakarta Sans"/>
              <a:buChar char="•"/>
            </a:pPr>
            <a:r>
              <a:rPr b="0" i="0" lang="es" sz="1200" u="none" cap="none" strike="noStrike">
                <a:solidFill>
                  <a:srgbClr val="171717"/>
                </a:solidFill>
                <a:latin typeface="Plus Jakarta Sans ExtraBold"/>
                <a:ea typeface="Plus Jakarta Sans ExtraBold"/>
                <a:cs typeface="Plus Jakarta Sans ExtraBold"/>
                <a:sym typeface="Plus Jakarta Sans ExtraBold"/>
              </a:rPr>
              <a:t>Reporte de validación — 15%: </a:t>
            </a:r>
            <a:r>
              <a:rPr b="0" i="0" lang="es" sz="1200" u="none" cap="none" strike="noStrike">
                <a:solidFill>
                  <a:srgbClr val="171717"/>
                </a:solidFill>
                <a:latin typeface="Plus Jakarta Sans Light"/>
                <a:ea typeface="Plus Jakarta Sans Light"/>
                <a:cs typeface="Plus Jakarta Sans Light"/>
                <a:sym typeface="Plus Jakarta Sans Light"/>
              </a:rPr>
              <a:t>las 5 preguntas, las respuestas y el análisis de precisión.</a:t>
            </a:r>
            <a:endParaRPr b="0" i="0" sz="1200" u="none" cap="none" strike="noStrike">
              <a:solidFill>
                <a:srgbClr val="171717"/>
              </a:solidFill>
              <a:latin typeface="Plus Jakarta Sans Light"/>
              <a:ea typeface="Plus Jakarta Sans Light"/>
              <a:cs typeface="Plus Jakarta Sans Light"/>
              <a:sym typeface="Plus Jakarta Sans Light"/>
            </a:endParaRPr>
          </a:p>
        </p:txBody>
      </p:sp>
      <p:sp>
        <p:nvSpPr>
          <p:cNvPr id="372" name="Google Shape;372;p36"/>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0" i="0" lang="es" sz="4000" u="none" cap="none" strike="noStrike">
                <a:solidFill>
                  <a:srgbClr val="FF632B"/>
                </a:solidFill>
                <a:latin typeface="Plus Jakarta Sans ExtraBold"/>
                <a:ea typeface="Plus Jakarta Sans ExtraBold"/>
                <a:cs typeface="Plus Jakarta Sans ExtraBold"/>
                <a:sym typeface="Plus Jakarta Sans ExtraBold"/>
              </a:rPr>
              <a:t>¿Cómo se evalúa?</a:t>
            </a:r>
            <a:endParaRPr b="0" i="0" sz="4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373" name="Google Shape;373;p36"/>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Rúbrica sobre 100 · Aprobás con 70</a:t>
            </a:r>
            <a:endParaRPr b="0" i="0" sz="20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37"/>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228600" lvl="0" marL="228600" marR="0" rtl="0" algn="l">
              <a:lnSpc>
                <a:spcPct val="112000"/>
              </a:lnSpc>
              <a:spcBef>
                <a:spcPts val="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Ya tenés: </a:t>
            </a:r>
            <a:r>
              <a:rPr b="0" i="0" lang="es" sz="1300" u="none" cap="none" strike="noStrike">
                <a:solidFill>
                  <a:srgbClr val="171717"/>
                </a:solidFill>
                <a:latin typeface="Plus Jakarta Sans Light"/>
                <a:ea typeface="Plus Jakarta Sans Light"/>
                <a:cs typeface="Plus Jakarta Sans Light"/>
                <a:sym typeface="Plus Jakarta Sans Light"/>
              </a:rPr>
              <a:t>un agente que lee y cita el conocimiento oficial de la empresa.</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Módulo 6: </a:t>
            </a:r>
            <a:r>
              <a:rPr b="0" i="0" lang="es" sz="1300" u="none" cap="none" strike="noStrike">
                <a:solidFill>
                  <a:srgbClr val="171717"/>
                </a:solidFill>
                <a:latin typeface="Plus Jakarta Sans Light"/>
                <a:ea typeface="Plus Jakarta Sans Light"/>
                <a:cs typeface="Plus Jakarta Sans Light"/>
                <a:sym typeface="Plus Jakarta Sans Light"/>
              </a:rPr>
              <a:t>Voice AI y Agentes Conversacionales.</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La conexión: </a:t>
            </a:r>
            <a:r>
              <a:rPr b="0" i="0" lang="es" sz="1300" u="none" cap="none" strike="noStrike">
                <a:solidFill>
                  <a:srgbClr val="171717"/>
                </a:solidFill>
                <a:latin typeface="Plus Jakarta Sans Light"/>
                <a:ea typeface="Plus Jakarta Sans Light"/>
                <a:cs typeface="Plus Jakarta Sans Light"/>
                <a:sym typeface="Plus Jakarta Sans Light"/>
              </a:rPr>
              <a:t>tu agente ya sabe y recuerda; ahora le vas a dar voz para hablar con el usuario.</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52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Para llevar: </a:t>
            </a:r>
            <a:r>
              <a:rPr b="0" i="0" lang="es" sz="1300" u="none" cap="none" strike="noStrike">
                <a:solidFill>
                  <a:srgbClr val="171717"/>
                </a:solidFill>
                <a:latin typeface="Plus Jakarta Sans Light"/>
                <a:ea typeface="Plus Jakarta Sans Light"/>
                <a:cs typeface="Plus Jakarta Sans Light"/>
                <a:sym typeface="Plus Jakarta Sans Light"/>
              </a:rPr>
              <a:t>en RAG, más documentos no es más inteligencia: es más ruido.</a:t>
            </a:r>
            <a:endParaRPr b="0" i="0" sz="1300" u="none" cap="none" strike="noStrike">
              <a:solidFill>
                <a:srgbClr val="171717"/>
              </a:solidFill>
              <a:latin typeface="Plus Jakarta Sans Light"/>
              <a:ea typeface="Plus Jakarta Sans Light"/>
              <a:cs typeface="Plus Jakarta Sans Light"/>
              <a:sym typeface="Plus Jakarta Sans Light"/>
            </a:endParaRPr>
          </a:p>
        </p:txBody>
      </p:sp>
      <p:sp>
        <p:nvSpPr>
          <p:cNvPr id="379" name="Google Shape;379;p37"/>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600"/>
              <a:buFont typeface="Arial"/>
              <a:buNone/>
            </a:pPr>
            <a:r>
              <a:rPr b="0" i="0" lang="es" sz="2600" u="none" cap="none" strike="noStrike">
                <a:solidFill>
                  <a:srgbClr val="FF632B"/>
                </a:solidFill>
                <a:latin typeface="Plus Jakarta Sans ExtraBold"/>
                <a:ea typeface="Plus Jakarta Sans ExtraBold"/>
                <a:cs typeface="Plus Jakarta Sans ExtraBold"/>
                <a:sym typeface="Plus Jakarta Sans ExtraBold"/>
              </a:rPr>
              <a:t>¿Cómo continúa el proyecto?</a:t>
            </a:r>
            <a:endParaRPr b="0" i="0" sz="26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380" name="Google Shape;380;p37"/>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Puente al Módulo 6</a:t>
            </a:r>
            <a:endParaRPr b="0" i="0" sz="20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38"/>
          <p:cNvSpPr txBox="1"/>
          <p:nvPr/>
        </p:nvSpPr>
        <p:spPr>
          <a:xfrm>
            <a:off x="739075" y="3510226"/>
            <a:ext cx="7815600" cy="2748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rPr b="0" i="0" lang="es" sz="1200" u="none" cap="none" strike="noStrike">
                <a:solidFill>
                  <a:srgbClr val="F8F2E8"/>
                </a:solidFill>
                <a:latin typeface="Plus Jakarta Sans Light"/>
                <a:ea typeface="Plus Jakarta Sans Light"/>
                <a:cs typeface="Plus Jakarta Sans Light"/>
                <a:sym typeface="Plus Jakarta Sans Light"/>
              </a:rPr>
              <a:t>Traé tu caso: qué documento de tu empresa convertirías en el cerebro del agente.</a:t>
            </a:r>
            <a:endParaRPr b="0" i="0" sz="1200" u="none" cap="none" strike="noStrike">
              <a:solidFill>
                <a:srgbClr val="F8F2E8"/>
              </a:solidFill>
              <a:latin typeface="Plus Jakarta Sans Light"/>
              <a:ea typeface="Plus Jakarta Sans Light"/>
              <a:cs typeface="Plus Jakarta Sans Light"/>
              <a:sym typeface="Plus Jakarta Sans Light"/>
            </a:endParaRPr>
          </a:p>
        </p:txBody>
      </p:sp>
      <p:sp>
        <p:nvSpPr>
          <p:cNvPr id="386" name="Google Shape;386;p38"/>
          <p:cNvSpPr txBox="1"/>
          <p:nvPr/>
        </p:nvSpPr>
        <p:spPr>
          <a:xfrm>
            <a:off x="1415425" y="2371426"/>
            <a:ext cx="6462900" cy="1138800"/>
          </a:xfrm>
          <a:prstGeom prst="rect">
            <a:avLst/>
          </a:prstGeom>
          <a:noFill/>
          <a:ln>
            <a:noFill/>
          </a:ln>
        </p:spPr>
        <p:txBody>
          <a:bodyPr anchorCtr="0" anchor="t" bIns="91425" lIns="91425" spcFirstLastPara="1" rIns="91425" wrap="square" tIns="91425">
            <a:noAutofit/>
          </a:bodyPr>
          <a:lstStyle/>
          <a:p>
            <a:pPr indent="0" lvl="0" marL="0" marR="0" rtl="0" algn="ctr">
              <a:lnSpc>
                <a:spcPct val="70000"/>
              </a:lnSpc>
              <a:spcBef>
                <a:spcPts val="0"/>
              </a:spcBef>
              <a:spcAft>
                <a:spcPts val="0"/>
              </a:spcAft>
              <a:buClr>
                <a:srgbClr val="000000"/>
              </a:buClr>
              <a:buSzPts val="4800"/>
              <a:buFont typeface="Arial"/>
              <a:buNone/>
            </a:pPr>
            <a:r>
              <a:rPr b="0" i="0" lang="es" sz="4800" u="none" cap="none" strike="noStrike">
                <a:solidFill>
                  <a:srgbClr val="F8F2E8"/>
                </a:solidFill>
                <a:latin typeface="Plus Jakarta Sans ExtraBold"/>
                <a:ea typeface="Plus Jakarta Sans ExtraBold"/>
                <a:cs typeface="Plus Jakarta Sans ExtraBold"/>
                <a:sym typeface="Plus Jakarta Sans ExtraBold"/>
              </a:rPr>
              <a:t>¿Preguntas?</a:t>
            </a:r>
            <a:endParaRPr b="0" i="0" sz="48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39"/>
          <p:cNvSpPr txBox="1"/>
          <p:nvPr/>
        </p:nvSpPr>
        <p:spPr>
          <a:xfrm>
            <a:off x="571500" y="2392650"/>
            <a:ext cx="6977400" cy="1500000"/>
          </a:xfrm>
          <a:prstGeom prst="rect">
            <a:avLst/>
          </a:prstGeom>
          <a:noFill/>
          <a:ln>
            <a:noFill/>
          </a:ln>
        </p:spPr>
        <p:txBody>
          <a:bodyPr anchorCtr="0" anchor="t" bIns="91425" lIns="91425" spcFirstLastPara="1" rIns="91425" wrap="square" tIns="91425">
            <a:noAutofit/>
          </a:bodyPr>
          <a:lstStyle/>
          <a:p>
            <a:pPr indent="0" lvl="0" marL="0" marR="0" rtl="0" algn="l">
              <a:lnSpc>
                <a:spcPct val="80000"/>
              </a:lnSpc>
              <a:spcBef>
                <a:spcPts val="0"/>
              </a:spcBef>
              <a:spcAft>
                <a:spcPts val="0"/>
              </a:spcAft>
              <a:buClr>
                <a:srgbClr val="000000"/>
              </a:buClr>
              <a:buSzPts val="4900"/>
              <a:buFont typeface="Arial"/>
              <a:buNone/>
            </a:pPr>
            <a:r>
              <a:rPr b="0" i="0" lang="es" sz="4900" u="none" cap="none" strike="noStrike">
                <a:solidFill>
                  <a:srgbClr val="F8F2E8"/>
                </a:solidFill>
                <a:latin typeface="Plus Jakarta Sans ExtraBold"/>
                <a:ea typeface="Plus Jakarta Sans ExtraBold"/>
                <a:cs typeface="Plus Jakarta Sans ExtraBold"/>
                <a:sym typeface="Plus Jakarta Sans ExtraBold"/>
              </a:rPr>
              <a:t>¡Gracias por </a:t>
            </a:r>
            <a:r>
              <a:rPr b="0" i="0" lang="es" sz="4900" u="none" cap="none" strike="noStrike">
                <a:solidFill>
                  <a:srgbClr val="FDAB2E"/>
                </a:solidFill>
                <a:latin typeface="Plus Jakarta Sans ExtraBold"/>
                <a:ea typeface="Plus Jakarta Sans ExtraBold"/>
                <a:cs typeface="Plus Jakarta Sans ExtraBold"/>
                <a:sym typeface="Plus Jakarta Sans ExtraBold"/>
              </a:rPr>
              <a:t>estudiar </a:t>
            </a:r>
            <a:r>
              <a:rPr b="0" i="0" lang="es" sz="4900" u="none" cap="none" strike="noStrike">
                <a:solidFill>
                  <a:srgbClr val="F8F2E8"/>
                </a:solidFill>
                <a:latin typeface="Plus Jakarta Sans ExtraBold"/>
                <a:ea typeface="Plus Jakarta Sans ExtraBold"/>
                <a:cs typeface="Plus Jakarta Sans ExtraBold"/>
                <a:sym typeface="Plus Jakarta Sans ExtraBold"/>
              </a:rPr>
              <a:t>con nosotros!</a:t>
            </a:r>
            <a:endParaRPr b="0" i="0" sz="4900" u="none" cap="none" strike="noStrike">
              <a:solidFill>
                <a:srgbClr val="F8F2E8"/>
              </a:solidFill>
              <a:latin typeface="Plus Jakarta Sans ExtraBold"/>
              <a:ea typeface="Plus Jakarta Sans ExtraBold"/>
              <a:cs typeface="Plus Jakarta Sans ExtraBold"/>
              <a:sym typeface="Plus Jakarta Sans ExtraBold"/>
            </a:endParaRPr>
          </a:p>
        </p:txBody>
      </p:sp>
      <p:sp>
        <p:nvSpPr>
          <p:cNvPr id="392" name="Google Shape;392;p39"/>
          <p:cNvSpPr txBox="1"/>
          <p:nvPr/>
        </p:nvSpPr>
        <p:spPr>
          <a:xfrm>
            <a:off x="571500" y="3792150"/>
            <a:ext cx="8001000" cy="906300"/>
          </a:xfrm>
          <a:prstGeom prst="rect">
            <a:avLst/>
          </a:prstGeom>
          <a:noFill/>
          <a:ln>
            <a:noFill/>
          </a:ln>
        </p:spPr>
        <p:txBody>
          <a:bodyPr anchorCtr="0" anchor="b" bIns="0" lIns="0" spcFirstLastPara="1" rIns="0" wrap="square" tIns="0">
            <a:noAutofit/>
          </a:bodyPr>
          <a:lstStyle/>
          <a:p>
            <a:pPr indent="0" lvl="0" marL="0" marR="0" rtl="0" algn="just">
              <a:lnSpc>
                <a:spcPct val="100000"/>
              </a:lnSpc>
              <a:spcBef>
                <a:spcPts val="0"/>
              </a:spcBef>
              <a:spcAft>
                <a:spcPts val="0"/>
              </a:spcAft>
              <a:buClr>
                <a:srgbClr val="000000"/>
              </a:buClr>
              <a:buSzPts val="600"/>
              <a:buFont typeface="Arial"/>
              <a:buNone/>
            </a:pPr>
            <a:r>
              <a:rPr b="0" i="0" lang="es" sz="600" u="none" cap="none" strike="noStrike">
                <a:solidFill>
                  <a:srgbClr val="F8F2E8"/>
                </a:solidFill>
                <a:latin typeface="Plus Jakarta Sans"/>
                <a:ea typeface="Plus Jakarta Sans"/>
                <a:cs typeface="Plus Jakarta Sans"/>
                <a:sym typeface="Plus Jakarta Sans"/>
              </a:rPr>
              <a:t>We have provided this presentation to you for informational and illustrative purposes on a confidential basis. We reserve the right to use of non-disclosure agreements (NDAs) to protect our privacy and intellectual property rights. The information contained in this document is highly sensitive, confidential and/or proprietary and is intended for the express use of the intended recipient, as denoted on the title page of this document. The recipient of this presentation agrees by its receipt not to reproduce, duplicate, or reveal, in whole or in part, information presented herein without written permission of Coderhouse. No representation or warranty, expressed or implied, is made as to the accuracy or completeness of the information contained in this presentation. Any quote contained herein is for estimation purposes. Estimates are based on current, known requirements. Actual estimates may change once project elements are finalized or negotiated. This document may contain confidential pricing information. All pricing is subject to change. </a:t>
            </a:r>
            <a:endParaRPr b="0" i="0" sz="600" u="none" cap="none" strike="noStrike">
              <a:solidFill>
                <a:srgbClr val="F8F2E8"/>
              </a:solidFill>
              <a:latin typeface="Plus Jakarta Sans"/>
              <a:ea typeface="Plus Jakarta Sans"/>
              <a:cs typeface="Plus Jakarta Sans"/>
              <a:sym typeface="Plus Jakarta Sans"/>
            </a:endParaRPr>
          </a:p>
          <a:p>
            <a:pPr indent="0" lvl="0" marL="0" marR="0" rtl="0" algn="just">
              <a:lnSpc>
                <a:spcPct val="100000"/>
              </a:lnSpc>
              <a:spcBef>
                <a:spcPts val="0"/>
              </a:spcBef>
              <a:spcAft>
                <a:spcPts val="0"/>
              </a:spcAft>
              <a:buClr>
                <a:srgbClr val="000000"/>
              </a:buClr>
              <a:buSzPts val="600"/>
              <a:buFont typeface="Arial"/>
              <a:buNone/>
            </a:pPr>
            <a:r>
              <a:t/>
            </a:r>
            <a:endParaRPr b="0" i="0" sz="600" u="none" cap="none" strike="noStrike">
              <a:solidFill>
                <a:srgbClr val="F8F2E8"/>
              </a:solidFill>
              <a:latin typeface="Plus Jakarta Sans"/>
              <a:ea typeface="Plus Jakarta Sans"/>
              <a:cs typeface="Plus Jakarta Sans"/>
              <a:sym typeface="Plus Jakarta Sans"/>
            </a:endParaRPr>
          </a:p>
          <a:p>
            <a:pPr indent="0" lvl="0" marL="0" marR="0" rtl="0" algn="just">
              <a:lnSpc>
                <a:spcPct val="100000"/>
              </a:lnSpc>
              <a:spcBef>
                <a:spcPts val="0"/>
              </a:spcBef>
              <a:spcAft>
                <a:spcPts val="0"/>
              </a:spcAft>
              <a:buClr>
                <a:srgbClr val="000000"/>
              </a:buClr>
              <a:buSzPts val="600"/>
              <a:buFont typeface="Arial"/>
              <a:buNone/>
            </a:pPr>
            <a:r>
              <a:rPr b="0" i="0" lang="es" sz="600" u="none" cap="none" strike="noStrike">
                <a:solidFill>
                  <a:srgbClr val="F8F2E8"/>
                </a:solidFill>
                <a:latin typeface="Plus Jakarta Sans"/>
                <a:ea typeface="Plus Jakarta Sans"/>
                <a:cs typeface="Plus Jakarta Sans"/>
                <a:sym typeface="Plus Jakarta Sans"/>
              </a:rPr>
              <a:t>Copyright © 2026 Coderhouse. All rights reserved. Coderhouse and the Coderhouse logo are trademarks or registered trademarks of Coderhouse. in the U.S. and/or other countries. All other trademarks are the property of their respective owners.</a:t>
            </a:r>
            <a:endParaRPr b="0" i="0" sz="600" u="none" cap="none" strike="noStrike">
              <a:solidFill>
                <a:srgbClr val="F8F2E8"/>
              </a:solidFill>
              <a:latin typeface="Plus Jakarta Sans"/>
              <a:ea typeface="Plus Jakarta Sans"/>
              <a:cs typeface="Plus Jakarta Sans"/>
              <a:sym typeface="Plus Jakarta Sans"/>
            </a:endParaRPr>
          </a:p>
        </p:txBody>
      </p:sp>
      <p:pic>
        <p:nvPicPr>
          <p:cNvPr id="393" name="Google Shape;393;p39" title="Group 1321317428.png"/>
          <p:cNvPicPr preferRelativeResize="0"/>
          <p:nvPr/>
        </p:nvPicPr>
        <p:blipFill rotWithShape="1">
          <a:blip r:embed="rId3">
            <a:alphaModFix/>
          </a:blip>
          <a:srcRect b="0" l="0" r="0" t="0"/>
          <a:stretch/>
        </p:blipFill>
        <p:spPr>
          <a:xfrm>
            <a:off x="7711325" y="609525"/>
            <a:ext cx="861174" cy="85774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oderhouse">
  <a:themeElements>
    <a:clrScheme name="Coderhouse">
      <a:dk1>
        <a:srgbClr val="260700"/>
      </a:dk1>
      <a:lt1>
        <a:srgbClr val="FFFFFF"/>
      </a:lt1>
      <a:dk2>
        <a:srgbClr val="260700"/>
      </a:dk2>
      <a:lt2>
        <a:srgbClr val="F8F2E8"/>
      </a:lt2>
      <a:accent1>
        <a:srgbClr val="FF632B"/>
      </a:accent1>
      <a:accent2>
        <a:srgbClr val="260700"/>
      </a:accent2>
      <a:accent3>
        <a:srgbClr val="F8F2E8"/>
      </a:accent3>
      <a:accent4>
        <a:srgbClr val="FFB08F"/>
      </a:accent4>
      <a:accent5>
        <a:srgbClr val="7A4A3A"/>
      </a:accent5>
      <a:accent6>
        <a:srgbClr val="C9BBA8"/>
      </a:accent6>
      <a:hlink>
        <a:srgbClr val="FF632B"/>
      </a:hlink>
      <a:folHlink>
        <a:srgbClr val="7A4A3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