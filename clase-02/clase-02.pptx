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0 — Portada mientras entra el grupo. A las 00:04, grabar.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1 — Presentarse, cómo trabajamos, pegar la guía en el chat y hacer las tres preguntas del diagnóstico.
Slide 2: presentación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1 — Presentarse, cómo trabajamos, pegar la guía en el chat y hacer las tres preguntas del diagnóstico.
Slide 3: cómo trabajamos.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1 — Presentarse, cómo trabajamos, pegar la guía en el chat y hacer las tres preguntas del diagnóstico.
Slide 4: pegar en el chat las dos líneas del Bloc de notas (guía y repo).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1 — Presentarse, cómo trabajamos, pegar la guía en el chat y hacer las tres preguntas del diagnóstico.
Slide 5: pegar las tres preguntas en el chat. Qué responder a cada caso: tabla del Momento 1 del guion.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2 — El caso Muebles Roble: el negocio, las personas y 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2 — El caso Muebles Roble: el negocio, las personas y el problema.
Slide 7: pregunta al grupo: ¿qué consulta respondés siempre igual en tu trabajo? Anotar 2 o 3 respuestas.
&gt;&gt; EXCALIDRAW · ESCENA 1 — Julián hace todo: una sola persona (o un solo agente) para todas las consultas.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N8N · MOMENTO 2 — Importar el punto de partida, crear las credenciales de Groq y Slack, y probar dos mensajes.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N8N · MOMENTO 2 — Importar el punto de partida, crear las credenciales de Groq y Slack, y probar dos mensajes.
Slide 9: respuesta en el guion (lo derivó a Julián, pero no guardó qué hotel, qué productos ni cuántos).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3 — Manager-Worker: el Manager decide y delega; cada Worker hace una sola cosa y devuelve siempre el mismo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3 — Manager-Worker: el Manager decide y delega; cada Worker hace una sola cosa y devuelve siempre el mismo contrato.
Slide 11: de un agente a un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3 — Manager-Worker: el Manager decide y delega; cada Worker hace una sola cosa y devuelve siempre el mismo contrato.
Slide 12: el contrato.
&gt;&gt; EXCALIDRAW · ESCENA 2 — El organigrama de Muebles Roble: Manager, dos Workers y el contrato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N8N · MOMENTO 3 — PASO 1: construir el Worker Redactor desde cero y probarlo con datos fijos.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BREAK — Slide de break. Recordar: quien no tiene n8n, Groq o Slack, que use estos 10 minutos con la guía.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4 — Taxonomía cerrada: VENTAS, POSTVENTA y lo demás va a una persona. Predicción antes de ejecutar.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4 — Taxonomía cerrada: VENTAS, POSTVENTA y lo demás va a una persona. Predicción antes de ejecutar.
Slide 16: lo que no entra en ninguna sale por Other y va a una persona. Usar los ejemplos del grupo del Momento 2.
&gt;&gt; EXCALIDRAW · ESCENA 3 — El recorrido de una consulta: clasificar, preparar los datos, delegar,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N8N · MOMENTO 4 — PASO 2: el Manager con el clasificador y la rama de POSTVENTA.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N8N · MOMENTO 4 — PASO 3: importar el Worker Extractor y sumar la rama de VENTAS al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N8N · MOMENTO 4 — PASO 3: importar el Worker Extractor y sumar la rama de VENTAS al Manager.
Slide 19: respuesta: VENTAS (todavía no compró; quiere pagar en cuotas). 9 de 9 corridas en la preparación.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5 — Robustez: qué pasa si un Worker falla, y el registro de cada consulta en Slack.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N8N · MOMENTO 5 — PASO 4: importar el Manager completo, recorrer los nodos nuevos, probar tres mensajes y el error a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N8N · MOMENTO 5 — PASO 4: importar el Manager completo, recorrer los nodos nuevos, probar tres mensajes y el error a propósito.
Slide 22: respuesta: el mensaje de contingencia, no un error técnico ni silencio. Tarda unos 12 segundos (3 intentos).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5 — Robustez: qué pasa si un Worker falla, y el registro de cada consulta en Slack.
Slide 23: un minuto. Mismo principio que hoy: separar el que decide del que ejecuta.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6 — La pre-entrega del Módulo 2, punto por punto, con lo que hicimos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PPT · MOMENTO 7 — Qué nos llevamos, la tarea (pre-entrega y guardar los JSON) y qué viene.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evin\Documents\CODERHOUSE\AI Automation Avanzado (V2)\repos\ai-automation-avanzado-v2-profesor\tema\assets\degradado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2984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AI Automation Avanzado · Clase 2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7276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Arquitectura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multi-agente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Muebles Roble: un Manager y sus especialistas</a:t>
            </a:r>
            <a:endParaRPr lang="en-US" sz="1000" dirty="0"/>
          </a:p>
        </p:txBody>
      </p:sp>
      <p:pic>
        <p:nvPicPr>
          <p:cNvPr id="6" name="Image 1" descr="C:\Users\Kevin\Documents\CODERHOUSE\AI Automation Avanzado (V2)\repos\ai-automation-avanzado-v2-profesor\tema\assets\logotipo-coderho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3977640"/>
            <a:ext cx="128016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630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Hola, soy Lean Araque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435293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171717"/>
                </a:solidFill>
                <a:highlight>
                  <a:srgbClr val="FDAB2E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 acompaño en las clases de los lunes: 2, 4, 6, 8, 9 y 10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9693"/>
            <a:ext cx="8001000" cy="2382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Del agente del Módulo 1 a un sistema de agentes completo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Un solo negocio de punta a punta: Muebles Roble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Cada clase cierra con su pre-entrega, armada en clase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53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Cómo vamos a trabajar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413852"/>
            <a:ext cx="1883664" cy="336388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21270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 solo caso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2639148"/>
            <a:ext cx="1426464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Muebles Roble, de hoy al final. Cada clase le suma una pieza. Vos podés aplicarlo a tu negocio.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70632" y="1413852"/>
            <a:ext cx="1883664" cy="336388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08376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008376" y="21270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Todo en el repo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08376" y="2639148"/>
            <a:ext cx="1426464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Punto de partida, cada paso y el final. Si te perdés, importás el paso y seguís.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55464" y="1413852"/>
            <a:ext cx="1883664" cy="336388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93208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093208" y="21270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Construir en vivo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93208" y="2639148"/>
            <a:ext cx="1426464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Yo en n8n Cloud y vos en tu n8n (Cloud o local), al mismo tiempo.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0296" y="1413852"/>
            <a:ext cx="1883664" cy="336388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1270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Pre-entrega en clase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639148"/>
            <a:ext cx="1426464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Al final la recorremos punto por punto con lo que hicimos.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6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789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ANTES DE EMPEZAR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17320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La guía de hoy: n8n,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Groq y Slack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15468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El enlace está en el chat. Si ya tenés n8n de la clase pasada, seguí con ese. Si te falta algo, completalo en el break.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630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Diagnóstico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435293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171717"/>
                </a:solidFill>
                <a:highlight>
                  <a:srgbClr val="FDAB2E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Respondé en el chat con el número y la letra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20509"/>
            <a:ext cx="8001000" cy="271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1. ¿Dónde usás n8n? (a) en mi computadora (local) (b) n8n Cloud (c) todavía no tengo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2. ¿Terminaste el agente del Módulo 1? (a) sí (b) a medias (c) no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3. ¿Tenés clave de Groq y Slack? (a) las dos (b) una (c) ninguna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0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0" y="146304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7889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El caso: Muebles Roble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53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Muebles Roble, en números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1267548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07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Mueblería familiar de Córdoba. Marta dirige, Julián atiende y vende, Ezequiel reparte.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779612"/>
            <a:ext cx="1883664" cy="299812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3544" y="194420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249284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 consultas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23544" y="3004908"/>
            <a:ext cx="1426464" cy="162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Por día, entre correo, chat de la tienda y Telegram.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70632" y="1779612"/>
            <a:ext cx="1883664" cy="299812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08376" y="194420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008376" y="249284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 de cada 10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08376" y="3004908"/>
            <a:ext cx="1426464" cy="162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Son las mismas preguntas: cuándo llega, cuotas, devoluciones, garantía.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55464" y="1779612"/>
            <a:ext cx="1883664" cy="299812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93208" y="194420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093208" y="249284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horas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93208" y="3004908"/>
            <a:ext cx="1426464" cy="162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Por día se le van a Julián en contestar lo mismo.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0296" y="1779612"/>
            <a:ext cx="1883664" cy="299812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194420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49284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Pedidos perdidos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004908"/>
            <a:ext cx="1426464" cy="162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Los de hoteles y oficinas se mezclan con los reclamos y nadie los carga.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1261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Punto de partida: el agente del Módulo 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65913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 importamos del repo: Import &gt; From URL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129"/>
            <a:ext cx="8001000" cy="2080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System Message en cinco partes: rol, ámbito, objetivo, reglas y escalamiento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Max Iterations en 5: el guardrail de costo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Una herramienta con descripción extensa: consultar_pedido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Aviso final en Slack: observabilidad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6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789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ACTIVIDAD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17320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¿Qué hizo el agente con el hotel?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¿Qué se perdió?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15468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Respondé en el chat.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0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0" y="146304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7889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Manager y Workers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53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 un agente a un equipo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358988"/>
            <a:ext cx="3794760" cy="3418752"/>
          </a:xfrm>
          <a:prstGeom prst="roundRect">
            <a:avLst>
              <a:gd name="adj" fmla="val 2675"/>
            </a:avLst>
          </a:prstGeom>
          <a:solidFill>
            <a:srgbClr val="F8F2E8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58988"/>
            <a:ext cx="3794760" cy="566928"/>
          </a:xfrm>
          <a:prstGeom prst="roundRect">
            <a:avLst>
              <a:gd name="adj" fmla="val 16129"/>
            </a:avLst>
          </a:prstGeom>
          <a:solidFill>
            <a:srgbClr val="2607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41832" y="135898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Un solo agente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20722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07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Hace todo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96696" y="2456268"/>
            <a:ext cx="3227832" cy="215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Un prompt gigante con todas las reglas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Si falla, no sabés qué parte falló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Recibe todos los datos, los necesite o no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No deja registro ordenado de lo que hizo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846320" y="1358988"/>
            <a:ext cx="3794760" cy="3418752"/>
          </a:xfrm>
          <a:prstGeom prst="roundRect">
            <a:avLst>
              <a:gd name="adj" fmla="val 2675"/>
            </a:avLst>
          </a:prstGeom>
          <a:solidFill>
            <a:srgbClr val="F8F2E8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358988"/>
            <a:ext cx="3794760" cy="566928"/>
          </a:xfrm>
          <a:prstGeom prst="roundRect">
            <a:avLst>
              <a:gd name="adj" fmla="val 16129"/>
            </a:avLst>
          </a:prstGeom>
          <a:solidFill>
            <a:srgbClr val="FF63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02352" y="135898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Manager y Workers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20722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Cada uno hace una cosa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57216" y="2456268"/>
            <a:ext cx="3227832" cy="215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El Manager clasifica, delega y espera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Cada Worker es un sub-workflow con una sola tarea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Se prueban por separado y se reutilizan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Cada uno recibe solo lo que necesita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53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El contrato de datos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377276"/>
            <a:ext cx="5349240" cy="3400464"/>
          </a:xfrm>
          <a:prstGeom prst="roundRect">
            <a:avLst>
              <a:gd name="adj" fmla="val 2689"/>
            </a:avLst>
          </a:prstGeom>
          <a:solidFill>
            <a:srgbClr val="2607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05256" y="1560156"/>
            <a:ext cx="4910328" cy="303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9A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Lo que el Manager le manda al Redactor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"consulta": "...", "intent": "...", "datos": "..." 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9A4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Lo que todo Worker devuelve, siempre igual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DA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"success",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DA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"worker"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"redactor",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DA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{ "respuesta": "..." 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36208" y="1432140"/>
            <a:ext cx="2587752" cy="3400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Si falla: status es error y data trae el motivo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El Manager siempre sabe dónde mirar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53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PASO 1 · El Worker Redactor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413852"/>
            <a:ext cx="1883664" cy="336388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21270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puerta de entrada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2639148"/>
            <a:ext cx="1426464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When Executed by Another Workflow con tres campos: consulta, intent y datos.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70632" y="1413852"/>
            <a:ext cx="1883664" cy="336388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08376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008376" y="21270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Redactar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08376" y="2639148"/>
            <a:ext cx="1426464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Basic LLM Chain con Groq. Solo redacta, no usa herramientas.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55464" y="1413852"/>
            <a:ext cx="1883664" cy="336388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93208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093208" y="21270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 Groq falla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93208" y="2639148"/>
            <a:ext cx="1426464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Retry On Fail: 3 intentos. Después, salida de error.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0296" y="1413852"/>
            <a:ext cx="1883664" cy="336388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1270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contrato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639148"/>
            <a:ext cx="1426464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Dos Edit Fields: success o error, siempre con status, worker y data.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64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417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Break,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2514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andá por un cafecito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o mate, ¡y volvemos!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0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0" y="146304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03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7889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El Manager: clasificar y delegar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53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Taxonomía cerrada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358988"/>
            <a:ext cx="3794760" cy="3418752"/>
          </a:xfrm>
          <a:prstGeom prst="roundRect">
            <a:avLst>
              <a:gd name="adj" fmla="val 2675"/>
            </a:avLst>
          </a:prstGeom>
          <a:solidFill>
            <a:srgbClr val="F8F2E8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58988"/>
            <a:ext cx="3794760" cy="566928"/>
          </a:xfrm>
          <a:prstGeom prst="roundRect">
            <a:avLst>
              <a:gd name="adj" fmla="val 16129"/>
            </a:avLst>
          </a:prstGeom>
          <a:solidFill>
            <a:srgbClr val="2607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41832" y="135898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VENTAS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20722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07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Todavía no compró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96696" y="2456268"/>
            <a:ext cx="3227832" cy="215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Precio o presupuesto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Stock, medios de pago o cuotas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Pedidos grandes: hoteles, oficinas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846320" y="1358988"/>
            <a:ext cx="3794760" cy="3418752"/>
          </a:xfrm>
          <a:prstGeom prst="roundRect">
            <a:avLst>
              <a:gd name="adj" fmla="val 2675"/>
            </a:avLst>
          </a:prstGeom>
          <a:solidFill>
            <a:srgbClr val="F8F2E8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358988"/>
            <a:ext cx="3794760" cy="566928"/>
          </a:xfrm>
          <a:prstGeom prst="roundRect">
            <a:avLst>
              <a:gd name="adj" fmla="val 16129"/>
            </a:avLst>
          </a:prstGeom>
          <a:solidFill>
            <a:srgbClr val="FF63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02352" y="135898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POSTVENTA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20722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Ya compró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57216" y="2456268"/>
            <a:ext cx="3227832" cy="215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Estado o demora de un pedido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Envío, devolución o cambio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Garantía o producto dañado</a:t>
            </a:r>
            <a:endParaRPr lang="en-US" sz="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53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PASO 2 · El Manager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413852"/>
            <a:ext cx="1466698" cy="3363888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2127084"/>
            <a:ext cx="100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2639148"/>
            <a:ext cx="1009498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When chat message received: el chat de prueba de n8n.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53666" y="1413852"/>
            <a:ext cx="1466698" cy="3363888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91410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2591410" y="2127084"/>
            <a:ext cx="100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Clasificar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91410" y="2639148"/>
            <a:ext cx="1009498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Text Classifier con VENTAS y POSTVENTA. Lo dudoso sale por Other.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21531" y="1413852"/>
            <a:ext cx="1466698" cy="3363888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59275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259275" y="2127084"/>
            <a:ext cx="100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Preparar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59275" y="2639148"/>
            <a:ext cx="1009498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Edit Fields antes de delegar: solo lo que el Worker necesita.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89397" y="1413852"/>
            <a:ext cx="1466698" cy="3363888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27141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5927141" y="2127084"/>
            <a:ext cx="100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Delegar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27141" y="2639148"/>
            <a:ext cx="1009498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Execute Sub-workflow con Wait For Sub-Workflow Completion.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57262" y="1413852"/>
            <a:ext cx="1466698" cy="3363888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95006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5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7595006" y="2127084"/>
            <a:ext cx="100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Responder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595006" y="2639148"/>
            <a:ext cx="1009498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Edit Fields con output: lo que lee el cliente.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1072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PASO 3 · El Extractor y la rama de VENTAS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949879"/>
            <a:ext cx="1883664" cy="2827861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2114471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2663111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Importar el Extractor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3175175"/>
            <a:ext cx="1426464" cy="145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Information Extractor: empresa, productos, cantidad, ciudad, medio de pago.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70632" y="1949879"/>
            <a:ext cx="1883664" cy="2827861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08376" y="2114471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008376" y="2663111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Datos para el Extractor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08376" y="3175175"/>
            <a:ext cx="1426464" cy="145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consulta e intent, nada más.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55464" y="1949879"/>
            <a:ext cx="1883664" cy="2827861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93208" y="2114471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093208" y="2663111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Llamar al Extractor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93208" y="3175175"/>
            <a:ext cx="1426464" cy="145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Espera los datos limpios del pedido.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0296" y="1949879"/>
            <a:ext cx="1883664" cy="2827861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2114471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663111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 mismo Redactor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175175"/>
            <a:ext cx="1426464" cy="145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Con los datos extraídos: un especialista, dos ramas.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6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789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PREDICCIÓN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17320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¿A qué categoría va?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15468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"No puedo pagar porque me da error la tarjeta y quería las 12 cuotas para la mesa"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Respondé en el chat antes de que lo ejecutemos.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60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0" y="146304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04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7889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Si un Worker falla</a:t>
            </a:r>
            <a:endParaRPr 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53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PASO 4 · Robustez y registro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413852"/>
            <a:ext cx="1883664" cy="336388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21270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¿Respondió bien?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2639148"/>
            <a:ext cx="1426464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Un IF mira el status del contrato.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70632" y="1413852"/>
            <a:ext cx="1883664" cy="336388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08376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008376" y="21270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08376" y="2639148"/>
            <a:ext cx="1426464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Slack recibe qué Workers corrieron, qué datos y qué respuesta.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55464" y="1413852"/>
            <a:ext cx="1883664" cy="336388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93208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093208" y="21270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 falla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93208" y="2639148"/>
            <a:ext cx="1426464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Alerta en Slack y un mensaje de contingencia al cliente.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0296" y="1413852"/>
            <a:ext cx="1883664" cy="336388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9525">
            <a:solidFill>
              <a:srgbClr val="E0D7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15784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127084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 que no encaja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639148"/>
            <a:ext cx="1426464" cy="199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La salida Other se escala a una persona.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6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789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ACTIVIDAD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17320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Error a propósito: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la clave vencida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15468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Rompemos el Redactor como pasa en la vida real. ¿Qué va a ver el cliente?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23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1072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Otro patrón del módulo: Planner-Executor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895015"/>
            <a:ext cx="3794760" cy="2882725"/>
          </a:xfrm>
          <a:prstGeom prst="roundRect">
            <a:avLst>
              <a:gd name="adj" fmla="val 3172"/>
            </a:avLst>
          </a:prstGeom>
          <a:solidFill>
            <a:srgbClr val="F8F2E8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895015"/>
            <a:ext cx="3794760" cy="566928"/>
          </a:xfrm>
          <a:prstGeom prst="roundRect">
            <a:avLst>
              <a:gd name="adj" fmla="val 16129"/>
            </a:avLst>
          </a:prstGeom>
          <a:solidFill>
            <a:srgbClr val="2607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41832" y="1895015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Planner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2608247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07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Arma el plan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96696" y="2992295"/>
            <a:ext cx="3227832" cy="1620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Recibe un pedido complejo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Lo divide en pasos con formato fijo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Una persona aprueba el plan antes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846320" y="1895015"/>
            <a:ext cx="3794760" cy="2882725"/>
          </a:xfrm>
          <a:prstGeom prst="roundRect">
            <a:avLst>
              <a:gd name="adj" fmla="val 3172"/>
            </a:avLst>
          </a:prstGeom>
          <a:solidFill>
            <a:srgbClr val="F8F2E8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895015"/>
            <a:ext cx="3794760" cy="566928"/>
          </a:xfrm>
          <a:prstGeom prst="roundRect">
            <a:avLst>
              <a:gd name="adj" fmla="val 16129"/>
            </a:avLst>
          </a:prstGeom>
          <a:solidFill>
            <a:srgbClr val="FF63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02352" y="1895015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Executor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2608247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Ejecuta paso por paso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57216" y="2992295"/>
            <a:ext cx="3227832" cy="1620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Recibe una sola orden por vez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No decide la estrategia</a:t>
            </a:r>
            <a:endParaRPr lang="en-US" sz="98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Si un paso falla, frena y avisa</a:t>
            </a:r>
            <a:endParaRPr lang="en-US" sz="9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24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1261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Tu pre-entrega del Módulo 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65913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171717"/>
                </a:solidFill>
                <a:highlight>
                  <a:srgbClr val="FDAB2E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 PDF: preentrega_modulo2_apellido_nombre.pdf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129"/>
            <a:ext cx="8001000" cy="2080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Captura del Manager completo, con Execute Sub-workflow visible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Capturas de los dos Workers, con su disparador y su nodo de salida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Captura de Execute Sub-workflow: paso de datos y Wait For Sub-Workflow Completion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Captura de una ejecución exitosa de punta a punta (Executions)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Explicación del esquema de datos y del criterio de enrutamiento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Coderhouse</a:t>
            </a:r>
            <a:endParaRPr lang="en-US" sz="5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500" dirty="0"/>
          </a:p>
        </p:txBody>
      </p:sp>
      <p:sp>
        <p:nvSpPr>
          <p:cNvPr id="4" name="Text 2"/>
          <p:cNvSpPr txBox="1"/>
          <p:nvPr/>
        </p:nvSpPr>
        <p:spPr>
          <a:xfrm>
            <a:off x="7388352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Internal Presentation</a:t>
            </a:r>
            <a:endParaRPr lang="en-US" sz="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82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1717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25</a:t>
            </a:r>
            <a:endParaRPr lang="en-US" sz="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40080"/>
            <a:ext cx="8138160" cy="630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171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Qué nos llevamos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435293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171717"/>
                </a:solidFill>
                <a:highlight>
                  <a:srgbClr val="FDAB2E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Tarea: pre-entrega y Export JSON de tus workflows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9693"/>
            <a:ext cx="8001000" cy="2382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El Manager decide y delega; cada Worker hace una sola cosa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Todo Worker devuelve el mismo contrato: status, worker y data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Antes de delegar, se limpian los datos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Si un Worker falla, el sistema avisa y el cliente no queda colgado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Miércoles: Módulo 3, memoria. Lunes 26/10: Clase 4, correo, CRM y Slack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Coderhouse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Coderhouse</dc:creator>
  <cp:lastModifiedBy>Coderhouse</cp:lastModifiedBy>
  <cp:revision>1</cp:revision>
  <dcterms:created xsi:type="dcterms:W3CDTF">2026-10-19T18:12:59Z</dcterms:created>
  <dcterms:modified xsi:type="dcterms:W3CDTF">2026-10-19T18:12:59Z</dcterms:modified>
</cp:coreProperties>
</file>