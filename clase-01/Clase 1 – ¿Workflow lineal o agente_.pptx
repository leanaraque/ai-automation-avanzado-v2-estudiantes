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Rubik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578A1E-4C21-4285-A089-8FED4BE4685F}">
  <a:tblStyle styleId="{4A578A1E-4C21-4285-A089-8FED4BE4685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Rubik-bold.fntdata"/><Relationship Id="rId23" Type="http://schemas.openxmlformats.org/officeDocument/2006/relationships/font" Target="fonts/Rubi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ubik-boldItalic.fntdata"/><Relationship Id="rId25" Type="http://schemas.openxmlformats.org/officeDocument/2006/relationships/font" Target="fonts/Rubik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Arrancamos la actividad. La idea es que voten primero con intuición y después les damos criterios para revisar su voto. No hay una sola respuesta perfecta: lo que importa es el criterio que defienden.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Pedí que voten todos, aunque sea con intuición: el debate sale mejor cuando hay votos divididos. Si alguien vota "depende", pedile que diga de qué depende: ahí aparece el criterio.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Dejá esta slide en pantalla mientras votan. Podés ir caso por caso o pedir los 6 votos juntos en un solo mensaje (ej: "1L 2A 3L 4? 5A 6L"). El caso 4 está pensado para dividir la votación: dejalo para el final del debate.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Mostrala después de la primera votación y antes de revelar. Preguntá: "¿alguien quiere cambiar su voto con estas 4 preguntas?". La primera es la más potente: si el diagrama entra completo en el canvas antes de que llegue el dato, no hay nada que el agente tenga que decidir.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es la idea que más les va a servir: hay un punto intermedio. Un workflow puede tener un nodo de IA (Information Extractor, Text Classifier, Basic LLM Chain) y seguir siendo lineal, porque el camino lo definiste vos. Es agente cuando el modelo elige las herramientas y decide cuántas vueltas dar (ReAct). Conecta con la slide de la presentación: "vía de tren vs. conductor de taxi".</a:t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el caso "fácil" para arrancar. Si alguien vota agente, preguntale: ¿qué tendría que decidir el modelo? Nada: el camino es siempre el mismo. Además, la facturación es regulada; un LLM que "interpreta" un monto es un riesgo. El giro del texto libre sirve para introducir la idea de lineal con IA.</a:t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es el agente "de libro". El cliente mezcla cobro duplicado + producto roto: el agente tiene que separar los reclamos, buscar el pedido, verificar el doble cobro en pagos, leer la política de devoluciones y armar una propuesta. No sabés de antemano cuántas consultas va a hacer. Conectá con guardrails: HITL para la acción crítica (el reembolso) y mínimo privilegio en las tools.</a:t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ejemplo perfecto de "no sobre-uses agentes". Son dos nodos. Si alguien propone un agente, calculá en voz alta: cada form = una llamada al LLM con tokens, más segundos de espera, más la posibilidad de que el modelo "decida" no avisar. La regla de oro: si podés escribir el IF, usalo.</a:t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es el que más divide la votación, y está bien. Los que votaron agente tienen razón en que hace falta IA; los que votaron lineal tienen razón en que el flujo es fijo. La respuesta es: workflow lineal con un paso de IA. Remarcá: usar un LLM no te convierte en agente. Pregunta clave: ¿quién controla el flujo? Acá, el Switch. Si sobra tiempo: ¿qué pasa con un mail que no encaja? Rama "otro" → humano.</a:t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Acá se ve el ciclo ReAct completo: Thought (¿qué sé de esta empresa?), Action (busco en la web), Observation (encontré poco), Repeat (busco en el CRM)... hasta decidir. Un lead puede resolverse en 2 vueltas y otro en 6. Eso es justamente lo que un diagrama fijo no puede representar. Es un buen puente a la práctica en vivo y a la rúbrica de la Pre-entrega (guardrails + log).</a:t>
            </a:r>
            <a:endParaRPr/>
          </a:p>
        </p:txBody>
      </p:sp>
      <p:sp>
        <p:nvSpPr>
          <p:cNvPr id="190" name="Google Shape;1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 de los casos. Lo interesante es el giro: el mismo dato (ventas) puede ser lineal o agente según la pregunta. Reporte fijo = lineal. Pregunta abierta sobre los datos = agente. Reforzá: los cálculos se hacen en código; el LLM solo redacta, para no inventar números.</a:t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Fijate la proporción: la mayoría de los procesos reales de una empresa son lineales. El agente es la excepción, para lo ambiguo. Eso conecta con la slide siguiente de la presentación: "¿Cuándo usar qué?".</a:t>
            </a:r>
            <a:endParaRPr/>
          </a:p>
        </p:txBody>
      </p:sp>
      <p:sp>
        <p:nvSpPr>
          <p:cNvPr id="224" name="Google Shape;2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Cerramos la actividad y seguimos con "¿Cuándo usar qué? Criterios de selección" de la presentación principal, que ahora va a caer mucho más natural.</a:t>
            </a:r>
            <a:endParaRPr/>
          </a:p>
        </p:txBody>
      </p:sp>
      <p:sp>
        <p:nvSpPr>
          <p:cNvPr id="232" name="Google Shape;23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800" y="2072630"/>
            <a:ext cx="1088339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0AC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9AA0AC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ACTIVIDAD COLABORATIVA · CLASE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2575520"/>
            <a:ext cx="10883392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7FA3F0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7FA3F0"/>
                </a:solidFill>
                <a:latin typeface="Rubik"/>
                <a:ea typeface="Rubik"/>
                <a:cs typeface="Rubik"/>
                <a:sym typeface="Rubik"/>
              </a:rPr>
              <a:t>¿Workflow lineal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08A5D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F08A5D"/>
                </a:solidFill>
                <a:latin typeface="Rubik"/>
                <a:ea typeface="Rubik"/>
                <a:cs typeface="Rubik"/>
                <a:sym typeface="Rubik"/>
              </a:rPr>
              <a:t>o agente?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4429720"/>
            <a:ext cx="108833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CDD6"/>
              </a:buClr>
              <a:buSzPts val="20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C9CDD6"/>
                </a:solidFill>
                <a:latin typeface="IBM Plex Sans"/>
                <a:ea typeface="IBM Plex Sans"/>
                <a:cs typeface="IBM Plex Sans"/>
                <a:sym typeface="IBM Plex Sans"/>
              </a:rPr>
              <a:t>6 casos reales. Votá, defendé tu criterio y después lo resolvemos juntos.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0A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9AA0AC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Módulo 1: Fundamentos de agentes autónomos con n8n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DINÁMICA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Cómo jugamos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15975" y="1989386"/>
            <a:ext cx="2482850" cy="3849439"/>
          </a:xfrm>
          <a:prstGeom prst="roundRect">
            <a:avLst>
              <a:gd fmla="val 4987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073150" y="2246561"/>
            <a:ext cx="20275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800"/>
              <a:buFont typeface="Rubik"/>
              <a:buNone/>
            </a:pPr>
            <a:r>
              <a:rPr b="1" i="0" lang="en-US" sz="48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073150" y="2983161"/>
            <a:ext cx="2027555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Leo el caso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73150" y="3384451"/>
            <a:ext cx="202755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Lo leemos en voz alta, con su contexto de negocio.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508375" y="1989386"/>
            <a:ext cx="2482850" cy="3849439"/>
          </a:xfrm>
          <a:prstGeom prst="roundRect">
            <a:avLst>
              <a:gd fmla="val 4987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765550" y="2246561"/>
            <a:ext cx="20275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800"/>
              <a:buFont typeface="Rubik"/>
              <a:buNone/>
            </a:pPr>
            <a:r>
              <a:rPr b="1" i="0" lang="en-US" sz="48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765550" y="2983161"/>
            <a:ext cx="2027555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Votás en el chat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765550" y="3384451"/>
            <a:ext cx="2027555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b="0" i="0" lang="en-US" sz="15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 = lineal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b="0" i="0" lang="en-US" sz="15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 = agente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30 segundos, sin pensarlo demasiado.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200775" y="1989386"/>
            <a:ext cx="2482850" cy="3849439"/>
          </a:xfrm>
          <a:prstGeom prst="roundRect">
            <a:avLst>
              <a:gd fmla="val 4987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57950" y="2246561"/>
            <a:ext cx="20275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800"/>
              <a:buFont typeface="Rubik"/>
              <a:buNone/>
            </a:pPr>
            <a:r>
              <a:rPr b="1" i="0" lang="en-US" sz="48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57950" y="2983161"/>
            <a:ext cx="2027555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Defendés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57950" y="3384451"/>
            <a:ext cx="202755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 persona de cada bando argumenta en 1 minuto.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893175" y="1989386"/>
            <a:ext cx="2482850" cy="3849439"/>
          </a:xfrm>
          <a:prstGeom prst="roundRect">
            <a:avLst>
              <a:gd fmla="val 4987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150350" y="2246561"/>
            <a:ext cx="20275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800"/>
              <a:buFont typeface="Rubik"/>
              <a:buNone/>
            </a:pPr>
            <a:r>
              <a:rPr b="1" i="0" lang="en-US" sz="48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50350" y="2983161"/>
            <a:ext cx="2027555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Revelamos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150350" y="3384451"/>
            <a:ext cx="202755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 criterios concretos. Cambiar de opinión vale.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812800" y="812800"/>
            <a:ext cx="2793861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200"/>
              <a:buFont typeface="Rubik"/>
              <a:buNone/>
            </a:pPr>
            <a:r>
              <a:rPr b="1" i="0" lang="en-US" sz="32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Los 6 casos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9293225" y="858540"/>
            <a:ext cx="2085975" cy="401290"/>
          </a:xfrm>
          <a:prstGeom prst="roundRect">
            <a:avLst>
              <a:gd fmla="val 50000" name="adj"/>
            </a:avLst>
          </a:prstGeom>
          <a:solidFill>
            <a:srgbClr val="171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CFA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FDFCFA"/>
                </a:solidFill>
                <a:latin typeface="IBM Plex Sans"/>
                <a:ea typeface="IBM Plex Sans"/>
                <a:cs typeface="IBM Plex Sans"/>
                <a:sym typeface="IBM Plex Sans"/>
              </a:rPr>
              <a:t>Votá en el chat: L o 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15975" y="1517005"/>
            <a:ext cx="3414167" cy="1728341"/>
          </a:xfrm>
          <a:prstGeom prst="roundRect">
            <a:avLst>
              <a:gd fmla="val 7164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1022350" y="1723380"/>
            <a:ext cx="309145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Rubik"/>
              <a:buNone/>
            </a:pPr>
            <a:r>
              <a:rPr b="1" i="0" lang="en-US" sz="14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Caso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022350" y="2048470"/>
            <a:ext cx="3091459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Generar una factura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022350" y="2368500"/>
            <a:ext cx="3091459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Se aprueba un pago en MercadoPago y hay que emitir y enviar la factura.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388892" y="1517005"/>
            <a:ext cx="3414167" cy="1728341"/>
          </a:xfrm>
          <a:prstGeom prst="roundRect">
            <a:avLst>
              <a:gd fmla="val 7164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95267" y="1723380"/>
            <a:ext cx="309145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Rubik"/>
              <a:buNone/>
            </a:pPr>
            <a:r>
              <a:rPr b="1" i="0" lang="en-US" sz="14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Caso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95267" y="2048470"/>
            <a:ext cx="3091459" cy="51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Analizar la disputa de un cliente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95267" y="2612330"/>
            <a:ext cx="3091459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“Me cobraron dos veces y el producto llegó roto. Quiero una solución.”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961809" y="1517005"/>
            <a:ext cx="3414216" cy="1728341"/>
          </a:xfrm>
          <a:prstGeom prst="roundRect">
            <a:avLst>
              <a:gd fmla="val 7164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168184" y="1723380"/>
            <a:ext cx="30915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Rubik"/>
              <a:buNone/>
            </a:pPr>
            <a:r>
              <a:rPr b="1" i="0" lang="en-US" sz="14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Caso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168184" y="2048470"/>
            <a:ext cx="3091510" cy="51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Avisar por Slack cuando llega un formulario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168184" y="2612330"/>
            <a:ext cx="309151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Alguien completa el form de contacto y el equipo tiene que enterarse.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15975" y="3404096"/>
            <a:ext cx="3414167" cy="1728341"/>
          </a:xfrm>
          <a:prstGeom prst="roundRect">
            <a:avLst>
              <a:gd fmla="val 7164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022350" y="3610471"/>
            <a:ext cx="309145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Rubik"/>
              <a:buNone/>
            </a:pPr>
            <a:r>
              <a:rPr b="1" i="0" lang="en-US" sz="14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Caso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022350" y="3935561"/>
            <a:ext cx="3091459" cy="51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Clasificar y derivar mails entrantes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22350" y="4499421"/>
            <a:ext cx="3091459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Llegan 200 mails por día a info@ y cada uno tiene que ir a su área.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388892" y="3404096"/>
            <a:ext cx="3414167" cy="1728341"/>
          </a:xfrm>
          <a:prstGeom prst="roundRect">
            <a:avLst>
              <a:gd fmla="val 7164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95267" y="3610471"/>
            <a:ext cx="309145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Rubik"/>
              <a:buNone/>
            </a:pPr>
            <a:r>
              <a:rPr b="1" i="0" lang="en-US" sz="14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Caso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95267" y="3935561"/>
            <a:ext cx="3091459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Calificar un lead entrante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95267" y="4255591"/>
            <a:ext cx="3091459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Investigar la empresa, cruzarla con el CRM y decidir si se agenda una demo.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961809" y="3404096"/>
            <a:ext cx="3414216" cy="1728341"/>
          </a:xfrm>
          <a:prstGeom prst="roundRect">
            <a:avLst>
              <a:gd fmla="val 7164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168184" y="3610471"/>
            <a:ext cx="30915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Rubik"/>
              <a:buNone/>
            </a:pPr>
            <a:r>
              <a:rPr b="1" i="0" lang="en-US" sz="14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Caso 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168184" y="3935561"/>
            <a:ext cx="3091510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Reporte semanal de ventas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168184" y="4255591"/>
            <a:ext cx="309151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Todos los lunes, el gerente recibe por mail las ventas de la semana.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IBM Plex Sans"/>
                <a:ea typeface="IBM Plex Sans"/>
                <a:cs typeface="IBM Plex Sans"/>
                <a:sym typeface="IBM Plex Sans"/>
              </a:rPr>
              <a:t>ANTES DE REVELAR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200"/>
              <a:buFont typeface="Rubik"/>
              <a:buNone/>
            </a:pPr>
            <a:r>
              <a:rPr b="1" i="0" lang="en-US" sz="32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4 preguntas para decidir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815975" y="1882725"/>
            <a:ext cx="5187950" cy="1464221"/>
          </a:xfrm>
          <a:prstGeom prst="roundRect">
            <a:avLst>
              <a:gd fmla="val 8457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098550" y="2165300"/>
            <a:ext cx="4761484" cy="573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¿Podés dibujar el diagrama completo antes de que llegue el dato?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098550" y="2815481"/>
            <a:ext cx="476148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Sí → </a:t>
            </a:r>
            <a:r>
              <a:rPr b="1" i="0" lang="en-US" sz="1400" u="none" cap="none" strike="noStrike">
                <a:solidFill>
                  <a:srgbClr val="2457C5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188075" y="1882725"/>
            <a:ext cx="5187950" cy="1464221"/>
          </a:xfrm>
          <a:prstGeom prst="roundRect">
            <a:avLst>
              <a:gd fmla="val 8457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470650" y="2165300"/>
            <a:ext cx="4761484" cy="573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¿El input viene en campos fijos o es texto libre y ambiguo?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470650" y="2815481"/>
            <a:ext cx="476148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Campos fijos → </a:t>
            </a:r>
            <a:r>
              <a:rPr b="1" i="0" lang="en-US" sz="1400" u="none" cap="none" strike="noStrike">
                <a:solidFill>
                  <a:srgbClr val="2457C5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15975" y="3531096"/>
            <a:ext cx="5187950" cy="1464221"/>
          </a:xfrm>
          <a:prstGeom prst="roundRect">
            <a:avLst>
              <a:gd fmla="val 8457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098550" y="3813671"/>
            <a:ext cx="4761484" cy="573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¿La cantidad y el orden de los pasos cambian según el caso?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98550" y="4463852"/>
            <a:ext cx="476148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Sí, cambian → </a:t>
            </a:r>
            <a:r>
              <a:rPr b="1" i="0" lang="en-US" sz="1400" u="none" cap="none" strike="noStrike">
                <a:solidFill>
                  <a:srgbClr val="C2410C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188075" y="3531096"/>
            <a:ext cx="5187950" cy="1464221"/>
          </a:xfrm>
          <a:prstGeom prst="roundRect">
            <a:avLst>
              <a:gd fmla="val 8457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470650" y="3813671"/>
            <a:ext cx="4761484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¿Cuánto cuesta un error?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70650" y="4189561"/>
            <a:ext cx="476148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Muy caro → </a:t>
            </a:r>
            <a:r>
              <a:rPr b="1" i="0" lang="en-US" sz="1400" u="none" cap="none" strike="noStrike">
                <a:solidFill>
                  <a:srgbClr val="2457C5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determinismo</a:t>
            </a: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 o </a:t>
            </a:r>
            <a:r>
              <a:rPr b="1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human-in-the-loop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C2410C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TRAMPA MÁS COMÚN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200"/>
              <a:buFont typeface="Rubik"/>
              <a:buNone/>
            </a:pPr>
            <a:r>
              <a:rPr b="1" i="0" lang="en-US" sz="32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Usar IA no te convierte en agente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15975" y="2113806"/>
            <a:ext cx="3109367" cy="1702941"/>
          </a:xfrm>
          <a:prstGeom prst="roundRect">
            <a:avLst>
              <a:gd fmla="val 7271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073150" y="2370981"/>
            <a:ext cx="2672867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57C5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2457C5"/>
                </a:solidFill>
                <a:latin typeface="Rubik"/>
                <a:ea typeface="Rubik"/>
                <a:cs typeface="Rubik"/>
                <a:sym typeface="Rubik"/>
              </a:rPr>
              <a:t>Lineal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073150" y="2746871"/>
            <a:ext cx="2672867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Vos definís cada ruta con IF y Switch.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073150" y="3346252"/>
            <a:ext cx="26728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719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 → Slack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row-right"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5517" y="2863701"/>
            <a:ext cx="3556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4541292" y="1882725"/>
            <a:ext cx="3109416" cy="2165152"/>
          </a:xfrm>
          <a:prstGeom prst="roundRect">
            <a:avLst>
              <a:gd fmla="val 5719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798467" y="2139900"/>
            <a:ext cx="2672918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D4AC2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6D4AC2"/>
                </a:solidFill>
                <a:latin typeface="Rubik"/>
                <a:ea typeface="Rubik"/>
                <a:cs typeface="Rubik"/>
                <a:sym typeface="Rubik"/>
              </a:rPr>
              <a:t>Lineal con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798467" y="2515791"/>
            <a:ext cx="2672918" cy="772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Vos definís la ruta; el LLM resuelve un paso: extraer, clasificar, resumir.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798467" y="3364061"/>
            <a:ext cx="2672918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719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Gmail → Text Classifier → Switch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row-right"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0883" y="2863701"/>
            <a:ext cx="3556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8266658" y="1989386"/>
            <a:ext cx="3109367" cy="1951831"/>
          </a:xfrm>
          <a:prstGeom prst="roundRect">
            <a:avLst>
              <a:gd fmla="val 6344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8523833" y="2246561"/>
            <a:ext cx="2672867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C2410C"/>
                </a:solidFill>
                <a:latin typeface="Rubik"/>
                <a:ea typeface="Rubik"/>
                <a:cs typeface="Rubik"/>
                <a:sym typeface="Rubik"/>
              </a:rPr>
              <a:t>Agente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523833" y="2622451"/>
            <a:ext cx="2672867" cy="772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modelo decide qué herramienta usar, en qué orden y cuándo terminar.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523833" y="3470721"/>
            <a:ext cx="26728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7191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Agent +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12800" y="4355852"/>
            <a:ext cx="10883392" cy="32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0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La pregunta clave: </a:t>
            </a: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¿quién controla el flujo?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 1 · RESOLUCIÓN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812800" y="1111200"/>
            <a:ext cx="4599384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000"/>
              <a:buFont typeface="Rubik"/>
              <a:buNone/>
            </a:pPr>
            <a:r>
              <a:rPr b="1" i="0" lang="en-US" sz="30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Generar una factura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0243046" y="1102320"/>
            <a:ext cx="1136154" cy="436860"/>
          </a:xfrm>
          <a:prstGeom prst="roundRect">
            <a:avLst>
              <a:gd fmla="val 50000" name="adj"/>
            </a:avLst>
          </a:prstGeom>
          <a:solidFill>
            <a:srgbClr val="2457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CFA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FDFCFA"/>
                </a:solidFill>
                <a:latin typeface="Rubik"/>
                <a:ea typeface="Rubik"/>
                <a:cs typeface="Rubik"/>
                <a:sym typeface="Rubik"/>
              </a:rPr>
              <a:t>LINEAL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815975" y="1770955"/>
            <a:ext cx="5175250" cy="2383582"/>
          </a:xfrm>
          <a:prstGeom prst="roundRect">
            <a:avLst>
              <a:gd fmla="val 5195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1073150" y="2028130"/>
            <a:ext cx="4800727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Por qué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151382" y="2404021"/>
            <a:ext cx="4714875" cy="1518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pago llega con datos estructurados: monto, CUIT, ítems.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 reglas fiscales son fijas: no hay nada que interpretar.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error es caro. Acá querés determinismo, no creatividad.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197600" y="1767780"/>
            <a:ext cx="5181600" cy="2389932"/>
          </a:xfrm>
          <a:prstGeom prst="roundRect">
            <a:avLst>
              <a:gd fmla="val 5314" name="adj"/>
            </a:avLst>
          </a:prstGeom>
          <a:solidFill>
            <a:srgbClr val="1E21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451600" y="2021780"/>
            <a:ext cx="4813808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F2EE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3F2EE"/>
                </a:solidFill>
                <a:latin typeface="Rubik"/>
                <a:ea typeface="Rubik"/>
                <a:cs typeface="Rubik"/>
                <a:sym typeface="Rubik"/>
              </a:rPr>
              <a:t>En n8n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451600" y="2397671"/>
            <a:ext cx="4813808" cy="1061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Webhook (pago aprobado)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Set / Code (calcular IVA)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HTTP Request (API de facturación)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Gmail (enviar el PDF)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12800" y="4386312"/>
            <a:ext cx="10566400" cy="853380"/>
          </a:xfrm>
          <a:prstGeom prst="roundRect">
            <a:avLst>
              <a:gd fmla="val 8929" name="adj"/>
            </a:avLst>
          </a:prstGeom>
          <a:solidFill>
            <a:srgbClr val="E9EEF9"/>
          </a:solidFill>
          <a:ln>
            <a:noFill/>
          </a:ln>
        </p:spPr>
        <p:txBody>
          <a:bodyPr anchorCtr="0" anchor="t" bIns="130075" lIns="257075" spcFirstLastPara="1" rIns="0" wrap="square" tIns="1554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¿Y si el pedido llega como un mail en texto libre?</a:t>
            </a:r>
            <a:r>
              <a:rPr b="0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Sumás un Information Extractor que lo pase a JSON y seguís lineal. Sigue sin ser agente.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12800" y="4386312"/>
            <a:ext cx="10566400" cy="853380"/>
          </a:xfrm>
          <a:custGeom>
            <a:rect b="b" l="l" r="r" t="t"/>
            <a:pathLst>
              <a:path extrusionOk="0" h="853380" w="10566400">
                <a:moveTo>
                  <a:pt x="76200" y="853380"/>
                </a:moveTo>
                <a:lnTo>
                  <a:pt x="76200" y="853380"/>
                </a:lnTo>
                <a:cubicBezTo>
                  <a:pt x="34116" y="853380"/>
                  <a:pt x="0" y="819264"/>
                  <a:pt x="0" y="77718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777180"/>
                </a:lnTo>
                <a:cubicBezTo>
                  <a:pt x="50800" y="797389"/>
                  <a:pt x="53476" y="816771"/>
                  <a:pt x="58239" y="831062"/>
                </a:cubicBezTo>
                <a:cubicBezTo>
                  <a:pt x="63003" y="845352"/>
                  <a:pt x="69464" y="853380"/>
                  <a:pt x="76200" y="853380"/>
                </a:cubicBezTo>
                <a:close/>
              </a:path>
            </a:pathLst>
          </a:custGeom>
          <a:solidFill>
            <a:srgbClr val="2457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 2 · RESOLUCIÓN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812800" y="1111200"/>
            <a:ext cx="72224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000"/>
              <a:buFont typeface="Rubik"/>
              <a:buNone/>
            </a:pPr>
            <a:r>
              <a:rPr b="1" i="0" lang="en-US" sz="30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Analizar la disputa de un cliente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0150425" y="1102320"/>
            <a:ext cx="1228775" cy="436860"/>
          </a:xfrm>
          <a:prstGeom prst="roundRect">
            <a:avLst>
              <a:gd fmla="val 50000" name="adj"/>
            </a:avLst>
          </a:prstGeom>
          <a:solidFill>
            <a:srgbClr val="C241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CFA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FDFCFA"/>
                </a:solidFill>
                <a:latin typeface="Rubik"/>
                <a:ea typeface="Rubik"/>
                <a:cs typeface="Rubik"/>
                <a:sym typeface="Rubik"/>
              </a:rPr>
              <a:t>AGENTE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815975" y="1770955"/>
            <a:ext cx="5175250" cy="2690961"/>
          </a:xfrm>
          <a:prstGeom prst="roundRect">
            <a:avLst>
              <a:gd fmla="val 4602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1073150" y="2028130"/>
            <a:ext cx="4800727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Por qué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51382" y="2404021"/>
            <a:ext cx="4714875" cy="1020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Texto libre con varios reclamos mezclados.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Tiene que decidir qué consultar: pagos, envío, política.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 pasos cambian según el caso: no hay un diagrama fijo.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197600" y="1767780"/>
            <a:ext cx="5181600" cy="2697311"/>
          </a:xfrm>
          <a:prstGeom prst="roundRect">
            <a:avLst>
              <a:gd fmla="val 4708" name="adj"/>
            </a:avLst>
          </a:prstGeom>
          <a:solidFill>
            <a:srgbClr val="1E21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6451600" y="2021780"/>
            <a:ext cx="4813808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F2EE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3F2EE"/>
                </a:solidFill>
                <a:latin typeface="Rubik"/>
                <a:ea typeface="Rubik"/>
                <a:cs typeface="Rubik"/>
                <a:sym typeface="Rubik"/>
              </a:rPr>
              <a:t>En n8n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451600" y="2397671"/>
            <a:ext cx="4813808" cy="1838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Gmail Trigger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AI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Tool: Sheets (pedidos)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Tool: API de pagos (lectura)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Tool: política (doc)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Slack: humano aprueba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Gmail (respuesta)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812800" y="4693692"/>
            <a:ext cx="10566400" cy="853380"/>
          </a:xfrm>
          <a:prstGeom prst="roundRect">
            <a:avLst>
              <a:gd fmla="val 8929" name="adj"/>
            </a:avLst>
          </a:prstGeom>
          <a:solidFill>
            <a:srgbClr val="FBE9E0"/>
          </a:solidFill>
          <a:ln>
            <a:noFill/>
          </a:ln>
        </p:spPr>
        <p:txBody>
          <a:bodyPr anchorCtr="0" anchor="t" bIns="130075" lIns="257075" spcFirstLastPara="1" rIns="0" wrap="square" tIns="1554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Guardrail clave:</a:t>
            </a:r>
            <a:r>
              <a:rPr b="0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el agente investiga y propone el reembolso; un humano lo aprueba. Mínimo privilegio: puede leer pagos, no devolver dinero.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12800" y="4693692"/>
            <a:ext cx="10566400" cy="853380"/>
          </a:xfrm>
          <a:custGeom>
            <a:rect b="b" l="l" r="r" t="t"/>
            <a:pathLst>
              <a:path extrusionOk="0" h="853380" w="10566400">
                <a:moveTo>
                  <a:pt x="76200" y="853380"/>
                </a:moveTo>
                <a:lnTo>
                  <a:pt x="76200" y="853380"/>
                </a:lnTo>
                <a:cubicBezTo>
                  <a:pt x="34116" y="853380"/>
                  <a:pt x="0" y="819264"/>
                  <a:pt x="0" y="77718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777180"/>
                </a:lnTo>
                <a:cubicBezTo>
                  <a:pt x="50800" y="797389"/>
                  <a:pt x="53476" y="816771"/>
                  <a:pt x="58239" y="831062"/>
                </a:cubicBezTo>
                <a:cubicBezTo>
                  <a:pt x="63003" y="845352"/>
                  <a:pt x="69464" y="853380"/>
                  <a:pt x="76200" y="853380"/>
                </a:cubicBezTo>
                <a:close/>
              </a:path>
            </a:pathLst>
          </a:custGeom>
          <a:solidFill>
            <a:srgbClr val="C241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 3 · RESOLUCIÓN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812800" y="1111200"/>
            <a:ext cx="8492311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000"/>
              <a:buFont typeface="Rubik"/>
              <a:buNone/>
            </a:pPr>
            <a:r>
              <a:rPr b="1" i="0" lang="en-US" sz="30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Avisar por Slack cuando llega un 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0243046" y="1102320"/>
            <a:ext cx="1136154" cy="436860"/>
          </a:xfrm>
          <a:prstGeom prst="roundRect">
            <a:avLst>
              <a:gd fmla="val 50000" name="adj"/>
            </a:avLst>
          </a:prstGeom>
          <a:solidFill>
            <a:srgbClr val="2457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CFA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FDFCFA"/>
                </a:solidFill>
                <a:latin typeface="Rubik"/>
                <a:ea typeface="Rubik"/>
                <a:cs typeface="Rubik"/>
                <a:sym typeface="Rubik"/>
              </a:rPr>
              <a:t>LINEAL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815975" y="1770955"/>
            <a:ext cx="5175250" cy="1636911"/>
          </a:xfrm>
          <a:prstGeom prst="roundRect">
            <a:avLst>
              <a:gd fmla="val 7565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1073150" y="2028130"/>
            <a:ext cx="4800727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Por qué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1151382" y="2404021"/>
            <a:ext cx="4714875" cy="772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Evento → acción. Siempre igual.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hay nada que decidir ni interpretar.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agente acá suma costo, latencia y fragilidad.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197600" y="1767780"/>
            <a:ext cx="5181600" cy="1643261"/>
          </a:xfrm>
          <a:prstGeom prst="roundRect">
            <a:avLst>
              <a:gd fmla="val 7729" name="adj"/>
            </a:avLst>
          </a:prstGeom>
          <a:solidFill>
            <a:srgbClr val="1E21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6451600" y="2021780"/>
            <a:ext cx="4813808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F2EE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3F2EE"/>
                </a:solidFill>
                <a:latin typeface="Rubik"/>
                <a:ea typeface="Rubik"/>
                <a:cs typeface="Rubik"/>
                <a:sym typeface="Rubik"/>
              </a:rPr>
              <a:t>En n8n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451600" y="2397671"/>
            <a:ext cx="4813808" cy="54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Form Trigger / Typeform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Slack (mensaje con los campos)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812800" y="3639641"/>
            <a:ext cx="10566400" cy="853380"/>
          </a:xfrm>
          <a:prstGeom prst="roundRect">
            <a:avLst>
              <a:gd fmla="val 8929" name="adj"/>
            </a:avLst>
          </a:prstGeom>
          <a:solidFill>
            <a:srgbClr val="E9EEF9"/>
          </a:solidFill>
          <a:ln>
            <a:noFill/>
          </a:ln>
        </p:spPr>
        <p:txBody>
          <a:bodyPr anchorCtr="0" anchor="t" bIns="130075" lIns="257075" spcFirstLastPara="1" rIns="0" wrap="square" tIns="1554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¿Y si hay que avisar a #ventas o a #soporte según el pedido?</a:t>
            </a:r>
            <a:r>
              <a:rPr b="0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Si hay un campo “motivo”: Switch. Si es texto libre: Text Classifier. Todavía lineal.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12800" y="3639641"/>
            <a:ext cx="10566400" cy="853380"/>
          </a:xfrm>
          <a:custGeom>
            <a:rect b="b" l="l" r="r" t="t"/>
            <a:pathLst>
              <a:path extrusionOk="0" h="853380" w="10566400">
                <a:moveTo>
                  <a:pt x="76200" y="853380"/>
                </a:moveTo>
                <a:lnTo>
                  <a:pt x="76200" y="853380"/>
                </a:lnTo>
                <a:cubicBezTo>
                  <a:pt x="34116" y="853380"/>
                  <a:pt x="0" y="819264"/>
                  <a:pt x="0" y="77718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777180"/>
                </a:lnTo>
                <a:cubicBezTo>
                  <a:pt x="50800" y="797389"/>
                  <a:pt x="53476" y="816771"/>
                  <a:pt x="58239" y="831062"/>
                </a:cubicBezTo>
                <a:cubicBezTo>
                  <a:pt x="63003" y="845352"/>
                  <a:pt x="69464" y="853380"/>
                  <a:pt x="76200" y="853380"/>
                </a:cubicBezTo>
                <a:close/>
              </a:path>
            </a:pathLst>
          </a:custGeom>
          <a:solidFill>
            <a:srgbClr val="2457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 4 · RESOLUCIÓN · EL CASO TRAMPA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812800" y="1111200"/>
            <a:ext cx="5524679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000"/>
              <a:buFont typeface="Rubik"/>
              <a:buNone/>
            </a:pPr>
            <a:r>
              <a:rPr b="1" i="0" lang="en-US" sz="30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Clasificar y derivar mails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9826675" y="1102320"/>
            <a:ext cx="1552525" cy="436860"/>
          </a:xfrm>
          <a:prstGeom prst="roundRect">
            <a:avLst>
              <a:gd fmla="val 50000" name="adj"/>
            </a:avLst>
          </a:prstGeom>
          <a:solidFill>
            <a:srgbClr val="6D4A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CFA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FDFCFA"/>
                </a:solidFill>
                <a:latin typeface="Rubik"/>
                <a:ea typeface="Rubik"/>
                <a:cs typeface="Rubik"/>
                <a:sym typeface="Rubik"/>
              </a:rPr>
              <a:t>LINEAL +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815975" y="1770955"/>
            <a:ext cx="5175250" cy="2172841"/>
          </a:xfrm>
          <a:prstGeom prst="roundRect">
            <a:avLst>
              <a:gd fmla="val 5699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073150" y="2028130"/>
            <a:ext cx="4800727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Por qué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151382" y="2404021"/>
            <a:ext cx="4714875" cy="772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Entender el mail es ambiguo: necesita un LLM.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Pero después el camino es fijo: categoría → área.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LLM etiqueta; la ruta la decide tu Switch.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6197600" y="1767780"/>
            <a:ext cx="5181600" cy="2179191"/>
          </a:xfrm>
          <a:prstGeom prst="roundRect">
            <a:avLst>
              <a:gd fmla="val 5828" name="adj"/>
            </a:avLst>
          </a:prstGeom>
          <a:solidFill>
            <a:srgbClr val="1E21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6451600" y="2021780"/>
            <a:ext cx="4813808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F2EE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3F2EE"/>
                </a:solidFill>
                <a:latin typeface="Rubik"/>
                <a:ea typeface="Rubik"/>
                <a:cs typeface="Rubik"/>
                <a:sym typeface="Rubik"/>
              </a:rPr>
              <a:t>En n8n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6451600" y="2397671"/>
            <a:ext cx="4813808" cy="132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D8CC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Gmail Trigger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D8CC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Text Classifier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D8CC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(ventas / soporte / facturación / otro)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D8CC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Switch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D8CC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D8CC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Gmail label + Slack al área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812800" y="4175571"/>
            <a:ext cx="10566400" cy="853380"/>
          </a:xfrm>
          <a:prstGeom prst="roundRect">
            <a:avLst>
              <a:gd fmla="val 8929" name="adj"/>
            </a:avLst>
          </a:prstGeom>
          <a:solidFill>
            <a:srgbClr val="EEE9F8"/>
          </a:solidFill>
          <a:ln>
            <a:noFill/>
          </a:ln>
        </p:spPr>
        <p:txBody>
          <a:bodyPr anchorCtr="0" anchor="t" bIns="130075" lIns="257075" spcFirstLastPara="1" rIns="0" wrap="square" tIns="1554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¿Cuándo pasaría a agente?</a:t>
            </a:r>
            <a:r>
              <a:rPr b="0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Si además tiene que buscar al cliente, revisar su historial y decidir si responde, escala o abre un ticket.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812800" y="4175571"/>
            <a:ext cx="10566400" cy="853380"/>
          </a:xfrm>
          <a:custGeom>
            <a:rect b="b" l="l" r="r" t="t"/>
            <a:pathLst>
              <a:path extrusionOk="0" h="853380" w="10566400">
                <a:moveTo>
                  <a:pt x="76200" y="853380"/>
                </a:moveTo>
                <a:lnTo>
                  <a:pt x="76200" y="853380"/>
                </a:lnTo>
                <a:cubicBezTo>
                  <a:pt x="34116" y="853380"/>
                  <a:pt x="0" y="819264"/>
                  <a:pt x="0" y="77718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777180"/>
                </a:lnTo>
                <a:cubicBezTo>
                  <a:pt x="50800" y="797389"/>
                  <a:pt x="53476" y="816771"/>
                  <a:pt x="58239" y="831062"/>
                </a:cubicBezTo>
                <a:cubicBezTo>
                  <a:pt x="63003" y="845352"/>
                  <a:pt x="69464" y="853380"/>
                  <a:pt x="76200" y="853380"/>
                </a:cubicBezTo>
                <a:close/>
              </a:path>
            </a:pathLst>
          </a:custGeom>
          <a:solidFill>
            <a:srgbClr val="6D4A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 5 · RESOLUCIÓN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812800" y="1111200"/>
            <a:ext cx="5764828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000"/>
              <a:buFont typeface="Rubik"/>
              <a:buNone/>
            </a:pPr>
            <a:r>
              <a:rPr b="1" i="0" lang="en-US" sz="30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Calificar un lead entrante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10150425" y="1102320"/>
            <a:ext cx="1228775" cy="436860"/>
          </a:xfrm>
          <a:prstGeom prst="roundRect">
            <a:avLst>
              <a:gd fmla="val 50000" name="adj"/>
            </a:avLst>
          </a:prstGeom>
          <a:solidFill>
            <a:srgbClr val="C241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CFA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FDFCFA"/>
                </a:solidFill>
                <a:latin typeface="Rubik"/>
                <a:ea typeface="Rubik"/>
                <a:cs typeface="Rubik"/>
                <a:sym typeface="Rubik"/>
              </a:rPr>
              <a:t>AGENTE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815975" y="1770955"/>
            <a:ext cx="5175250" cy="2431901"/>
          </a:xfrm>
          <a:prstGeom prst="roundRect">
            <a:avLst>
              <a:gd fmla="val 5092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1073150" y="2028130"/>
            <a:ext cx="4800727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Por qué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151382" y="2404021"/>
            <a:ext cx="4714875" cy="772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sabés cuántas búsquedas va a necesitar.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una fuente no alcanza, prueba otra: eso es ReAct.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Decide la acción final: agendar, nutrir o descartar.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197600" y="1767780"/>
            <a:ext cx="5181600" cy="2438251"/>
          </a:xfrm>
          <a:prstGeom prst="roundRect">
            <a:avLst>
              <a:gd fmla="val 5209" name="adj"/>
            </a:avLst>
          </a:prstGeom>
          <a:solidFill>
            <a:srgbClr val="1E21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6451600" y="2021780"/>
            <a:ext cx="4813808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F2EE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3F2EE"/>
                </a:solidFill>
                <a:latin typeface="Rubik"/>
                <a:ea typeface="Rubik"/>
                <a:cs typeface="Rubik"/>
                <a:sym typeface="Rubik"/>
              </a:rPr>
              <a:t>En n8n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451600" y="2397671"/>
            <a:ext cx="4813808" cy="1579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Webhook (form del lead)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AI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Tool: búsqueda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Tool: CRM (solo lectura)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Tool: Google Calendar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C9B3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5C9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Slack (log de la decisión)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12800" y="4434632"/>
            <a:ext cx="10566400" cy="604490"/>
          </a:xfrm>
          <a:prstGeom prst="roundRect">
            <a:avLst>
              <a:gd fmla="val 12606" name="adj"/>
            </a:avLst>
          </a:prstGeom>
          <a:solidFill>
            <a:srgbClr val="FBE9E0"/>
          </a:solidFill>
          <a:ln>
            <a:noFill/>
          </a:ln>
        </p:spPr>
        <p:txBody>
          <a:bodyPr anchorCtr="0" anchor="t" bIns="130075" lIns="257075" spcFirstLastPara="1" rIns="0" wrap="square" tIns="1554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Guardrails:</a:t>
            </a:r>
            <a:r>
              <a:rPr b="0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Max Iterations entre 5 y 10 para que no investigue infinito, y un log en Slack con el porqué de cada decisión.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812800" y="4434632"/>
            <a:ext cx="10566400" cy="604490"/>
          </a:xfrm>
          <a:custGeom>
            <a:rect b="b" l="l" r="r" t="t"/>
            <a:pathLst>
              <a:path extrusionOk="0" h="604490" w="10566400">
                <a:moveTo>
                  <a:pt x="76200" y="604490"/>
                </a:moveTo>
                <a:lnTo>
                  <a:pt x="76200" y="604490"/>
                </a:lnTo>
                <a:cubicBezTo>
                  <a:pt x="34116" y="604490"/>
                  <a:pt x="0" y="570374"/>
                  <a:pt x="0" y="52829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528290"/>
                </a:lnTo>
                <a:cubicBezTo>
                  <a:pt x="50800" y="548499"/>
                  <a:pt x="53476" y="567881"/>
                  <a:pt x="58239" y="582172"/>
                </a:cubicBezTo>
                <a:cubicBezTo>
                  <a:pt x="63003" y="596462"/>
                  <a:pt x="69464" y="604490"/>
                  <a:pt x="76200" y="604490"/>
                </a:cubicBezTo>
                <a:close/>
              </a:path>
            </a:pathLst>
          </a:custGeom>
          <a:solidFill>
            <a:srgbClr val="C241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 6 · RESOLUCIÓN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812800" y="1111200"/>
            <a:ext cx="6154698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000"/>
              <a:buFont typeface="Rubik"/>
              <a:buNone/>
            </a:pPr>
            <a:r>
              <a:rPr b="1" i="0" lang="en-US" sz="30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Reporte semanal de ventas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10243046" y="1102320"/>
            <a:ext cx="1136154" cy="436860"/>
          </a:xfrm>
          <a:prstGeom prst="roundRect">
            <a:avLst>
              <a:gd fmla="val 50000" name="adj"/>
            </a:avLst>
          </a:prstGeom>
          <a:solidFill>
            <a:srgbClr val="2457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CFA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FDFCFA"/>
                </a:solidFill>
                <a:latin typeface="Rubik"/>
                <a:ea typeface="Rubik"/>
                <a:cs typeface="Rubik"/>
                <a:sym typeface="Rubik"/>
              </a:rPr>
              <a:t>LINEAL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815975" y="1770955"/>
            <a:ext cx="5175250" cy="2172841"/>
          </a:xfrm>
          <a:prstGeom prst="roundRect">
            <a:avLst>
              <a:gd fmla="val 5699" name="adj"/>
            </a:avLst>
          </a:prstGeom>
          <a:solidFill>
            <a:srgbClr val="FDFCFA"/>
          </a:solidFill>
          <a:ln cap="flat" cmpd="sng" w="9525">
            <a:solidFill>
              <a:srgbClr val="E2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1073150" y="2028130"/>
            <a:ext cx="4800727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Por qué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1151382" y="2404021"/>
            <a:ext cx="4714875" cy="1020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Horario fijo, fuente fija, formato fijo.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un LLM redacta el resumen, es un paso más: sigue lineal.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F5A"/>
              </a:buClr>
              <a:buSzPts val="1400"/>
              <a:buFont typeface="IBM Plex Sans"/>
              <a:buChar char="•"/>
            </a:pPr>
            <a:r>
              <a:rPr b="0" i="0" lang="en-US" sz="1400" u="none" cap="none" strike="noStrike">
                <a:solidFill>
                  <a:srgbClr val="4A4F5A"/>
                </a:solidFill>
                <a:latin typeface="IBM Plex Sans"/>
                <a:ea typeface="IBM Plex Sans"/>
                <a:cs typeface="IBM Plex Sans"/>
                <a:sym typeface="IBM Plex Sans"/>
              </a:rPr>
              <a:t>Los números los calcula el Code, nunca el modelo.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6197600" y="1767780"/>
            <a:ext cx="5181600" cy="2179191"/>
          </a:xfrm>
          <a:prstGeom prst="roundRect">
            <a:avLst>
              <a:gd fmla="val 5828" name="adj"/>
            </a:avLst>
          </a:prstGeom>
          <a:solidFill>
            <a:srgbClr val="1E21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6451600" y="2021780"/>
            <a:ext cx="4813808" cy="299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F2EE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3F2EE"/>
                </a:solidFill>
                <a:latin typeface="Rubik"/>
                <a:ea typeface="Rubik"/>
                <a:cs typeface="Rubik"/>
                <a:sym typeface="Rubik"/>
              </a:rPr>
              <a:t>En n8n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451600" y="2397671"/>
            <a:ext cx="4813808" cy="132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Schedule Trigger (lunes 9:00)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Google Sheets (ventas)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Code / Summarize (totales)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Basic LLM Chain (opcional)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C9D6F5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C9D6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Gmail al gerente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812800" y="4175571"/>
            <a:ext cx="10566400" cy="853380"/>
          </a:xfrm>
          <a:prstGeom prst="roundRect">
            <a:avLst>
              <a:gd fmla="val 8929" name="adj"/>
            </a:avLst>
          </a:prstGeom>
          <a:solidFill>
            <a:srgbClr val="E9EEF9"/>
          </a:solidFill>
          <a:ln>
            <a:noFill/>
          </a:ln>
        </p:spPr>
        <p:txBody>
          <a:bodyPr anchorCtr="0" anchor="t" bIns="130075" lIns="257075" spcFirstLastPara="1" rIns="0" wrap="square" tIns="1554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¿Y si el gerente quiere preguntar “¿por qué cayó la zona norte?”</a:t>
            </a:r>
            <a:r>
              <a:rPr b="0" i="0" lang="en-US" sz="1400" u="none" cap="none" strike="noStrike">
                <a:solidFill>
                  <a:srgbClr val="1719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Eso sí es agente: un chat con una tool de Sheets para explorar los datos.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812800" y="4175571"/>
            <a:ext cx="10566400" cy="853380"/>
          </a:xfrm>
          <a:custGeom>
            <a:rect b="b" l="l" r="r" t="t"/>
            <a:pathLst>
              <a:path extrusionOk="0" h="853380" w="10566400">
                <a:moveTo>
                  <a:pt x="76200" y="853380"/>
                </a:moveTo>
                <a:lnTo>
                  <a:pt x="76200" y="853380"/>
                </a:lnTo>
                <a:cubicBezTo>
                  <a:pt x="34116" y="853380"/>
                  <a:pt x="0" y="819264"/>
                  <a:pt x="0" y="77718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777180"/>
                </a:lnTo>
                <a:cubicBezTo>
                  <a:pt x="50800" y="797389"/>
                  <a:pt x="53476" y="816771"/>
                  <a:pt x="58239" y="831062"/>
                </a:cubicBezTo>
                <a:cubicBezTo>
                  <a:pt x="63003" y="845352"/>
                  <a:pt x="69464" y="853380"/>
                  <a:pt x="76200" y="853380"/>
                </a:cubicBezTo>
                <a:close/>
              </a:path>
            </a:pathLst>
          </a:custGeom>
          <a:solidFill>
            <a:srgbClr val="2457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/>
          <p:nvPr/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7191F"/>
              </a:buClr>
              <a:buSzPts val="3200"/>
              <a:buFont typeface="Rubik"/>
              <a:buNone/>
            </a:pPr>
            <a:r>
              <a:rPr b="1" i="0" lang="en-US" sz="3200" u="none" cap="none" strike="noStrike">
                <a:solidFill>
                  <a:srgbClr val="17191F"/>
                </a:solidFill>
                <a:latin typeface="Rubik"/>
                <a:ea typeface="Rubik"/>
                <a:cs typeface="Rubik"/>
                <a:sym typeface="Rubik"/>
              </a:rPr>
              <a:t>Resumen: 3 lineales, 1 híbrido, 2 agentes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14"/>
          <p:cNvGraphicFramePr/>
          <p:nvPr/>
        </p:nvGraphicFramePr>
        <p:xfrm>
          <a:off x="825500" y="15773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{4A578A1E-4C21-4285-A089-8FED4BE4685F}</a:tableStyleId>
              </a:tblPr>
              <a:tblGrid>
                <a:gridCol w="4010400"/>
                <a:gridCol w="2110750"/>
                <a:gridCol w="4432550"/>
              </a:tblGrid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2EE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3F2E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Caso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2EE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3F2E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Veredicto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F2EE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3F2E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 señal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 · Generar una factura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57C5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457C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Lineal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Datos fijos y un error caro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618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</a:tr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 · Disputa de un cliente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C2410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Agente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Texto ambiguo, pasos variables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</a:tr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 · Aviso de formulario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57C5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457C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Lineal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Evento → acción, siempre igual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</a:tr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 · Clasificar mails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D4AC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6D4AC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Lineal + IA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El LLM etiqueta, el Switch decide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</a:tr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 · Calificar un lead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C2410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Agente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 sabés cuántas vueltas hacen falta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A"/>
                    </a:solidFill>
                  </a:tcPr>
                </a:tc>
              </a:tr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 · Reporte semanal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57C5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457C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Lineal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191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7191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Horario, fuente y formato fijos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AC9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5F1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7F8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7A7F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Automation Avanzado · Clase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410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/>
          <p:nvPr/>
        </p:nvSpPr>
        <p:spPr>
          <a:xfrm>
            <a:off x="812800" y="2146300"/>
            <a:ext cx="1088339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E0D3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FBE0D3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 LLEVARSE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812800" y="2649190"/>
            <a:ext cx="10883392" cy="147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FCFA"/>
              </a:buClr>
              <a:buSzPts val="5200"/>
              <a:buFont typeface="Rubik"/>
              <a:buNone/>
            </a:pPr>
            <a:r>
              <a:rPr b="1" i="0" lang="en-US" sz="5200" u="none" cap="none" strike="noStrike">
                <a:solidFill>
                  <a:srgbClr val="FDFCFA"/>
                </a:solidFill>
                <a:latin typeface="Rubik"/>
                <a:ea typeface="Rubik"/>
                <a:cs typeface="Rubik"/>
                <a:sym typeface="Rubik"/>
              </a:rPr>
              <a:t>Si podés escribir el IF, no necesitás un agente.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812800" y="4356050"/>
            <a:ext cx="108833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E0D3"/>
              </a:buClr>
              <a:buSzPts val="20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FBE0D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Mantené lo determinista, delegá lo ambiguo.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