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IBM Plex Sans"/>
      <p:regular r:id="rId45"/>
      <p:bold r:id="rId46"/>
      <p:italic r:id="rId47"/>
      <p:boldItalic r:id="rId48"/>
    </p:embeddedFont>
    <p:embeddedFont>
      <p:font typeface="Plus Jakarta Sans ExtraBold"/>
      <p:bold r:id="rId49"/>
      <p:boldItalic r:id="rId50"/>
    </p:embeddedFont>
    <p:embeddedFont>
      <p:font typeface="Plus Jakarta Sans"/>
      <p:regular r:id="rId51"/>
      <p:bold r:id="rId52"/>
      <p:italic r:id="rId53"/>
      <p:boldItalic r:id="rId54"/>
    </p:embeddedFont>
    <p:embeddedFont>
      <p:font typeface="Plus Jakarta Sans Light"/>
      <p:regular r:id="rId55"/>
      <p:bold r:id="rId56"/>
      <p:italic r:id="rId57"/>
      <p:boldItalic r:id="rId58"/>
    </p:embeddedFont>
    <p:embeddedFont>
      <p:font typeface="Plus Jakarta Sans Medium"/>
      <p:regular r:id="rId59"/>
      <p:bold r:id="rId60"/>
      <p:italic r:id="rId61"/>
      <p:boldItalic r:id="rId62"/>
    </p:embeddedFont>
    <p:embeddedFont>
      <p:font typeface="Rubik"/>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7" roundtripDataSignature="AMtx7mgt7JJ6y2TvXih3Y6FHX5Trc7hO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IBMPlexSans-bold.fntdata"/><Relationship Id="rId45" Type="http://schemas.openxmlformats.org/officeDocument/2006/relationships/font" Target="fonts/IBMPlexSans-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BMPlexSans-boldItalic.fntdata"/><Relationship Id="rId47" Type="http://schemas.openxmlformats.org/officeDocument/2006/relationships/font" Target="fonts/IBMPlexSans-italic.fntdata"/><Relationship Id="rId49" Type="http://schemas.openxmlformats.org/officeDocument/2006/relationships/font" Target="fonts/PlusJakartaSansExtra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lusJakartaSansMedium-boldItalic.fntdata"/><Relationship Id="rId61" Type="http://schemas.openxmlformats.org/officeDocument/2006/relationships/font" Target="fonts/PlusJakartaSansMedium-italic.fntdata"/><Relationship Id="rId20" Type="http://schemas.openxmlformats.org/officeDocument/2006/relationships/slide" Target="slides/slide14.xml"/><Relationship Id="rId64" Type="http://schemas.openxmlformats.org/officeDocument/2006/relationships/font" Target="fonts/Rubik-bold.fntdata"/><Relationship Id="rId63" Type="http://schemas.openxmlformats.org/officeDocument/2006/relationships/font" Target="fonts/Rubik-regular.fntdata"/><Relationship Id="rId22" Type="http://schemas.openxmlformats.org/officeDocument/2006/relationships/slide" Target="slides/slide16.xml"/><Relationship Id="rId66" Type="http://schemas.openxmlformats.org/officeDocument/2006/relationships/font" Target="fonts/Rubik-boldItalic.fntdata"/><Relationship Id="rId21" Type="http://schemas.openxmlformats.org/officeDocument/2006/relationships/slide" Target="slides/slide15.xml"/><Relationship Id="rId65" Type="http://schemas.openxmlformats.org/officeDocument/2006/relationships/font" Target="fonts/Rubik-italic.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font" Target="fonts/PlusJakartaSansMedium-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regular.fntdata"/><Relationship Id="rId50" Type="http://schemas.openxmlformats.org/officeDocument/2006/relationships/font" Target="fonts/PlusJakartaSansExtraBold-boldItalic.fntdata"/><Relationship Id="rId53" Type="http://schemas.openxmlformats.org/officeDocument/2006/relationships/font" Target="fonts/PlusJakartaSans-italic.fntdata"/><Relationship Id="rId52" Type="http://schemas.openxmlformats.org/officeDocument/2006/relationships/font" Target="fonts/PlusJakartaSans-bold.fntdata"/><Relationship Id="rId11" Type="http://schemas.openxmlformats.org/officeDocument/2006/relationships/slide" Target="slides/slide5.xml"/><Relationship Id="rId55" Type="http://schemas.openxmlformats.org/officeDocument/2006/relationships/font" Target="fonts/PlusJakartaSansLight-regular.fntdata"/><Relationship Id="rId10" Type="http://schemas.openxmlformats.org/officeDocument/2006/relationships/slide" Target="slides/slide4.xml"/><Relationship Id="rId54" Type="http://schemas.openxmlformats.org/officeDocument/2006/relationships/font" Target="fonts/PlusJakartaSans-boldItalic.fntdata"/><Relationship Id="rId13" Type="http://schemas.openxmlformats.org/officeDocument/2006/relationships/slide" Target="slides/slide7.xml"/><Relationship Id="rId57" Type="http://schemas.openxmlformats.org/officeDocument/2006/relationships/font" Target="fonts/PlusJakartaSansLight-italic.fntdata"/><Relationship Id="rId12" Type="http://schemas.openxmlformats.org/officeDocument/2006/relationships/slide" Target="slides/slide6.xml"/><Relationship Id="rId56" Type="http://schemas.openxmlformats.org/officeDocument/2006/relationships/font" Target="fonts/PlusJakartaSansLight-bold.fntdata"/><Relationship Id="rId15" Type="http://schemas.openxmlformats.org/officeDocument/2006/relationships/slide" Target="slides/slide9.xml"/><Relationship Id="rId59" Type="http://schemas.openxmlformats.org/officeDocument/2006/relationships/font" Target="fonts/PlusJakartaSansMedium-regular.fntdata"/><Relationship Id="rId14" Type="http://schemas.openxmlformats.org/officeDocument/2006/relationships/slide" Target="slides/slide8.xml"/><Relationship Id="rId58" Type="http://schemas.openxmlformats.org/officeDocument/2006/relationships/font" Target="fonts/PlusJakartaSans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58d8aaa4f65511c6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h58d8aaa4f65511c6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Dejá esta slide en pantalla mientras votan. Podés ir caso por caso o pedir los 6 votos juntos en un solo mensaje (ej: "1L 2A 3L 4? 5A 6L"). El caso 4 está pensado para dividir la votación: dejalo para el final del debate.</a:t>
            </a:r>
            <a:endParaRPr/>
          </a:p>
        </p:txBody>
      </p:sp>
      <p:sp>
        <p:nvSpPr>
          <p:cNvPr id="243" name="Google Shape;243;h58d8aaa4f65511c6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5" name="Google Shape;385;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39"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23" name="Shape 23"/>
        <p:cNvGrpSpPr/>
        <p:nvPr/>
      </p:nvGrpSpPr>
      <p:grpSpPr>
        <a:xfrm>
          <a:off x="0" y="0"/>
          <a:ext cx="0" cy="0"/>
          <a:chOff x="0" y="0"/>
          <a:chExt cx="0" cy="0"/>
        </a:xfrm>
      </p:grpSpPr>
      <p:pic>
        <p:nvPicPr>
          <p:cNvPr id="24" name="Google Shape;24;p44"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25" name="Google Shape;25;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7" name="Google Shape;27;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9" name="Shape 29"/>
        <p:cNvGrpSpPr/>
        <p:nvPr/>
      </p:nvGrpSpPr>
      <p:grpSpPr>
        <a:xfrm>
          <a:off x="0" y="0"/>
          <a:ext cx="0" cy="0"/>
          <a:chOff x="0" y="0"/>
          <a:chExt cx="0" cy="0"/>
        </a:xfrm>
      </p:grpSpPr>
      <p:sp>
        <p:nvSpPr>
          <p:cNvPr id="30" name="Google Shape;3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31" name="Shape 31"/>
        <p:cNvGrpSpPr/>
        <p:nvPr/>
      </p:nvGrpSpPr>
      <p:grpSpPr>
        <a:xfrm>
          <a:off x="0" y="0"/>
          <a:ext cx="0" cy="0"/>
          <a:chOff x="0" y="0"/>
          <a:chExt cx="0" cy="0"/>
        </a:xfrm>
      </p:grpSpPr>
      <p:pic>
        <p:nvPicPr>
          <p:cNvPr id="32" name="Google Shape;32;p46"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33" name="Google Shape;33;p4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34" name="Google Shape;34;p4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35" name="Google Shape;35;p4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6" name="Google Shape;36;p4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5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8" name="Google Shape;58;p5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5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2" name="Google Shape;6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5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6" name="Google Shape;66;p5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5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8" name="Google Shape;6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5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1" name="Google Shape;7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 name="Shape 72"/>
        <p:cNvGrpSpPr/>
        <p:nvPr/>
      </p:nvGrpSpPr>
      <p:grpSpPr>
        <a:xfrm>
          <a:off x="0" y="0"/>
          <a:ext cx="0" cy="0"/>
          <a:chOff x="0" y="0"/>
          <a:chExt cx="0" cy="0"/>
        </a:xfrm>
      </p:grpSpPr>
      <p:sp>
        <p:nvSpPr>
          <p:cNvPr id="73" name="Google Shape;73;p5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4" name="Google Shape;74;p5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5" name="Google Shape;7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76" name="Shape 76"/>
        <p:cNvGrpSpPr/>
        <p:nvPr/>
      </p:nvGrpSpPr>
      <p:grpSpPr>
        <a:xfrm>
          <a:off x="0" y="0"/>
          <a:ext cx="0" cy="0"/>
          <a:chOff x="0" y="0"/>
          <a:chExt cx="0" cy="0"/>
        </a:xfrm>
      </p:grpSpPr>
      <p:sp>
        <p:nvSpPr>
          <p:cNvPr id="77" name="Google Shape;7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57"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58"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5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5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5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5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7" name="Shape 8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2" name="Shape 92"/>
        <p:cNvGrpSpPr/>
        <p:nvPr/>
      </p:nvGrpSpPr>
      <p:grpSpPr>
        <a:xfrm>
          <a:off x="0" y="0"/>
          <a:ext cx="0" cy="0"/>
          <a:chOff x="0" y="0"/>
          <a:chExt cx="0" cy="0"/>
        </a:xfrm>
      </p:grpSpPr>
      <p:pic>
        <p:nvPicPr>
          <p:cNvPr id="93" name="Google Shape;93;hd8ee43fde86fe6f_0_725"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94" name="Shape 94"/>
        <p:cNvGrpSpPr/>
        <p:nvPr/>
      </p:nvGrpSpPr>
      <p:grpSpPr>
        <a:xfrm>
          <a:off x="0" y="0"/>
          <a:ext cx="0" cy="0"/>
          <a:chOff x="0" y="0"/>
          <a:chExt cx="0" cy="0"/>
        </a:xfrm>
      </p:grpSpPr>
      <p:sp>
        <p:nvSpPr>
          <p:cNvPr id="95" name="Google Shape;95;hd8ee43fde86fe6f_0_7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96" name="Google Shape;96;hd8ee43fde86fe6f_0_727"/>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97" name="Google Shape;97;hd8ee43fde86fe6f_0_727"/>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98" name="Google Shape;98;hd8ee43fde86fe6f_0_727"/>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99" name="Google Shape;99;hd8ee43fde86fe6f_0_727"/>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00" name="Shape 100"/>
        <p:cNvGrpSpPr/>
        <p:nvPr/>
      </p:nvGrpSpPr>
      <p:grpSpPr>
        <a:xfrm>
          <a:off x="0" y="0"/>
          <a:ext cx="0" cy="0"/>
          <a:chOff x="0" y="0"/>
          <a:chExt cx="0" cy="0"/>
        </a:xfrm>
      </p:grpSpPr>
      <p:sp>
        <p:nvSpPr>
          <p:cNvPr id="101" name="Google Shape;101;hd8ee43fde86fe6f_0_7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02" name="Shape 102"/>
        <p:cNvGrpSpPr/>
        <p:nvPr/>
      </p:nvGrpSpPr>
      <p:grpSpPr>
        <a:xfrm>
          <a:off x="0" y="0"/>
          <a:ext cx="0" cy="0"/>
          <a:chOff x="0" y="0"/>
          <a:chExt cx="0" cy="0"/>
        </a:xfrm>
      </p:grpSpPr>
      <p:sp>
        <p:nvSpPr>
          <p:cNvPr id="103" name="Google Shape;103;hd8ee43fde86fe6f_0_7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104" name="Shape 104"/>
        <p:cNvGrpSpPr/>
        <p:nvPr/>
      </p:nvGrpSpPr>
      <p:grpSpPr>
        <a:xfrm>
          <a:off x="0" y="0"/>
          <a:ext cx="0" cy="0"/>
          <a:chOff x="0" y="0"/>
          <a:chExt cx="0" cy="0"/>
        </a:xfrm>
      </p:grpSpPr>
      <p:sp>
        <p:nvSpPr>
          <p:cNvPr id="105" name="Google Shape;105;hd8ee43fde86fe6f_0_7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106" name="Shape 106"/>
        <p:cNvGrpSpPr/>
        <p:nvPr/>
      </p:nvGrpSpPr>
      <p:grpSpPr>
        <a:xfrm>
          <a:off x="0" y="0"/>
          <a:ext cx="0" cy="0"/>
          <a:chOff x="0" y="0"/>
          <a:chExt cx="0" cy="0"/>
        </a:xfrm>
      </p:grpSpPr>
      <p:pic>
        <p:nvPicPr>
          <p:cNvPr id="107" name="Google Shape;107;hd8ee43fde86fe6f_0_739"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108" name="Google Shape;108;hd8ee43fde86fe6f_0_73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09" name="Google Shape;109;hd8ee43fde86fe6f_0_73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10" name="Google Shape;110;hd8ee43fde86fe6f_0_73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11" name="Google Shape;111;hd8ee43fde86fe6f_0_73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112" name="Shape 112"/>
        <p:cNvGrpSpPr/>
        <p:nvPr/>
      </p:nvGrpSpPr>
      <p:grpSpPr>
        <a:xfrm>
          <a:off x="0" y="0"/>
          <a:ext cx="0" cy="0"/>
          <a:chOff x="0" y="0"/>
          <a:chExt cx="0" cy="0"/>
        </a:xfrm>
      </p:grpSpPr>
      <p:sp>
        <p:nvSpPr>
          <p:cNvPr id="113" name="Google Shape;113;hd8ee43fde86fe6f_0_7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114" name="Shape 114"/>
        <p:cNvGrpSpPr/>
        <p:nvPr/>
      </p:nvGrpSpPr>
      <p:grpSpPr>
        <a:xfrm>
          <a:off x="0" y="0"/>
          <a:ext cx="0" cy="0"/>
          <a:chOff x="0" y="0"/>
          <a:chExt cx="0" cy="0"/>
        </a:xfrm>
      </p:grpSpPr>
      <p:pic>
        <p:nvPicPr>
          <p:cNvPr id="115" name="Google Shape;115;hd8ee43fde86fe6f_0_747"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116" name="Google Shape;116;hd8ee43fde86fe6f_0_747"/>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17" name="Google Shape;117;hd8ee43fde86fe6f_0_747"/>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18" name="Google Shape;118;hd8ee43fde86fe6f_0_747"/>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19" name="Google Shape;119;hd8ee43fde86fe6f_0_747"/>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0" name="Shape 120"/>
        <p:cNvGrpSpPr/>
        <p:nvPr/>
      </p:nvGrpSpPr>
      <p:grpSpPr>
        <a:xfrm>
          <a:off x="0" y="0"/>
          <a:ext cx="0" cy="0"/>
          <a:chOff x="0" y="0"/>
          <a:chExt cx="0" cy="0"/>
        </a:xfrm>
      </p:grpSpPr>
      <p:sp>
        <p:nvSpPr>
          <p:cNvPr id="121" name="Google Shape;121;hd8ee43fde86fe6f_0_75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2" name="Google Shape;122;hd8ee43fde86fe6f_0_75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3" name="Google Shape;123;hd8ee43fde86fe6f_0_7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hd8ee43fde86fe6f_0_75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6" name="Google Shape;126;hd8ee43fde86fe6f_0_7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7" name="Shape 127"/>
        <p:cNvGrpSpPr/>
        <p:nvPr/>
      </p:nvGrpSpPr>
      <p:grpSpPr>
        <a:xfrm>
          <a:off x="0" y="0"/>
          <a:ext cx="0" cy="0"/>
          <a:chOff x="0" y="0"/>
          <a:chExt cx="0" cy="0"/>
        </a:xfrm>
      </p:grpSpPr>
      <p:sp>
        <p:nvSpPr>
          <p:cNvPr id="128" name="Google Shape;128;hd8ee43fde86fe6f_0_7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 name="Google Shape;129;hd8ee43fde86fe6f_0_7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0" name="Google Shape;130;hd8ee43fde86fe6f_0_7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1" name="Shape 131"/>
        <p:cNvGrpSpPr/>
        <p:nvPr/>
      </p:nvGrpSpPr>
      <p:grpSpPr>
        <a:xfrm>
          <a:off x="0" y="0"/>
          <a:ext cx="0" cy="0"/>
          <a:chOff x="0" y="0"/>
          <a:chExt cx="0" cy="0"/>
        </a:xfrm>
      </p:grpSpPr>
      <p:sp>
        <p:nvSpPr>
          <p:cNvPr id="132" name="Google Shape;132;hd8ee43fde86fe6f_0_7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hd8ee43fde86fe6f_0_76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4" name="Google Shape;134;hd8ee43fde86fe6f_0_76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5" name="Google Shape;135;hd8ee43fde86fe6f_0_7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6" name="Shape 136"/>
        <p:cNvGrpSpPr/>
        <p:nvPr/>
      </p:nvGrpSpPr>
      <p:grpSpPr>
        <a:xfrm>
          <a:off x="0" y="0"/>
          <a:ext cx="0" cy="0"/>
          <a:chOff x="0" y="0"/>
          <a:chExt cx="0" cy="0"/>
        </a:xfrm>
      </p:grpSpPr>
      <p:sp>
        <p:nvSpPr>
          <p:cNvPr id="137" name="Google Shape;137;hd8ee43fde86fe6f_0_7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8" name="Google Shape;138;hd8ee43fde86fe6f_0_7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9" name="Shape 139"/>
        <p:cNvGrpSpPr/>
        <p:nvPr/>
      </p:nvGrpSpPr>
      <p:grpSpPr>
        <a:xfrm>
          <a:off x="0" y="0"/>
          <a:ext cx="0" cy="0"/>
          <a:chOff x="0" y="0"/>
          <a:chExt cx="0" cy="0"/>
        </a:xfrm>
      </p:grpSpPr>
      <p:sp>
        <p:nvSpPr>
          <p:cNvPr id="140" name="Google Shape;140;hd8ee43fde86fe6f_0_77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1" name="Google Shape;141;hd8ee43fde86fe6f_0_77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2" name="Google Shape;142;hd8ee43fde86fe6f_0_7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3" name="Shape 143"/>
        <p:cNvGrpSpPr/>
        <p:nvPr/>
      </p:nvGrpSpPr>
      <p:grpSpPr>
        <a:xfrm>
          <a:off x="0" y="0"/>
          <a:ext cx="0" cy="0"/>
          <a:chOff x="0" y="0"/>
          <a:chExt cx="0" cy="0"/>
        </a:xfrm>
      </p:grpSpPr>
      <p:sp>
        <p:nvSpPr>
          <p:cNvPr id="144" name="Google Shape;144;hd8ee43fde86fe6f_0_77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5" name="Google Shape;145;hd8ee43fde86fe6f_0_7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6" name="Shape 146"/>
        <p:cNvGrpSpPr/>
        <p:nvPr/>
      </p:nvGrpSpPr>
      <p:grpSpPr>
        <a:xfrm>
          <a:off x="0" y="0"/>
          <a:ext cx="0" cy="0"/>
          <a:chOff x="0" y="0"/>
          <a:chExt cx="0" cy="0"/>
        </a:xfrm>
      </p:grpSpPr>
      <p:sp>
        <p:nvSpPr>
          <p:cNvPr id="147" name="Google Shape;147;hd8ee43fde86fe6f_0_77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hd8ee43fde86fe6f_0_77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9" name="Google Shape;149;hd8ee43fde86fe6f_0_77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0" name="Google Shape;150;hd8ee43fde86fe6f_0_77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1" name="Google Shape;151;hd8ee43fde86fe6f_0_7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2" name="Shape 152"/>
        <p:cNvGrpSpPr/>
        <p:nvPr/>
      </p:nvGrpSpPr>
      <p:grpSpPr>
        <a:xfrm>
          <a:off x="0" y="0"/>
          <a:ext cx="0" cy="0"/>
          <a:chOff x="0" y="0"/>
          <a:chExt cx="0" cy="0"/>
        </a:xfrm>
      </p:grpSpPr>
      <p:sp>
        <p:nvSpPr>
          <p:cNvPr id="153" name="Google Shape;153;hd8ee43fde86fe6f_0_78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54" name="Google Shape;154;hd8ee43fde86fe6f_0_7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5" name="Shape 155"/>
        <p:cNvGrpSpPr/>
        <p:nvPr/>
      </p:nvGrpSpPr>
      <p:grpSpPr>
        <a:xfrm>
          <a:off x="0" y="0"/>
          <a:ext cx="0" cy="0"/>
          <a:chOff x="0" y="0"/>
          <a:chExt cx="0" cy="0"/>
        </a:xfrm>
      </p:grpSpPr>
      <p:sp>
        <p:nvSpPr>
          <p:cNvPr id="156" name="Google Shape;156;hd8ee43fde86fe6f_0_78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57" name="Google Shape;157;hd8ee43fde86fe6f_0_78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58" name="Google Shape;158;hd8ee43fde86fe6f_0_7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159" name="Shape 159"/>
        <p:cNvGrpSpPr/>
        <p:nvPr/>
      </p:nvGrpSpPr>
      <p:grpSpPr>
        <a:xfrm>
          <a:off x="0" y="0"/>
          <a:ext cx="0" cy="0"/>
          <a:chOff x="0" y="0"/>
          <a:chExt cx="0" cy="0"/>
        </a:xfrm>
      </p:grpSpPr>
      <p:sp>
        <p:nvSpPr>
          <p:cNvPr id="160" name="Google Shape;160;hd8ee43fde86fe6f_0_7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61" name="Google Shape;161;hd8ee43fde86fe6f_0_792"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162" name="Shape 162"/>
        <p:cNvGrpSpPr/>
        <p:nvPr/>
      </p:nvGrpSpPr>
      <p:grpSpPr>
        <a:xfrm>
          <a:off x="0" y="0"/>
          <a:ext cx="0" cy="0"/>
          <a:chOff x="0" y="0"/>
          <a:chExt cx="0" cy="0"/>
        </a:xfrm>
      </p:grpSpPr>
      <p:pic>
        <p:nvPicPr>
          <p:cNvPr id="163" name="Google Shape;163;hd8ee43fde86fe6f_0_795"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164" name="Google Shape;164;hd8ee43fde86fe6f_0_795"/>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65" name="Google Shape;165;hd8ee43fde86fe6f_0_795"/>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66" name="Google Shape;166;hd8ee43fde86fe6f_0_795"/>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67" name="Google Shape;167;hd8ee43fde86fe6f_0_795"/>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168" name="Shape 168"/>
        <p:cNvGrpSpPr/>
        <p:nvPr/>
      </p:nvGrpSpPr>
      <p:grpSpPr>
        <a:xfrm>
          <a:off x="0" y="0"/>
          <a:ext cx="0" cy="0"/>
          <a:chOff x="0" y="0"/>
          <a:chExt cx="0" cy="0"/>
        </a:xfrm>
      </p:grpSpPr>
      <p:sp>
        <p:nvSpPr>
          <p:cNvPr id="169" name="Google Shape;169;hd8ee43fde86fe6f_0_8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2.xml"/><Relationship Id="rId11" Type="http://schemas.openxmlformats.org/officeDocument/2006/relationships/slideLayout" Target="../slideLayouts/slideLayout33.xml"/><Relationship Id="rId22" Type="http://schemas.openxmlformats.org/officeDocument/2006/relationships/theme" Target="../theme/theme2.xml"/><Relationship Id="rId10" Type="http://schemas.openxmlformats.org/officeDocument/2006/relationships/slideLayout" Target="../slideLayouts/slideLayout32.xml"/><Relationship Id="rId21" Type="http://schemas.openxmlformats.org/officeDocument/2006/relationships/slideLayout" Target="../slideLayouts/slideLayout4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5" Type="http://schemas.openxmlformats.org/officeDocument/2006/relationships/slideLayout" Target="../slideLayouts/slideLayout27.xml"/><Relationship Id="rId19" Type="http://schemas.openxmlformats.org/officeDocument/2006/relationships/slideLayout" Target="../slideLayouts/slideLayout41.xml"/><Relationship Id="rId6" Type="http://schemas.openxmlformats.org/officeDocument/2006/relationships/slideLayout" Target="../slideLayouts/slideLayout28.xml"/><Relationship Id="rId18" Type="http://schemas.openxmlformats.org/officeDocument/2006/relationships/slideLayout" Target="../slideLayouts/slideLayout40.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 name="Shape 88"/>
        <p:cNvGrpSpPr/>
        <p:nvPr/>
      </p:nvGrpSpPr>
      <p:grpSpPr>
        <a:xfrm>
          <a:off x="0" y="0"/>
          <a:ext cx="0" cy="0"/>
          <a:chOff x="0" y="0"/>
          <a:chExt cx="0" cy="0"/>
        </a:xfrm>
      </p:grpSpPr>
      <p:sp>
        <p:nvSpPr>
          <p:cNvPr id="89" name="Google Shape;89;hd8ee43fde86fe6f_0_7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0" name="Google Shape;90;hd8ee43fde86fe6f_0_7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1" name="Google Shape;91;hd8ee43fde86fe6f_0_7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jp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
          <p:cNvSpPr txBox="1"/>
          <p:nvPr/>
        </p:nvSpPr>
        <p:spPr>
          <a:xfrm>
            <a:off x="2177925" y="1791263"/>
            <a:ext cx="48537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AI Automation </a:t>
            </a:r>
            <a:r>
              <a:rPr b="0" i="0" lang="es" sz="2800" u="none" cap="none" strike="noStrike">
                <a:solidFill>
                  <a:srgbClr val="F8F2E8"/>
                </a:solidFill>
                <a:latin typeface="Plus Jakarta Sans ExtraBold"/>
                <a:ea typeface="Plus Jakarta Sans ExtraBold"/>
                <a:cs typeface="Plus Jakarta Sans ExtraBold"/>
                <a:sym typeface="Plus Jakarta Sans ExtraBold"/>
              </a:rPr>
              <a:t>Avanzado</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75" name="Google Shape;175;p1"/>
          <p:cNvSpPr txBox="1"/>
          <p:nvPr/>
        </p:nvSpPr>
        <p:spPr>
          <a:xfrm>
            <a:off x="1373325" y="143430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Curso:</a:t>
            </a:r>
            <a:endParaRPr b="0" i="0" sz="1200" u="none" cap="none" strike="noStrike">
              <a:solidFill>
                <a:srgbClr val="F8F2E8"/>
              </a:solidFill>
              <a:latin typeface="Plus Jakarta Sans Light"/>
              <a:ea typeface="Plus Jakarta Sans Light"/>
              <a:cs typeface="Plus Jakarta Sans Light"/>
              <a:sym typeface="Plus Jakarta Sans Light"/>
            </a:endParaRPr>
          </a:p>
        </p:txBody>
      </p:sp>
      <p:pic>
        <p:nvPicPr>
          <p:cNvPr id="176" name="Google Shape;176;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177" name="Google Shape;177;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400"/>
              <a:buFont typeface="Arial"/>
              <a:buNone/>
            </a:pPr>
            <a:r>
              <a:rPr b="0" i="0" lang="es" sz="1400" u="none" cap="none" strike="noStrike">
                <a:solidFill>
                  <a:srgbClr val="F8F2E8"/>
                </a:solidFill>
                <a:latin typeface="Plus Jakarta Sans ExtraBold"/>
                <a:ea typeface="Plus Jakarta Sans ExtraBold"/>
                <a:cs typeface="Plus Jakarta Sans ExtraBold"/>
                <a:sym typeface="Plus Jakarta Sans ExtraBold"/>
              </a:rPr>
              <a:t>Módulo 1: </a:t>
            </a:r>
            <a:r>
              <a:rPr b="0" i="0" lang="es" sz="1400" u="none" cap="none" strike="noStrike">
                <a:solidFill>
                  <a:srgbClr val="F8F2E8"/>
                </a:solidFill>
                <a:latin typeface="Plus Jakarta Sans Light"/>
                <a:ea typeface="Plus Jakarta Sans Light"/>
                <a:cs typeface="Plus Jakarta Sans Light"/>
                <a:sym typeface="Plus Jakarta Sans Light"/>
              </a:rPr>
              <a:t>Fundamentos de agentes autónomos con n8n</a:t>
            </a:r>
            <a:endParaRPr b="0" i="0" sz="14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2"/>
          <p:cNvSpPr txBox="1"/>
          <p:nvPr/>
        </p:nvSpPr>
        <p:spPr>
          <a:xfrm>
            <a:off x="1714500" y="495300"/>
            <a:ext cx="5715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s" sz="3200">
                <a:solidFill>
                  <a:srgbClr val="260700"/>
                </a:solidFill>
                <a:latin typeface="Plus Jakarta Sans ExtraBold"/>
                <a:ea typeface="Plus Jakarta Sans ExtraBold"/>
                <a:cs typeface="Plus Jakarta Sans ExtraBold"/>
                <a:sym typeface="Plus Jakarta Sans ExtraBold"/>
              </a:rPr>
              <a:t>Presentación del </a:t>
            </a:r>
            <a:r>
              <a:rPr b="0" i="0" lang="es" sz="3200">
                <a:solidFill>
                  <a:srgbClr val="260700"/>
                </a:solidFill>
                <a:highlight>
                  <a:srgbClr val="FDAB2E"/>
                </a:highlight>
                <a:latin typeface="Plus Jakarta Sans ExtraBold"/>
                <a:ea typeface="Plus Jakarta Sans ExtraBold"/>
                <a:cs typeface="Plus Jakarta Sans ExtraBold"/>
                <a:sym typeface="Plus Jakarta Sans ExtraBold"/>
              </a:rPr>
              <a:t>equipo</a:t>
            </a:r>
            <a:endParaRPr b="0" i="0" sz="3200">
              <a:solidFill>
                <a:srgbClr val="260700"/>
              </a:solidFill>
              <a:latin typeface="Plus Jakarta Sans ExtraBold"/>
              <a:ea typeface="Plus Jakarta Sans ExtraBold"/>
              <a:cs typeface="Plus Jakarta Sans ExtraBold"/>
              <a:sym typeface="Plus Jakarta Sans ExtraBold"/>
            </a:endParaRPr>
          </a:p>
        </p:txBody>
      </p:sp>
      <p:grpSp>
        <p:nvGrpSpPr>
          <p:cNvPr id="183" name="Google Shape;183;p2"/>
          <p:cNvGrpSpPr/>
          <p:nvPr/>
        </p:nvGrpSpPr>
        <p:grpSpPr>
          <a:xfrm>
            <a:off x="1190625" y="1600200"/>
            <a:ext cx="3048000" cy="3000300"/>
            <a:chOff x="0" y="0"/>
            <a:chExt cx="3048000" cy="3000300"/>
          </a:xfrm>
        </p:grpSpPr>
        <p:sp>
          <p:nvSpPr>
            <p:cNvPr id="184" name="Google Shape;184;p2"/>
            <p:cNvSpPr/>
            <p:nvPr/>
          </p:nvSpPr>
          <p:spPr>
            <a:xfrm>
              <a:off x="0" y="0"/>
              <a:ext cx="3048000" cy="3000300"/>
            </a:xfrm>
            <a:prstGeom prst="roundRect">
              <a:avLst>
                <a:gd fmla="val 6349" name="adj"/>
              </a:avLst>
            </a:prstGeom>
            <a:solidFill>
              <a:srgbClr val="000000">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2"/>
            <p:cNvSpPr/>
            <p:nvPr/>
          </p:nvSpPr>
          <p:spPr>
            <a:xfrm>
              <a:off x="0" y="0"/>
              <a:ext cx="3048000" cy="3000300"/>
            </a:xfrm>
            <a:prstGeom prst="roundRect">
              <a:avLst>
                <a:gd fmla="val 634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2"/>
          <p:cNvSpPr/>
          <p:nvPr/>
        </p:nvSpPr>
        <p:spPr>
          <a:xfrm>
            <a:off x="3857625" y="1123950"/>
            <a:ext cx="1428900" cy="247800"/>
          </a:xfrm>
          <a:prstGeom prst="wedgeRectCallout">
            <a:avLst>
              <a:gd fmla="val 50000" name="adj1"/>
              <a:gd fmla="val 98680" name="adj2"/>
            </a:avLst>
          </a:prstGeom>
          <a:solidFill>
            <a:srgbClr val="FF632B"/>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s" sz="800">
                <a:solidFill>
                  <a:srgbClr val="F8F2E8"/>
                </a:solidFill>
                <a:latin typeface="Plus Jakarta Sans"/>
                <a:ea typeface="Plus Jakarta Sans"/>
                <a:cs typeface="Plus Jakarta Sans"/>
                <a:sym typeface="Plus Jakarta Sans"/>
              </a:rPr>
              <a:t>COMISIÓN N° 97495</a:t>
            </a:r>
            <a:endParaRPr b="1" i="0" sz="800">
              <a:solidFill>
                <a:srgbClr val="F8F2E8"/>
              </a:solidFill>
              <a:latin typeface="Plus Jakarta Sans"/>
              <a:ea typeface="Plus Jakarta Sans"/>
              <a:cs typeface="Plus Jakarta Sans"/>
              <a:sym typeface="Plus Jakarta Sans"/>
            </a:endParaRPr>
          </a:p>
        </p:txBody>
      </p:sp>
      <p:pic>
        <p:nvPicPr>
          <p:cNvPr id="187" name="Google Shape;187;p2"/>
          <p:cNvPicPr preferRelativeResize="0"/>
          <p:nvPr/>
        </p:nvPicPr>
        <p:blipFill rotWithShape="1">
          <a:blip r:embed="rId4">
            <a:alphaModFix/>
          </a:blip>
          <a:srcRect b="18750" l="0" r="0" t="18750"/>
          <a:stretch/>
        </p:blipFill>
        <p:spPr>
          <a:xfrm>
            <a:off x="1190625" y="1600200"/>
            <a:ext cx="3048000" cy="1905000"/>
          </a:xfrm>
          <a:prstGeom prst="roundRect">
            <a:avLst>
              <a:gd fmla="val 10000" name="adj"/>
            </a:avLst>
          </a:prstGeom>
          <a:noFill/>
          <a:ln>
            <a:noFill/>
          </a:ln>
        </p:spPr>
      </p:pic>
      <p:grpSp>
        <p:nvGrpSpPr>
          <p:cNvPr id="188" name="Google Shape;188;p2"/>
          <p:cNvGrpSpPr/>
          <p:nvPr/>
        </p:nvGrpSpPr>
        <p:grpSpPr>
          <a:xfrm>
            <a:off x="4905375" y="1600200"/>
            <a:ext cx="3048000" cy="3000300"/>
            <a:chOff x="0" y="0"/>
            <a:chExt cx="3048000" cy="3000300"/>
          </a:xfrm>
        </p:grpSpPr>
        <p:sp>
          <p:nvSpPr>
            <p:cNvPr id="189" name="Google Shape;189;p2"/>
            <p:cNvSpPr/>
            <p:nvPr/>
          </p:nvSpPr>
          <p:spPr>
            <a:xfrm>
              <a:off x="0" y="0"/>
              <a:ext cx="3048000" cy="3000300"/>
            </a:xfrm>
            <a:prstGeom prst="roundRect">
              <a:avLst>
                <a:gd fmla="val 6349" name="adj"/>
              </a:avLst>
            </a:prstGeom>
            <a:solidFill>
              <a:srgbClr val="000000">
                <a:alpha val="4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
            <p:cNvSpPr/>
            <p:nvPr/>
          </p:nvSpPr>
          <p:spPr>
            <a:xfrm>
              <a:off x="0" y="0"/>
              <a:ext cx="3048000" cy="3000300"/>
            </a:xfrm>
            <a:prstGeom prst="roundRect">
              <a:avLst>
                <a:gd fmla="val 634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1" name="Google Shape;191;p2"/>
          <p:cNvSpPr/>
          <p:nvPr/>
        </p:nvSpPr>
        <p:spPr>
          <a:xfrm>
            <a:off x="1190625" y="3505200"/>
            <a:ext cx="3048000" cy="1095300"/>
          </a:xfrm>
          <a:prstGeom prst="round2SameRect">
            <a:avLst>
              <a:gd fmla="val 0" name="adj1"/>
              <a:gd fmla="val 34038" name="adj2"/>
            </a:avLst>
          </a:prstGeom>
          <a:solidFill>
            <a:srgbClr val="000000">
              <a:alpha val="0"/>
            </a:srgbClr>
          </a:solidFill>
          <a:ln>
            <a:noFill/>
          </a:ln>
        </p:spPr>
        <p:txBody>
          <a:bodyPr anchorCtr="0" anchor="t" bIns="114300" lIns="190500" spcFirstLastPara="1" rIns="190500" wrap="square" tIns="114300">
            <a:noAutofit/>
          </a:bodyPr>
          <a:lstStyle/>
          <a:p>
            <a:pPr indent="0" lvl="0" marL="0" rtl="0" algn="l">
              <a:spcBef>
                <a:spcPts val="0"/>
              </a:spcBef>
              <a:spcAft>
                <a:spcPts val="0"/>
              </a:spcAft>
              <a:buNone/>
            </a:pPr>
            <a:r>
              <a:rPr b="1" lang="es" sz="750">
                <a:solidFill>
                  <a:srgbClr val="FFFFFF"/>
                </a:solidFill>
                <a:latin typeface="Plus Jakarta Sans"/>
                <a:ea typeface="Plus Jakarta Sans"/>
                <a:cs typeface="Plus Jakarta Sans"/>
                <a:sym typeface="Plus Jakarta Sans"/>
              </a:rPr>
              <a:t>Profesor</a:t>
            </a:r>
            <a:endParaRPr>
              <a:latin typeface="Plus Jakarta Sans"/>
              <a:ea typeface="Plus Jakarta Sans"/>
              <a:cs typeface="Plus Jakarta Sans"/>
              <a:sym typeface="Plus Jakarta Sans"/>
            </a:endParaRPr>
          </a:p>
          <a:p>
            <a:pPr indent="0" lvl="0" marL="0" rtl="0" algn="l">
              <a:spcBef>
                <a:spcPts val="450"/>
              </a:spcBef>
              <a:spcAft>
                <a:spcPts val="0"/>
              </a:spcAft>
              <a:buNone/>
            </a:pPr>
            <a:r>
              <a:rPr b="0" lang="es" sz="1500">
                <a:solidFill>
                  <a:srgbClr val="260700"/>
                </a:solidFill>
                <a:latin typeface="Plus Jakarta Sans ExtraBold"/>
                <a:ea typeface="Plus Jakarta Sans ExtraBold"/>
                <a:cs typeface="Plus Jakarta Sans ExtraBold"/>
                <a:sym typeface="Plus Jakarta Sans ExtraBold"/>
              </a:rPr>
              <a:t>Leandro Araque</a:t>
            </a:r>
            <a:endParaRPr b="0" sz="1500">
              <a:solidFill>
                <a:srgbClr val="260700"/>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lang="es" sz="850">
                <a:solidFill>
                  <a:srgbClr val="64748B"/>
                </a:solidFill>
                <a:latin typeface="Plus Jakarta Sans Medium"/>
                <a:ea typeface="Plus Jakarta Sans Medium"/>
                <a:cs typeface="Plus Jakarta Sans Medium"/>
                <a:sym typeface="Plus Jakarta Sans Medium"/>
              </a:rPr>
              <a:t>AI Engineer | Governed Agents for Regulated Industries</a:t>
            </a:r>
            <a:endParaRPr b="0" sz="850">
              <a:solidFill>
                <a:srgbClr val="64748B"/>
              </a:solidFill>
              <a:latin typeface="Plus Jakarta Sans Medium"/>
              <a:ea typeface="Plus Jakarta Sans Medium"/>
              <a:cs typeface="Plus Jakarta Sans Medium"/>
              <a:sym typeface="Plus Jakarta Sans Medium"/>
            </a:endParaRPr>
          </a:p>
        </p:txBody>
      </p:sp>
      <p:pic>
        <p:nvPicPr>
          <p:cNvPr id="192" name="Google Shape;192;p2"/>
          <p:cNvPicPr preferRelativeResize="0"/>
          <p:nvPr/>
        </p:nvPicPr>
        <p:blipFill rotWithShape="1">
          <a:blip r:embed="rId5">
            <a:alphaModFix/>
          </a:blip>
          <a:srcRect b="29508" l="100" r="100" t="4918"/>
          <a:stretch/>
        </p:blipFill>
        <p:spPr>
          <a:xfrm>
            <a:off x="4905375" y="1600200"/>
            <a:ext cx="3048000" cy="1905000"/>
          </a:xfrm>
          <a:prstGeom prst="roundRect">
            <a:avLst>
              <a:gd fmla="val 10000" name="adj"/>
            </a:avLst>
          </a:prstGeom>
          <a:noFill/>
          <a:ln>
            <a:noFill/>
          </a:ln>
        </p:spPr>
      </p:pic>
      <p:sp>
        <p:nvSpPr>
          <p:cNvPr id="193" name="Google Shape;193;p2"/>
          <p:cNvSpPr/>
          <p:nvPr/>
        </p:nvSpPr>
        <p:spPr>
          <a:xfrm>
            <a:off x="4905375" y="3505200"/>
            <a:ext cx="3048000" cy="1095300"/>
          </a:xfrm>
          <a:prstGeom prst="round2SameRect">
            <a:avLst>
              <a:gd fmla="val 0" name="adj1"/>
              <a:gd fmla="val 34038" name="adj2"/>
            </a:avLst>
          </a:prstGeom>
          <a:solidFill>
            <a:srgbClr val="000000">
              <a:alpha val="0"/>
            </a:srgbClr>
          </a:solidFill>
          <a:ln>
            <a:noFill/>
          </a:ln>
        </p:spPr>
        <p:txBody>
          <a:bodyPr anchorCtr="0" anchor="t" bIns="114300" lIns="190500" spcFirstLastPara="1" rIns="190500" wrap="square" tIns="114300">
            <a:noAutofit/>
          </a:bodyPr>
          <a:lstStyle/>
          <a:p>
            <a:pPr indent="0" lvl="0" marL="0" rtl="0" algn="l">
              <a:spcBef>
                <a:spcPts val="0"/>
              </a:spcBef>
              <a:spcAft>
                <a:spcPts val="0"/>
              </a:spcAft>
              <a:buNone/>
            </a:pPr>
            <a:r>
              <a:rPr b="1" lang="es" sz="750">
                <a:solidFill>
                  <a:srgbClr val="FFFFFF"/>
                </a:solidFill>
                <a:latin typeface="Plus Jakarta Sans"/>
                <a:ea typeface="Plus Jakarta Sans"/>
                <a:cs typeface="Plus Jakarta Sans"/>
                <a:sym typeface="Plus Jakarta Sans"/>
              </a:rPr>
              <a:t>Profesor</a:t>
            </a:r>
            <a:endParaRPr>
              <a:latin typeface="Plus Jakarta Sans"/>
              <a:ea typeface="Plus Jakarta Sans"/>
              <a:cs typeface="Plus Jakarta Sans"/>
              <a:sym typeface="Plus Jakarta Sans"/>
            </a:endParaRPr>
          </a:p>
          <a:p>
            <a:pPr indent="0" lvl="0" marL="0" rtl="0" algn="l">
              <a:spcBef>
                <a:spcPts val="450"/>
              </a:spcBef>
              <a:spcAft>
                <a:spcPts val="0"/>
              </a:spcAft>
              <a:buNone/>
            </a:pPr>
            <a:r>
              <a:rPr b="0" lang="es" sz="1500">
                <a:solidFill>
                  <a:srgbClr val="260700"/>
                </a:solidFill>
                <a:latin typeface="Plus Jakarta Sans ExtraBold"/>
                <a:ea typeface="Plus Jakarta Sans ExtraBold"/>
                <a:cs typeface="Plus Jakarta Sans ExtraBold"/>
                <a:sym typeface="Plus Jakarta Sans ExtraBold"/>
              </a:rPr>
              <a:t>Pamela Pereyra</a:t>
            </a:r>
            <a:endParaRPr b="0" sz="1500">
              <a:solidFill>
                <a:srgbClr val="260700"/>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lang="es" sz="850">
                <a:solidFill>
                  <a:srgbClr val="64748B"/>
                </a:solidFill>
                <a:latin typeface="Plus Jakarta Sans Medium"/>
                <a:ea typeface="Plus Jakarta Sans Medium"/>
                <a:cs typeface="Plus Jakarta Sans Medium"/>
                <a:sym typeface="Plus Jakarta Sans Medium"/>
              </a:rPr>
              <a:t>Software Engineer | Project Leader </a:t>
            </a:r>
            <a:r>
              <a:rPr lang="es" sz="850">
                <a:solidFill>
                  <a:srgbClr val="64748B"/>
                </a:solidFill>
                <a:latin typeface="Plus Jakarta Sans Medium"/>
                <a:ea typeface="Plus Jakarta Sans Medium"/>
                <a:cs typeface="Plus Jakarta Sans Medium"/>
                <a:sym typeface="Plus Jakarta Sans Medium"/>
              </a:rPr>
              <a:t> |  IA Consultant</a:t>
            </a:r>
            <a:endParaRPr b="0" sz="850">
              <a:solidFill>
                <a:srgbClr val="64748B"/>
              </a:solidFill>
              <a:latin typeface="Plus Jakarta Sans Medium"/>
              <a:ea typeface="Plus Jakarta Sans Medium"/>
              <a:cs typeface="Plus Jakarta Sans Medium"/>
              <a:sym typeface="Plus Jakarta Sa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99" name="Google Shape;199;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Distinguir cuándo un proceso pide automatización lineal y cuándo un agente autónomo.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Leer el ciclo ReAct dentro del panel de ejecución de n8n.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Configurar el AI Agent Node en modo Tools Agent con su modelo y su System Prompt.</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Redactar System Prompts modulares que acoten el rol y eviten alucinaciones.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Blindar el flujo con guardrails: iteraciones, mínimo privilegio y HITL.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5" name="Google Shape;205;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Del flujo lineal al agente autónomo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Anatomía y cerebro del AI Agent Node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Guardrails y robustez del agente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Break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Práctica en vivo: tu primer agente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1: agente autónomo funcional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5"/>
          <p:cNvSpPr txBox="1"/>
          <p:nvPr/>
        </p:nvSpPr>
        <p:spPr>
          <a:xfrm>
            <a:off x="652525" y="1528805"/>
            <a:ext cx="78246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11" name="Google Shape;211;p5"/>
          <p:cNvSpPr/>
          <p:nvPr/>
        </p:nvSpPr>
        <p:spPr>
          <a:xfrm>
            <a:off x="4457850" y="336103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17" name="Google Shape;217;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Del flujo lineal al agente</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Automatización lineal: </a:t>
            </a:r>
            <a:r>
              <a:rPr b="0" i="0" lang="es" sz="1300" u="none" cap="none" strike="noStrike">
                <a:solidFill>
                  <a:srgbClr val="171717"/>
                </a:solidFill>
                <a:latin typeface="Plus Jakarta Sans Light"/>
                <a:ea typeface="Plus Jakarta Sans Light"/>
                <a:cs typeface="Plus Jakarta Sans Light"/>
                <a:sym typeface="Plus Jakarta Sans Light"/>
              </a:rPr>
              <a:t>grafo fijo Trigger → transformación → IF/Switch → acción. Vos decidís cada ruta.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Agente autónomo: </a:t>
            </a:r>
            <a:r>
              <a:rPr b="0" i="0" lang="es" sz="1300" u="none" cap="none" strike="noStrike">
                <a:solidFill>
                  <a:srgbClr val="171717"/>
                </a:solidFill>
                <a:latin typeface="Plus Jakarta Sans Light"/>
                <a:ea typeface="Plus Jakarta Sans Light"/>
                <a:cs typeface="Plus Jakarta Sans Light"/>
                <a:sym typeface="Plus Jakarta Sans Light"/>
              </a:rPr>
              <a:t>le das un objetivo y herramientas, y decide el camino razonando con ReAct.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diferencia clave: </a:t>
            </a:r>
            <a:r>
              <a:rPr b="0" i="0" lang="es" sz="1300" u="none" cap="none" strike="noStrike">
                <a:solidFill>
                  <a:srgbClr val="171717"/>
                </a:solidFill>
                <a:latin typeface="Plus Jakarta Sans Light"/>
                <a:ea typeface="Plus Jakarta Sans Light"/>
                <a:cs typeface="Plus Jakarta Sans Light"/>
                <a:sym typeface="Plus Jakarta Sans Light"/>
              </a:rPr>
              <a:t>no es la tecnología, es quién controla el flujo. Vía de tren vs. conductor de taxi.</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23" name="Google Shape;223;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De la receta al chef</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24" name="Google Shape;224;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Dos formas de resolver un proceso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Thought: el modelo analiza el input y decide qué necesita.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Action: elige y ejecuta una herramienta configurada en n8n.</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Observation: lee el resultado que devolvió la herramienta.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42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Repeat: si no cumplió el objetivo, vuelve a pensar; si terminó, responde.</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30" name="Google Shape;230;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El ciclo ReAct</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1" name="Google Shape;231;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motor de la autonomía</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9"/>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9"/>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38" name="Google Shape;238;p9"/>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39" name="Google Shape;239;p9"/>
          <p:cNvSpPr txBox="1"/>
          <p:nvPr/>
        </p:nvSpPr>
        <p:spPr>
          <a:xfrm>
            <a:off x="5248350" y="3077500"/>
            <a:ext cx="3469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Te doy 6 casos: 'generar una factura', 'analizar la disputa de un cliente', 'avisar por Slack cuando llega un formulario'… ¿Cada uno es workflow lineal o agente? Votá y defendé tu criterio.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1"/>
        </a:solidFill>
      </p:bgPr>
    </p:bg>
    <p:spTree>
      <p:nvGrpSpPr>
        <p:cNvPr id="244" name="Shape 244"/>
        <p:cNvGrpSpPr/>
        <p:nvPr/>
      </p:nvGrpSpPr>
      <p:grpSpPr>
        <a:xfrm>
          <a:off x="0" y="0"/>
          <a:ext cx="0" cy="0"/>
          <a:chOff x="0" y="0"/>
          <a:chExt cx="0" cy="0"/>
        </a:xfrm>
      </p:grpSpPr>
      <p:sp>
        <p:nvSpPr>
          <p:cNvPr id="245" name="Google Shape;245;h58d8aaa4f65511c6_0_0"/>
          <p:cNvSpPr/>
          <p:nvPr/>
        </p:nvSpPr>
        <p:spPr>
          <a:xfrm>
            <a:off x="609600" y="609600"/>
            <a:ext cx="2095500" cy="354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7191F"/>
              </a:buClr>
              <a:buSzPts val="2400"/>
              <a:buFont typeface="Rubik"/>
              <a:buNone/>
            </a:pPr>
            <a:r>
              <a:rPr b="1" i="0" lang="es" sz="2400" u="none" cap="none" strike="noStrike">
                <a:solidFill>
                  <a:srgbClr val="17191F"/>
                </a:solidFill>
                <a:latin typeface="Rubik"/>
                <a:ea typeface="Rubik"/>
                <a:cs typeface="Rubik"/>
                <a:sym typeface="Rubik"/>
              </a:rPr>
              <a:t>Los 6 casos</a:t>
            </a:r>
            <a:endParaRPr b="0" i="0" sz="2400" u="none" cap="none" strike="noStrike">
              <a:solidFill>
                <a:schemeClr val="dk1"/>
              </a:solidFill>
              <a:latin typeface="Calibri"/>
              <a:ea typeface="Calibri"/>
              <a:cs typeface="Calibri"/>
              <a:sym typeface="Calibri"/>
            </a:endParaRPr>
          </a:p>
        </p:txBody>
      </p:sp>
      <p:sp>
        <p:nvSpPr>
          <p:cNvPr id="246" name="Google Shape;246;h58d8aaa4f65511c6_0_0"/>
          <p:cNvSpPr/>
          <p:nvPr/>
        </p:nvSpPr>
        <p:spPr>
          <a:xfrm>
            <a:off x="6969919" y="643905"/>
            <a:ext cx="1564500" cy="301200"/>
          </a:xfrm>
          <a:prstGeom prst="roundRect">
            <a:avLst>
              <a:gd fmla="val 50000" name="adj"/>
            </a:avLst>
          </a:prstGeom>
          <a:solidFill>
            <a:srgbClr val="17191F"/>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DFCFA"/>
              </a:buClr>
              <a:buSzPts val="1100"/>
              <a:buFont typeface="IBM Plex Sans"/>
              <a:buNone/>
            </a:pPr>
            <a:r>
              <a:rPr b="1" i="0" lang="es" sz="1100" u="none" cap="none" strike="noStrike">
                <a:solidFill>
                  <a:srgbClr val="FDFCFA"/>
                </a:solidFill>
                <a:latin typeface="IBM Plex Sans"/>
                <a:ea typeface="IBM Plex Sans"/>
                <a:cs typeface="IBM Plex Sans"/>
                <a:sym typeface="IBM Plex Sans"/>
              </a:rPr>
              <a:t>Votá en el chat: L o A</a:t>
            </a:r>
            <a:endParaRPr b="0" i="0" sz="1100" u="none" cap="none" strike="noStrike">
              <a:solidFill>
                <a:schemeClr val="dk1"/>
              </a:solidFill>
              <a:latin typeface="Calibri"/>
              <a:ea typeface="Calibri"/>
              <a:cs typeface="Calibri"/>
              <a:sym typeface="Calibri"/>
            </a:endParaRPr>
          </a:p>
        </p:txBody>
      </p:sp>
      <p:sp>
        <p:nvSpPr>
          <p:cNvPr id="247" name="Google Shape;247;h58d8aaa4f65511c6_0_0"/>
          <p:cNvSpPr/>
          <p:nvPr/>
        </p:nvSpPr>
        <p:spPr>
          <a:xfrm>
            <a:off x="611981" y="1137754"/>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h58d8aaa4f65511c6_0_0"/>
          <p:cNvSpPr/>
          <p:nvPr/>
        </p:nvSpPr>
        <p:spPr>
          <a:xfrm>
            <a:off x="766763" y="1292535"/>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1</a:t>
            </a:r>
            <a:endParaRPr b="0" i="0" sz="1100" u="none" cap="none" strike="noStrike">
              <a:solidFill>
                <a:schemeClr val="dk1"/>
              </a:solidFill>
              <a:latin typeface="Calibri"/>
              <a:ea typeface="Calibri"/>
              <a:cs typeface="Calibri"/>
              <a:sym typeface="Calibri"/>
            </a:endParaRPr>
          </a:p>
        </p:txBody>
      </p:sp>
      <p:sp>
        <p:nvSpPr>
          <p:cNvPr id="249" name="Google Shape;249;h58d8aaa4f65511c6_0_0"/>
          <p:cNvSpPr/>
          <p:nvPr/>
        </p:nvSpPr>
        <p:spPr>
          <a:xfrm>
            <a:off x="766763" y="1536352"/>
            <a:ext cx="2318700" cy="201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Generar una factura</a:t>
            </a:r>
            <a:endParaRPr b="0" i="0" sz="1200" u="none" cap="none" strike="noStrike">
              <a:solidFill>
                <a:schemeClr val="dk1"/>
              </a:solidFill>
              <a:latin typeface="Calibri"/>
              <a:ea typeface="Calibri"/>
              <a:cs typeface="Calibri"/>
              <a:sym typeface="Calibri"/>
            </a:endParaRPr>
          </a:p>
        </p:txBody>
      </p:sp>
      <p:sp>
        <p:nvSpPr>
          <p:cNvPr id="250" name="Google Shape;250;h58d8aaa4f65511c6_0_0"/>
          <p:cNvSpPr/>
          <p:nvPr/>
        </p:nvSpPr>
        <p:spPr>
          <a:xfrm>
            <a:off x="766763" y="1776375"/>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Se aprueba un pago en MercadoPago y hay que emitir y enviar la factura.</a:t>
            </a:r>
            <a:endParaRPr b="0" i="0" sz="900" u="none" cap="none" strike="noStrike">
              <a:solidFill>
                <a:schemeClr val="dk1"/>
              </a:solidFill>
              <a:latin typeface="Calibri"/>
              <a:ea typeface="Calibri"/>
              <a:cs typeface="Calibri"/>
              <a:sym typeface="Calibri"/>
            </a:endParaRPr>
          </a:p>
        </p:txBody>
      </p:sp>
      <p:sp>
        <p:nvSpPr>
          <p:cNvPr id="251" name="Google Shape;251;h58d8aaa4f65511c6_0_0"/>
          <p:cNvSpPr/>
          <p:nvPr/>
        </p:nvSpPr>
        <p:spPr>
          <a:xfrm>
            <a:off x="3291669" y="1137754"/>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h58d8aaa4f65511c6_0_0"/>
          <p:cNvSpPr/>
          <p:nvPr/>
        </p:nvSpPr>
        <p:spPr>
          <a:xfrm>
            <a:off x="3446450" y="1292535"/>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2</a:t>
            </a:r>
            <a:endParaRPr b="0" i="0" sz="1100" u="none" cap="none" strike="noStrike">
              <a:solidFill>
                <a:schemeClr val="dk1"/>
              </a:solidFill>
              <a:latin typeface="Calibri"/>
              <a:ea typeface="Calibri"/>
              <a:cs typeface="Calibri"/>
              <a:sym typeface="Calibri"/>
            </a:endParaRPr>
          </a:p>
        </p:txBody>
      </p:sp>
      <p:sp>
        <p:nvSpPr>
          <p:cNvPr id="253" name="Google Shape;253;h58d8aaa4f65511c6_0_0"/>
          <p:cNvSpPr/>
          <p:nvPr/>
        </p:nvSpPr>
        <p:spPr>
          <a:xfrm>
            <a:off x="3446450" y="1536353"/>
            <a:ext cx="2318700" cy="384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Analizar la disputa de un cliente</a:t>
            </a:r>
            <a:endParaRPr b="0" i="0" sz="1200" u="none" cap="none" strike="noStrike">
              <a:solidFill>
                <a:schemeClr val="dk1"/>
              </a:solidFill>
              <a:latin typeface="Calibri"/>
              <a:ea typeface="Calibri"/>
              <a:cs typeface="Calibri"/>
              <a:sym typeface="Calibri"/>
            </a:endParaRPr>
          </a:p>
        </p:txBody>
      </p:sp>
      <p:sp>
        <p:nvSpPr>
          <p:cNvPr id="254" name="Google Shape;254;h58d8aaa4f65511c6_0_0"/>
          <p:cNvSpPr/>
          <p:nvPr/>
        </p:nvSpPr>
        <p:spPr>
          <a:xfrm>
            <a:off x="3446450" y="1959248"/>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“Me cobraron dos veces y el producto llegó roto. Quiero una solución.”</a:t>
            </a:r>
            <a:endParaRPr b="0" i="0" sz="900" u="none" cap="none" strike="noStrike">
              <a:solidFill>
                <a:schemeClr val="dk1"/>
              </a:solidFill>
              <a:latin typeface="Calibri"/>
              <a:ea typeface="Calibri"/>
              <a:cs typeface="Calibri"/>
              <a:sym typeface="Calibri"/>
            </a:endParaRPr>
          </a:p>
        </p:txBody>
      </p:sp>
      <p:sp>
        <p:nvSpPr>
          <p:cNvPr id="255" name="Google Shape;255;h58d8aaa4f65511c6_0_0"/>
          <p:cNvSpPr/>
          <p:nvPr/>
        </p:nvSpPr>
        <p:spPr>
          <a:xfrm>
            <a:off x="5971357" y="1137754"/>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h58d8aaa4f65511c6_0_0"/>
          <p:cNvSpPr/>
          <p:nvPr/>
        </p:nvSpPr>
        <p:spPr>
          <a:xfrm>
            <a:off x="6126138" y="1292535"/>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3</a:t>
            </a:r>
            <a:endParaRPr b="0" i="0" sz="1100" u="none" cap="none" strike="noStrike">
              <a:solidFill>
                <a:schemeClr val="dk1"/>
              </a:solidFill>
              <a:latin typeface="Calibri"/>
              <a:ea typeface="Calibri"/>
              <a:cs typeface="Calibri"/>
              <a:sym typeface="Calibri"/>
            </a:endParaRPr>
          </a:p>
        </p:txBody>
      </p:sp>
      <p:sp>
        <p:nvSpPr>
          <p:cNvPr id="257" name="Google Shape;257;h58d8aaa4f65511c6_0_0"/>
          <p:cNvSpPr/>
          <p:nvPr/>
        </p:nvSpPr>
        <p:spPr>
          <a:xfrm>
            <a:off x="6126138" y="1536353"/>
            <a:ext cx="2318700" cy="384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Avisar por Slack cuando llega un formulario</a:t>
            </a:r>
            <a:endParaRPr b="0" i="0" sz="1200" u="none" cap="none" strike="noStrike">
              <a:solidFill>
                <a:schemeClr val="dk1"/>
              </a:solidFill>
              <a:latin typeface="Calibri"/>
              <a:ea typeface="Calibri"/>
              <a:cs typeface="Calibri"/>
              <a:sym typeface="Calibri"/>
            </a:endParaRPr>
          </a:p>
        </p:txBody>
      </p:sp>
      <p:sp>
        <p:nvSpPr>
          <p:cNvPr id="258" name="Google Shape;258;h58d8aaa4f65511c6_0_0"/>
          <p:cNvSpPr/>
          <p:nvPr/>
        </p:nvSpPr>
        <p:spPr>
          <a:xfrm>
            <a:off x="6126138" y="1959248"/>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Alguien completa el form de contacto y el equipo tiene que enterarse.</a:t>
            </a:r>
            <a:endParaRPr b="0" i="0" sz="900" u="none" cap="none" strike="noStrike">
              <a:solidFill>
                <a:schemeClr val="dk1"/>
              </a:solidFill>
              <a:latin typeface="Calibri"/>
              <a:ea typeface="Calibri"/>
              <a:cs typeface="Calibri"/>
              <a:sym typeface="Calibri"/>
            </a:endParaRPr>
          </a:p>
        </p:txBody>
      </p:sp>
      <p:sp>
        <p:nvSpPr>
          <p:cNvPr id="259" name="Google Shape;259;h58d8aaa4f65511c6_0_0"/>
          <p:cNvSpPr/>
          <p:nvPr/>
        </p:nvSpPr>
        <p:spPr>
          <a:xfrm>
            <a:off x="611981" y="2553072"/>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h58d8aaa4f65511c6_0_0"/>
          <p:cNvSpPr/>
          <p:nvPr/>
        </p:nvSpPr>
        <p:spPr>
          <a:xfrm>
            <a:off x="766763" y="2707853"/>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4</a:t>
            </a:r>
            <a:endParaRPr b="0" i="0" sz="1100" u="none" cap="none" strike="noStrike">
              <a:solidFill>
                <a:schemeClr val="dk1"/>
              </a:solidFill>
              <a:latin typeface="Calibri"/>
              <a:ea typeface="Calibri"/>
              <a:cs typeface="Calibri"/>
              <a:sym typeface="Calibri"/>
            </a:endParaRPr>
          </a:p>
        </p:txBody>
      </p:sp>
      <p:sp>
        <p:nvSpPr>
          <p:cNvPr id="261" name="Google Shape;261;h58d8aaa4f65511c6_0_0"/>
          <p:cNvSpPr/>
          <p:nvPr/>
        </p:nvSpPr>
        <p:spPr>
          <a:xfrm>
            <a:off x="766763" y="2951671"/>
            <a:ext cx="2318700" cy="384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Clasificar y derivar mails entrantes</a:t>
            </a:r>
            <a:endParaRPr b="0" i="0" sz="1200" u="none" cap="none" strike="noStrike">
              <a:solidFill>
                <a:schemeClr val="dk1"/>
              </a:solidFill>
              <a:latin typeface="Calibri"/>
              <a:ea typeface="Calibri"/>
              <a:cs typeface="Calibri"/>
              <a:sym typeface="Calibri"/>
            </a:endParaRPr>
          </a:p>
        </p:txBody>
      </p:sp>
      <p:sp>
        <p:nvSpPr>
          <p:cNvPr id="262" name="Google Shape;262;h58d8aaa4f65511c6_0_0"/>
          <p:cNvSpPr/>
          <p:nvPr/>
        </p:nvSpPr>
        <p:spPr>
          <a:xfrm>
            <a:off x="766763" y="3374566"/>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Llegan 200 mails por día a info@ y cada uno tiene que ir a su área.</a:t>
            </a:r>
            <a:endParaRPr b="0" i="0" sz="900" u="none" cap="none" strike="noStrike">
              <a:solidFill>
                <a:schemeClr val="dk1"/>
              </a:solidFill>
              <a:latin typeface="Calibri"/>
              <a:ea typeface="Calibri"/>
              <a:cs typeface="Calibri"/>
              <a:sym typeface="Calibri"/>
            </a:endParaRPr>
          </a:p>
        </p:txBody>
      </p:sp>
      <p:sp>
        <p:nvSpPr>
          <p:cNvPr id="263" name="Google Shape;263;h58d8aaa4f65511c6_0_0"/>
          <p:cNvSpPr/>
          <p:nvPr/>
        </p:nvSpPr>
        <p:spPr>
          <a:xfrm>
            <a:off x="3291669" y="2553072"/>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h58d8aaa4f65511c6_0_0"/>
          <p:cNvSpPr/>
          <p:nvPr/>
        </p:nvSpPr>
        <p:spPr>
          <a:xfrm>
            <a:off x="3446450" y="2707853"/>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5</a:t>
            </a:r>
            <a:endParaRPr b="0" i="0" sz="1100" u="none" cap="none" strike="noStrike">
              <a:solidFill>
                <a:schemeClr val="dk1"/>
              </a:solidFill>
              <a:latin typeface="Calibri"/>
              <a:ea typeface="Calibri"/>
              <a:cs typeface="Calibri"/>
              <a:sym typeface="Calibri"/>
            </a:endParaRPr>
          </a:p>
        </p:txBody>
      </p:sp>
      <p:sp>
        <p:nvSpPr>
          <p:cNvPr id="265" name="Google Shape;265;h58d8aaa4f65511c6_0_0"/>
          <p:cNvSpPr/>
          <p:nvPr/>
        </p:nvSpPr>
        <p:spPr>
          <a:xfrm>
            <a:off x="3446450" y="2951671"/>
            <a:ext cx="2318700" cy="201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Calificar un lead entrante</a:t>
            </a:r>
            <a:endParaRPr b="0" i="0" sz="1200" u="none" cap="none" strike="noStrike">
              <a:solidFill>
                <a:schemeClr val="dk1"/>
              </a:solidFill>
              <a:latin typeface="Calibri"/>
              <a:ea typeface="Calibri"/>
              <a:cs typeface="Calibri"/>
              <a:sym typeface="Calibri"/>
            </a:endParaRPr>
          </a:p>
        </p:txBody>
      </p:sp>
      <p:sp>
        <p:nvSpPr>
          <p:cNvPr id="266" name="Google Shape;266;h58d8aaa4f65511c6_0_0"/>
          <p:cNvSpPr/>
          <p:nvPr/>
        </p:nvSpPr>
        <p:spPr>
          <a:xfrm>
            <a:off x="3446450" y="3191693"/>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Investigar la empresa, cruzarla con el CRM y decidir si se agenda una demo.</a:t>
            </a:r>
            <a:endParaRPr b="0" i="0" sz="900" u="none" cap="none" strike="noStrike">
              <a:solidFill>
                <a:schemeClr val="dk1"/>
              </a:solidFill>
              <a:latin typeface="Calibri"/>
              <a:ea typeface="Calibri"/>
              <a:cs typeface="Calibri"/>
              <a:sym typeface="Calibri"/>
            </a:endParaRPr>
          </a:p>
        </p:txBody>
      </p:sp>
      <p:sp>
        <p:nvSpPr>
          <p:cNvPr id="267" name="Google Shape;267;h58d8aaa4f65511c6_0_0"/>
          <p:cNvSpPr/>
          <p:nvPr/>
        </p:nvSpPr>
        <p:spPr>
          <a:xfrm>
            <a:off x="5971357" y="2553072"/>
            <a:ext cx="2560800" cy="1296300"/>
          </a:xfrm>
          <a:prstGeom prst="roundRect">
            <a:avLst>
              <a:gd fmla="val 7164" name="adj"/>
            </a:avLst>
          </a:prstGeom>
          <a:solidFill>
            <a:srgbClr val="FDFCFA"/>
          </a:solidFill>
          <a:ln cap="flat" cmpd="sng" w="7150">
            <a:solidFill>
              <a:srgbClr val="E2E0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h58d8aaa4f65511c6_0_0"/>
          <p:cNvSpPr/>
          <p:nvPr/>
        </p:nvSpPr>
        <p:spPr>
          <a:xfrm>
            <a:off x="6126138" y="2707853"/>
            <a:ext cx="23187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100"/>
              <a:buFont typeface="Rubik"/>
              <a:buNone/>
            </a:pPr>
            <a:r>
              <a:rPr b="1" i="0" lang="es" sz="1100" u="none" cap="none" strike="noStrike">
                <a:solidFill>
                  <a:srgbClr val="C2410C"/>
                </a:solidFill>
                <a:latin typeface="Rubik"/>
                <a:ea typeface="Rubik"/>
                <a:cs typeface="Rubik"/>
                <a:sym typeface="Rubik"/>
              </a:rPr>
              <a:t>Caso 6</a:t>
            </a:r>
            <a:endParaRPr b="0" i="0" sz="1100" u="none" cap="none" strike="noStrike">
              <a:solidFill>
                <a:schemeClr val="dk1"/>
              </a:solidFill>
              <a:latin typeface="Calibri"/>
              <a:ea typeface="Calibri"/>
              <a:cs typeface="Calibri"/>
              <a:sym typeface="Calibri"/>
            </a:endParaRPr>
          </a:p>
        </p:txBody>
      </p:sp>
      <p:sp>
        <p:nvSpPr>
          <p:cNvPr id="269" name="Google Shape;269;h58d8aaa4f65511c6_0_0"/>
          <p:cNvSpPr/>
          <p:nvPr/>
        </p:nvSpPr>
        <p:spPr>
          <a:xfrm>
            <a:off x="6126138" y="2951671"/>
            <a:ext cx="2318700" cy="201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7191F"/>
              </a:buClr>
              <a:buSzPts val="1200"/>
              <a:buFont typeface="Rubik"/>
              <a:buNone/>
            </a:pPr>
            <a:r>
              <a:rPr b="1" i="0" lang="es" sz="1200" u="none" cap="none" strike="noStrike">
                <a:solidFill>
                  <a:srgbClr val="17191F"/>
                </a:solidFill>
                <a:latin typeface="Rubik"/>
                <a:ea typeface="Rubik"/>
                <a:cs typeface="Rubik"/>
                <a:sym typeface="Rubik"/>
              </a:rPr>
              <a:t>Reporte semanal de ventas</a:t>
            </a:r>
            <a:endParaRPr b="0" i="0" sz="1200" u="none" cap="none" strike="noStrike">
              <a:solidFill>
                <a:schemeClr val="dk1"/>
              </a:solidFill>
              <a:latin typeface="Calibri"/>
              <a:ea typeface="Calibri"/>
              <a:cs typeface="Calibri"/>
              <a:sym typeface="Calibri"/>
            </a:endParaRPr>
          </a:p>
        </p:txBody>
      </p:sp>
      <p:sp>
        <p:nvSpPr>
          <p:cNvPr id="270" name="Google Shape;270;h58d8aaa4f65511c6_0_0"/>
          <p:cNvSpPr/>
          <p:nvPr/>
        </p:nvSpPr>
        <p:spPr>
          <a:xfrm>
            <a:off x="6126138" y="3191693"/>
            <a:ext cx="2318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4F5A"/>
              </a:buClr>
              <a:buSzPts val="900"/>
              <a:buFont typeface="IBM Plex Sans"/>
              <a:buNone/>
            </a:pPr>
            <a:r>
              <a:rPr b="0" i="0" lang="es" sz="900" u="none" cap="none" strike="noStrike">
                <a:solidFill>
                  <a:srgbClr val="4A4F5A"/>
                </a:solidFill>
                <a:latin typeface="IBM Plex Sans"/>
                <a:ea typeface="IBM Plex Sans"/>
                <a:cs typeface="IBM Plex Sans"/>
                <a:sym typeface="IBM Plex Sans"/>
              </a:rPr>
              <a:t>Todos los lunes, el gerente recibe por mail las ventas de la semana.</a:t>
            </a:r>
            <a:endParaRPr b="0" i="0" sz="900" u="none" cap="none" strike="noStrike">
              <a:solidFill>
                <a:schemeClr val="dk1"/>
              </a:solidFill>
              <a:latin typeface="Calibri"/>
              <a:ea typeface="Calibri"/>
              <a:cs typeface="Calibri"/>
              <a:sym typeface="Calibri"/>
            </a:endParaRPr>
          </a:p>
        </p:txBody>
      </p:sp>
      <p:sp>
        <p:nvSpPr>
          <p:cNvPr id="271" name="Google Shape;271;h58d8aaa4f65511c6_0_0"/>
          <p:cNvSpPr/>
          <p:nvPr/>
        </p:nvSpPr>
        <p:spPr>
          <a:xfrm>
            <a:off x="609600" y="4678710"/>
            <a:ext cx="58866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7F8A"/>
              </a:buClr>
              <a:buSzPts val="900"/>
              <a:buFont typeface="IBM Plex Sans"/>
              <a:buNone/>
            </a:pPr>
            <a:r>
              <a:rPr b="0" i="0" lang="es" sz="900" u="none" cap="none" strike="noStrike">
                <a:solidFill>
                  <a:srgbClr val="7A7F8A"/>
                </a:solidFill>
                <a:latin typeface="IBM Plex Sans"/>
                <a:ea typeface="IBM Plex Sans"/>
                <a:cs typeface="IBM Plex Sans"/>
                <a:sym typeface="IBM Plex Sans"/>
              </a:rPr>
              <a:t>AI Automation Avanzado · Clase 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Regla de oro: </a:t>
            </a:r>
            <a:r>
              <a:rPr b="0" i="0" lang="es" sz="1300" u="none" cap="none" strike="noStrike">
                <a:solidFill>
                  <a:srgbClr val="171717"/>
                </a:solidFill>
                <a:latin typeface="Plus Jakarta Sans Light"/>
                <a:ea typeface="Plus Jakarta Sans Light"/>
                <a:cs typeface="Plus Jakarta Sans Light"/>
                <a:sym typeface="Plus Jakarta Sans Light"/>
              </a:rPr>
              <a:t>mantené lo determinista, delegá lo ambiguo.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Si podés escribir un IF claro: </a:t>
            </a:r>
            <a:r>
              <a:rPr b="0" i="0" lang="es" sz="1300" u="none" cap="none" strike="noStrike">
                <a:solidFill>
                  <a:srgbClr val="171717"/>
                </a:solidFill>
                <a:latin typeface="Plus Jakarta Sans Light"/>
                <a:ea typeface="Plus Jakarta Sans Light"/>
                <a:cs typeface="Plus Jakarta Sans Light"/>
                <a:sym typeface="Plus Jakarta Sans Light"/>
              </a:rPr>
              <a:t>usalo. Es más barato, rápido y predecible.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Reservá el agente </a:t>
            </a:r>
            <a:r>
              <a:rPr b="0" i="0" lang="es" sz="1300" u="none" cap="none" strike="noStrike">
                <a:solidFill>
                  <a:srgbClr val="171717"/>
                </a:solidFill>
                <a:latin typeface="Plus Jakarta Sans Light"/>
                <a:ea typeface="Plus Jakarta Sans Light"/>
                <a:cs typeface="Plus Jakarta Sans Light"/>
                <a:sym typeface="Plus Jakarta Sans Light"/>
              </a:rPr>
              <a:t>para lo que es difícil de codificar: leer un contrato, triaje ambiguo.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No sobre-uses agentes: </a:t>
            </a:r>
            <a:r>
              <a:rPr b="0" i="0" lang="es" sz="1300" u="none" cap="none" strike="noStrike">
                <a:solidFill>
                  <a:srgbClr val="171717"/>
                </a:solidFill>
                <a:latin typeface="Plus Jakarta Sans Light"/>
                <a:ea typeface="Plus Jakarta Sans Light"/>
                <a:cs typeface="Plus Jakarta Sans Light"/>
                <a:sym typeface="Plus Jakarta Sans Light"/>
              </a:rPr>
              <a:t>suman latencia, costo y fragilidad.</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77" name="Google Shape;277;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¿Cuándo usar qué?</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8" name="Google Shape;278;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Criterios de selección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1"/>
          <p:cNvSpPr txBox="1"/>
          <p:nvPr/>
        </p:nvSpPr>
        <p:spPr>
          <a:xfrm>
            <a:off x="739075" y="270285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La autonomía no es falta de control: es control dinámico.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284" name="Google Shape;284;p11"/>
          <p:cNvSpPr txBox="1"/>
          <p:nvPr/>
        </p:nvSpPr>
        <p:spPr>
          <a:xfrm>
            <a:off x="1415425" y="103530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Mantené lo determinista, delegá lo ambiguo.</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90" name="Google Shape;290;p1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Anatomía del AI Agent Node</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Chat Model: </a:t>
            </a:r>
            <a:r>
              <a:rPr b="0" i="0" lang="es" sz="1300" u="none" cap="none" strike="noStrike">
                <a:solidFill>
                  <a:srgbClr val="171717"/>
                </a:solidFill>
                <a:latin typeface="Plus Jakarta Sans Light"/>
                <a:ea typeface="Plus Jakarta Sans Light"/>
                <a:cs typeface="Plus Jakarta Sans Light"/>
                <a:sym typeface="Plus Jakarta Sans Light"/>
              </a:rPr>
              <a:t>el músculo cognitivo (OpenAI o Anthropic) que se acopla al nodo.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System Message: </a:t>
            </a:r>
            <a:r>
              <a:rPr b="0" i="0" lang="es" sz="1300" u="none" cap="none" strike="noStrike">
                <a:solidFill>
                  <a:srgbClr val="171717"/>
                </a:solidFill>
                <a:latin typeface="Plus Jakarta Sans Light"/>
                <a:ea typeface="Plus Jakarta Sans Light"/>
                <a:cs typeface="Plus Jakarta Sans Light"/>
                <a:sym typeface="Plus Jakarta Sans Light"/>
              </a:rPr>
              <a:t>las reglas fijas: rol, tono y restricciones del agente.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Tools: </a:t>
            </a:r>
            <a:r>
              <a:rPr b="0" i="0" lang="es" sz="1300" u="none" cap="none" strike="noStrike">
                <a:solidFill>
                  <a:srgbClr val="171717"/>
                </a:solidFill>
                <a:latin typeface="Plus Jakarta Sans Light"/>
                <a:ea typeface="Plus Jakarta Sans Light"/>
                <a:cs typeface="Plus Jakarta Sans Light"/>
                <a:sym typeface="Plus Jakarta Sans Light"/>
              </a:rPr>
              <a:t>las manos del agente para actuar afuera (planillas, correos, Slack).</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Memory: </a:t>
            </a:r>
            <a:r>
              <a:rPr b="0" i="0" lang="es" sz="1300" u="none" cap="none" strike="noStrike">
                <a:solidFill>
                  <a:srgbClr val="171717"/>
                </a:solidFill>
                <a:latin typeface="Plus Jakarta Sans Light"/>
                <a:ea typeface="Plus Jakarta Sans Light"/>
                <a:cs typeface="Plus Jakarta Sans Light"/>
                <a:sym typeface="Plus Jakarta Sans Light"/>
              </a:rPr>
              <a:t>recuerda inputs y outputs previos para mantener la coherencia.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96" name="Google Shape;296;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Anatomía del nodo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7" name="Google Shape;297;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 estación central del agente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Thought: </a:t>
            </a:r>
            <a:r>
              <a:rPr b="0" i="0" lang="es" sz="1300" u="none" cap="none" strike="noStrike">
                <a:solidFill>
                  <a:srgbClr val="171717"/>
                </a:solidFill>
                <a:latin typeface="Plus Jakarta Sans Light"/>
                <a:ea typeface="Plus Jakarta Sans Light"/>
                <a:cs typeface="Plus Jakarta Sans Light"/>
                <a:sym typeface="Plus Jakarta Sans Light"/>
              </a:rPr>
              <a:t>ves con claridad qué entendió el modelo del pedido.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Tool call: </a:t>
            </a:r>
            <a:r>
              <a:rPr b="0" i="0" lang="es" sz="1300" u="none" cap="none" strike="noStrike">
                <a:solidFill>
                  <a:srgbClr val="171717"/>
                </a:solidFill>
                <a:latin typeface="Plus Jakarta Sans Light"/>
                <a:ea typeface="Plus Jakarta Sans Light"/>
                <a:cs typeface="Plus Jakarta Sans Light"/>
                <a:sym typeface="Plus Jakarta Sans Light"/>
              </a:rPr>
              <a:t>ves qué datos extrajo y qué herramienta llamó.</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Recorrido en verde: </a:t>
            </a:r>
            <a:r>
              <a:rPr b="0" i="0" lang="es" sz="1300" u="none" cap="none" strike="noStrike">
                <a:solidFill>
                  <a:srgbClr val="171717"/>
                </a:solidFill>
                <a:latin typeface="Plus Jakarta Sans Light"/>
                <a:ea typeface="Plus Jakarta Sans Light"/>
                <a:cs typeface="Plus Jakarta Sans Light"/>
                <a:sym typeface="Plus Jakarta Sans Light"/>
              </a:rPr>
              <a:t>comprobás cuántas vueltas le tomó antes del output.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ventaja: </a:t>
            </a:r>
            <a:r>
              <a:rPr b="0" i="0" lang="es" sz="1300" u="none" cap="none" strike="noStrike">
                <a:solidFill>
                  <a:srgbClr val="171717"/>
                </a:solidFill>
                <a:latin typeface="Plus Jakarta Sans Light"/>
                <a:ea typeface="Plus Jakarta Sans Light"/>
                <a:cs typeface="Plus Jakarta Sans Light"/>
                <a:sym typeface="Plus Jakarta Sans Light"/>
              </a:rPr>
              <a:t>transparencia total para supervisar sin ser técnico.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03" name="Google Shape;303;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Auditar el pensamiento</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4" name="Google Shape;304;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Execution Log de n8n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GPT: </a:t>
            </a:r>
            <a:r>
              <a:rPr b="0" i="0" lang="es" sz="1300" u="none" cap="none" strike="noStrike">
                <a:solidFill>
                  <a:srgbClr val="171717"/>
                </a:solidFill>
                <a:latin typeface="Plus Jakarta Sans Light"/>
                <a:ea typeface="Plus Jakarta Sans Light"/>
                <a:cs typeface="Plus Jakarta Sans Light"/>
                <a:sym typeface="Plus Jakarta Sans Light"/>
              </a:rPr>
              <a:t>velocidad y fidelidad estructural. Ideal para CRMs y planillas estrictas.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Claude: </a:t>
            </a:r>
            <a:r>
              <a:rPr b="0" i="0" lang="es" sz="1300" u="none" cap="none" strike="noStrike">
                <a:solidFill>
                  <a:srgbClr val="171717"/>
                </a:solidFill>
                <a:latin typeface="Plus Jakarta Sans Light"/>
                <a:ea typeface="Plus Jakarta Sans Light"/>
                <a:cs typeface="Plus Jakarta Sans Light"/>
                <a:sym typeface="Plus Jakarta Sans Light"/>
              </a:rPr>
              <a:t>razonamiento profundo y contexto extenso. Ideal para triaje, contratos y síntesis.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No elegís por moda: </a:t>
            </a:r>
            <a:r>
              <a:rPr b="0" i="0" lang="es" sz="1300" u="none" cap="none" strike="noStrike">
                <a:solidFill>
                  <a:srgbClr val="171717"/>
                </a:solidFill>
                <a:latin typeface="Plus Jakarta Sans Light"/>
                <a:ea typeface="Plus Jakarta Sans Light"/>
                <a:cs typeface="Plus Jakarta Sans Light"/>
                <a:sym typeface="Plus Jakarta Sans Light"/>
              </a:rPr>
              <a:t>elegís por el tipo de tarea del negocio.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10" name="Google Shape;310;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¿OpenAI o Anthropic?</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11" name="Google Shape;311;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Elegir el modelo con criterio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6"/>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6"/>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18" name="Google Shape;318;p16"/>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19" name="Google Shape;319;p16"/>
          <p:cNvSpPr txBox="1"/>
          <p:nvPr/>
        </p:nvSpPr>
        <p:spPr>
          <a:xfrm>
            <a:off x="5804475" y="2481425"/>
            <a:ext cx="27504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El modelo más grande no siempre es el mejor. Antes de elegir, preguntate qué hace tu agente: ¿opera formatos estrictos o razona sobre texto ambiguo? Esa respuesta define el modelo.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Rol y ámbito: quién es el agente y qué NO puede hacer.</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Objetivo operativo: el resultado comercial exacto de la sesión.</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Reglas de herramientas: cómo y cuándo usar cada conector.</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42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Escalamiento: dónde termina su autonomía y pasa a un humano.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25" name="Google Shape;325;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Anatomía del System Prompt</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6" name="Google Shape;326;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 constitución del agente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2" name="Google Shape;332;p18"/>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Guardrails y robustez</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Guardrails</a:t>
            </a:r>
            <a:endParaRPr b="0" i="0" sz="2400" u="none" cap="none" strike="noStrike">
              <a:solidFill>
                <a:srgbClr val="260700"/>
              </a:solidFill>
              <a:latin typeface="Plus Jakarta Sans"/>
              <a:ea typeface="Plus Jakarta Sans"/>
              <a:cs typeface="Plus Jakarta Sans"/>
              <a:sym typeface="Plus Jakarta Sans"/>
            </a:endParaRPr>
          </a:p>
        </p:txBody>
      </p:sp>
      <p:sp>
        <p:nvSpPr>
          <p:cNvPr id="338" name="Google Shape;338;p19"/>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Límite de iteración</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Acotá las vueltas del ciclo (5-10) para frenar bucles y no quemar créditos.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339" name="Google Shape;339;p19"/>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Mínimo privilegio</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El agente ve herramientas acotadas, nunca la base completa ni permisos totales.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340" name="Google Shape;340;p19"/>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Human-in-the-loop</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Para acciones críticas, el agente prepara y un humano aprueba antes de ejecutar.</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0"/>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47" name="Google Shape;347;p20"/>
          <p:cNvSpPr txBox="1"/>
          <p:nvPr/>
        </p:nvSpPr>
        <p:spPr>
          <a:xfrm>
            <a:off x="730900" y="2015944"/>
            <a:ext cx="8220900" cy="29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recordar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48" name="Google Shape;348;p20"/>
          <p:cNvSpPr txBox="1"/>
          <p:nvPr/>
        </p:nvSpPr>
        <p:spPr>
          <a:xfrm>
            <a:off x="5689100" y="2994750"/>
            <a:ext cx="2865600" cy="17562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En un entorno corporativo real, darle total libertad al agente es un riesgo operativo y financiero. Los guardrails no son opcionales: son lo que hace desplegable a tu sistema.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Agente agujero negro: </a:t>
            </a:r>
            <a:r>
              <a:rPr b="0" i="0" lang="es" sz="1300" u="none" cap="none" strike="noStrike">
                <a:solidFill>
                  <a:srgbClr val="171717"/>
                </a:solidFill>
                <a:latin typeface="Plus Jakarta Sans Light"/>
                <a:ea typeface="Plus Jakarta Sans Light"/>
                <a:cs typeface="Plus Jakarta Sans Light"/>
                <a:sym typeface="Plus Jakarta Sans Light"/>
              </a:rPr>
              <a:t>querer que uno solo haga todo. Dividí: lo lineal prepara, el agente juzga.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Sin memoria: </a:t>
            </a:r>
            <a:r>
              <a:rPr b="0" i="0" lang="es" sz="1300" u="none" cap="none" strike="noStrike">
                <a:solidFill>
                  <a:srgbClr val="171717"/>
                </a:solidFill>
                <a:latin typeface="Plus Jakarta Sans Light"/>
                <a:ea typeface="Plus Jakarta Sans Light"/>
                <a:cs typeface="Plus Jakarta Sans Light"/>
                <a:sym typeface="Plus Jakarta Sans Light"/>
              </a:rPr>
              <a:t>olvida lo que hizo y repite acciones. Conectá Window Buffer Memory.</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Confundir RAG con agente: </a:t>
            </a:r>
            <a:r>
              <a:rPr b="0" i="0" lang="es" sz="1300" u="none" cap="none" strike="noStrike">
                <a:solidFill>
                  <a:srgbClr val="171717"/>
                </a:solidFill>
                <a:latin typeface="Plus Jakarta Sans Light"/>
                <a:ea typeface="Plus Jakarta Sans Light"/>
                <a:cs typeface="Plus Jakarta Sans Light"/>
                <a:sym typeface="Plus Jakarta Sans Light"/>
              </a:rPr>
              <a:t>buscar y responder no es decidir. El agente actúa cuando no encuentra.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54" name="Google Shape;354;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Errores comunes</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55" name="Google Shape;355;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 que separa un demo de producción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2"/>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361" name="Google Shape;361;p22"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67" name="Google Shape;367;p2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Práctica en vivo</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4"/>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4"/>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74" name="Google Shape;374;p24"/>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Ejemplo en Vivo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75" name="Google Shape;375;p24"/>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Build-and-Break. Monto un agente conectado a Google Sheets en vivo, le doy una herramienta con descripción vaga y lo hago fallar: entra en bucle. Después lo reparo reescribiendo la descripción y fijando Max Iterations. Vas a ver el ciclo ReAct romperse y arreglarse en tiempo real.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dejar el nodo central listo para razonar.</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Arrastrar un Chat Trigger o Webhook para capturar el mensaje del usuario.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Sumar el nodo AI Agent y configurarlo en modo Tools Agent.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Conectar el Chat Model nativo (GPT-4o o Claude 3.5 Sonnet).</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agente que recibe input y tiene el cerebro conectado.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81" name="Google Shape;381;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 1: el esqueleto</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82" name="Google Shape;382;p2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Trigger + AI Agent Node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acotar el comportamiento del agente.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Definir rol y ámbito: qué es y qué NO hace.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Declarar el objetivo operativo de la sesión.</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Escribir reglas de herramientas y protocolo de escalamiento.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System Prompt que evita alucinaciones y fija límites.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88" name="Google Shape;388;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 2: la constitución</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89" name="Google Shape;389;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System Prompt modular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darle al agente una acción real en el mundo.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Acoplar lateralmente un conector nativo (Sheets, Gmail o Slack) como Tool.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Escribir una descripción semántica extensa del caso de uso.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Evitar la 'instrucción huérfana': el modelo elige por esa descripción.</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una herramienta que el agente sabe cuándo activar.</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95" name="Google Shape;395;p2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Paso 3: las manos</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96" name="Google Shape;396;p2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Acoplar la herramienta</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hacer el flujo seguro y auditable.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Fijar el límite de iteraciones máximas entre 5 y 10.</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Conectar un nodo final de Slack o Gmail como log de control.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Chequear que las Tools estén acopladas al costado, no en secuencia.</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agente que no se dispara solo y reporta lo que hace.</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02" name="Google Shape;402;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 4: los guardrails</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03" name="Google Shape;403;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Blindaje y observabilidad</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validar y empaquetar el entregable.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Ejecutar el flujo (Execute Workflow) y auditar el recorrido en verde.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Verificar que abra la herramienta y mande el log sin errores.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Exportar el .json y subirlo a GitHub.</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este .json ES tu Pre-entrega 1.</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09" name="Google Shape;409;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5: probar y exportar</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10" name="Google Shape;410;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 n8n a tu repo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0"/>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05</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16" name="Google Shape;416;p30"/>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Pre-entrega 1</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Los pasos 1 a 5 se integran </a:t>
            </a:r>
            <a:r>
              <a:rPr b="0" i="0" lang="es" sz="1300" u="none" cap="none" strike="noStrike">
                <a:solidFill>
                  <a:srgbClr val="171717"/>
                </a:solidFill>
                <a:latin typeface="Plus Jakarta Sans Light"/>
                <a:ea typeface="Plus Jakarta Sans Light"/>
                <a:cs typeface="Plus Jakarta Sans Light"/>
                <a:sym typeface="Plus Jakarta Sans Light"/>
              </a:rPr>
              <a:t>en un flujo de n8n que razona, actúa y reporta.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Es el primer ladrillo </a:t>
            </a:r>
            <a:r>
              <a:rPr b="0" i="0" lang="es" sz="1300" u="none" cap="none" strike="noStrike">
                <a:solidFill>
                  <a:srgbClr val="171717"/>
                </a:solidFill>
                <a:latin typeface="Plus Jakarta Sans Light"/>
                <a:ea typeface="Plus Jakarta Sans Light"/>
                <a:cs typeface="Plus Jakarta Sans Light"/>
                <a:sym typeface="Plus Jakarta Sans Light"/>
              </a:rPr>
              <a:t>del sistema agéntico que vas a construir durante todo el curso.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Entregable: </a:t>
            </a:r>
            <a:r>
              <a:rPr b="0" i="0" lang="es" sz="1300" u="none" cap="none" strike="noStrike">
                <a:solidFill>
                  <a:srgbClr val="171717"/>
                </a:solidFill>
                <a:latin typeface="Plus Jakarta Sans Light"/>
                <a:ea typeface="Plus Jakarta Sans Light"/>
                <a:cs typeface="Plus Jakarta Sans Light"/>
                <a:sym typeface="Plus Jakarta Sans Light"/>
              </a:rPr>
              <a:t>el .json exportado, subido a un repositorio de GitHub.</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22" name="Google Shape;422;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23" name="Google Shape;423;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motor de tu proyecto integrador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Trigger + AI Agent Node </a:t>
            </a:r>
            <a:r>
              <a:rPr b="0" i="0" lang="es" sz="1300" u="none" cap="none" strike="noStrike">
                <a:solidFill>
                  <a:srgbClr val="171717"/>
                </a:solidFill>
                <a:latin typeface="Plus Jakarta Sans Light"/>
                <a:ea typeface="Plus Jakarta Sans Light"/>
                <a:cs typeface="Plus Jakarta Sans Light"/>
                <a:sym typeface="Plus Jakarta Sans Light"/>
              </a:rPr>
              <a:t>en modo Tools Agent, con su Chat Model.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System Prompt modular </a:t>
            </a:r>
            <a:r>
              <a:rPr b="0" i="0" lang="es" sz="1300" u="none" cap="none" strike="noStrike">
                <a:solidFill>
                  <a:srgbClr val="171717"/>
                </a:solidFill>
                <a:latin typeface="Plus Jakarta Sans Light"/>
                <a:ea typeface="Plus Jakarta Sans Light"/>
                <a:cs typeface="Plus Jakarta Sans Light"/>
                <a:sym typeface="Plus Jakarta Sans Light"/>
              </a:rPr>
              <a:t>más al menos una Tool con descripción semántica.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Guardrail de iteración (5-10) </a:t>
            </a:r>
            <a:r>
              <a:rPr b="0" i="0" lang="es" sz="1300" u="none" cap="none" strike="noStrike">
                <a:solidFill>
                  <a:srgbClr val="171717"/>
                </a:solidFill>
                <a:latin typeface="Plus Jakarta Sans Light"/>
                <a:ea typeface="Plus Jakarta Sans Light"/>
                <a:cs typeface="Plus Jakarta Sans Light"/>
                <a:sym typeface="Plus Jakarta Sans Light"/>
              </a:rPr>
              <a:t>y log de observabilidad a Slack o Gmail.</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52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Duración estimada: </a:t>
            </a:r>
            <a:r>
              <a:rPr b="0" i="0" lang="es" sz="1300" u="none" cap="none" strike="noStrike">
                <a:solidFill>
                  <a:srgbClr val="171717"/>
                </a:solidFill>
                <a:latin typeface="Plus Jakarta Sans Light"/>
                <a:ea typeface="Plus Jakarta Sans Light"/>
                <a:cs typeface="Plus Jakarta Sans Light"/>
                <a:sym typeface="Plus Jakarta Sans Light"/>
              </a:rPr>
              <a:t>2-3 horas    </a:t>
            </a:r>
            <a:r>
              <a:rPr b="0" i="0" lang="es" sz="1300" u="none" cap="none" strike="noStrike">
                <a:solidFill>
                  <a:srgbClr val="FF632B"/>
                </a:solidFill>
                <a:latin typeface="Plus Jakarta Sans ExtraBold"/>
                <a:ea typeface="Plus Jakarta Sans ExtraBold"/>
                <a:cs typeface="Plus Jakarta Sans ExtraBold"/>
                <a:sym typeface="Plus Jakarta Sans ExtraBold"/>
              </a:rPr>
              <a:t>Entrega: </a:t>
            </a:r>
            <a:r>
              <a:rPr b="0" i="0" lang="es" sz="1300" u="none" cap="none" strike="noStrike">
                <a:solidFill>
                  <a:srgbClr val="171717"/>
                </a:solidFill>
                <a:latin typeface="Plus Jakarta Sans Light"/>
                <a:ea typeface="Plus Jakarta Sans Light"/>
                <a:cs typeface="Plus Jakarta Sans Light"/>
                <a:sym typeface="Plus Jakarta Sans Light"/>
              </a:rPr>
              <a:t>.json en GitHub (link)</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29" name="Google Shape;429;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Tu misión</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30" name="Google Shape;430;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Construir el agente base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Construí el flujo siguiendo los pasos 1 a 5 de la práctica.</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Nombralo checkpoint1_nombre_apellido.json.</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Probá con Execute Workflow y auditá el log en verde.</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Exportá el .json y subilo a un repo de GitHub.</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42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Compartí el link del repositorio.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36" name="Google Shape;436;p3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Pasos de la entrega</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37" name="Google Shape;437;p3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Del lienzo al link</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Observabilidad — 35%: </a:t>
            </a:r>
            <a:r>
              <a:rPr b="0" i="0" lang="es" sz="1300" u="none" cap="none" strike="noStrike">
                <a:solidFill>
                  <a:srgbClr val="171717"/>
                </a:solidFill>
                <a:latin typeface="Plus Jakarta Sans Light"/>
                <a:ea typeface="Plus Jakarta Sans Light"/>
                <a:cs typeface="Plus Jakarta Sans Light"/>
                <a:sym typeface="Plus Jakarta Sans Light"/>
              </a:rPr>
              <a:t>un nodo reporta la acción final a Slack/Gmail ('Tarea completada').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Arquitectura no-code — 30%: </a:t>
            </a:r>
            <a:r>
              <a:rPr b="0" i="0" lang="es" sz="1300" u="none" cap="none" strike="noStrike">
                <a:solidFill>
                  <a:srgbClr val="171717"/>
                </a:solidFill>
                <a:latin typeface="Plus Jakarta Sans Light"/>
                <a:ea typeface="Plus Jakarta Sans Light"/>
                <a:cs typeface="Plus Jakarta Sans Light"/>
                <a:sym typeface="Plus Jakarta Sans Light"/>
              </a:rPr>
              <a:t>las Tools acopladas al costado, nunca como bloques secuenciales.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Guardrails — 35%: </a:t>
            </a:r>
            <a:r>
              <a:rPr b="0" i="0" lang="es" sz="1300" u="none" cap="none" strike="noStrike">
                <a:solidFill>
                  <a:srgbClr val="171717"/>
                </a:solidFill>
                <a:latin typeface="Plus Jakarta Sans Light"/>
                <a:ea typeface="Plus Jakarta Sans Light"/>
                <a:cs typeface="Plus Jakarta Sans Light"/>
                <a:sym typeface="Plus Jakarta Sans Light"/>
              </a:rPr>
              <a:t>límite de iteración 5-10 más log automático de auditoría.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43" name="Google Shape;443;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¿Cómo se evalúa?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44" name="Google Shape;444;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Rúbrica sobre 100 · Aprobás con 70</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Ya tenés: </a:t>
            </a:r>
            <a:r>
              <a:rPr b="0" i="0" lang="es" sz="1300" u="none" cap="none" strike="noStrike">
                <a:solidFill>
                  <a:srgbClr val="171717"/>
                </a:solidFill>
                <a:latin typeface="Plus Jakarta Sans Light"/>
                <a:ea typeface="Plus Jakarta Sans Light"/>
                <a:cs typeface="Plus Jakarta Sans Light"/>
                <a:sym typeface="Plus Jakarta Sans Light"/>
              </a:rPr>
              <a:t>un agente base que razona, usa una herramienta y reporta.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Módulo 2: </a:t>
            </a:r>
            <a:r>
              <a:rPr b="0" i="0" lang="es" sz="1300" u="none" cap="none" strike="noStrike">
                <a:solidFill>
                  <a:srgbClr val="171717"/>
                </a:solidFill>
                <a:latin typeface="Plus Jakarta Sans Light"/>
                <a:ea typeface="Plus Jakarta Sans Light"/>
                <a:cs typeface="Plus Jakarta Sans Light"/>
                <a:sym typeface="Plus Jakarta Sans Light"/>
              </a:rPr>
              <a:t>Arquitectura Multi-Agente, varios agentes que colaboran.</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conexión: </a:t>
            </a:r>
            <a:r>
              <a:rPr b="0" i="0" lang="es" sz="1300" u="none" cap="none" strike="noStrike">
                <a:solidFill>
                  <a:srgbClr val="171717"/>
                </a:solidFill>
                <a:latin typeface="Plus Jakarta Sans Light"/>
                <a:ea typeface="Plus Jakarta Sans Light"/>
                <a:cs typeface="Plus Jakarta Sans Light"/>
                <a:sym typeface="Plus Jakarta Sans Light"/>
              </a:rPr>
              <a:t>este agente deja de trabajar solo y entra a un equipo Manager-Worker.</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Para llevar: </a:t>
            </a:r>
            <a:r>
              <a:rPr b="0" i="0" lang="es" sz="1300" u="none" cap="none" strike="noStrike">
                <a:solidFill>
                  <a:srgbClr val="171717"/>
                </a:solidFill>
                <a:latin typeface="Plus Jakarta Sans Light"/>
                <a:ea typeface="Plus Jakarta Sans Light"/>
                <a:cs typeface="Plus Jakarta Sans Light"/>
                <a:sym typeface="Plus Jakarta Sans Light"/>
              </a:rPr>
              <a:t>un buen agente no hace todo; hace bien una sola cosa.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450" name="Google Shape;450;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51" name="Google Shape;451;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Puente al Módulo 2</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6"/>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Abrimos el espacio para dudas y escenarios de tu industria.</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457" name="Google Shape;457;p36"/>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7"/>
          <p:cNvSpPr txBox="1"/>
          <p:nvPr/>
        </p:nvSpPr>
        <p:spPr>
          <a:xfrm>
            <a:off x="571500" y="2392650"/>
            <a:ext cx="69774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900"/>
              <a:buFont typeface="Arial"/>
              <a:buNone/>
            </a:pPr>
            <a:r>
              <a:rPr b="0" i="0" lang="es" sz="4900" u="none" cap="none" strike="noStrike">
                <a:solidFill>
                  <a:srgbClr val="F8F2E8"/>
                </a:solidFill>
                <a:latin typeface="Plus Jakarta Sans ExtraBold"/>
                <a:ea typeface="Plus Jakarta Sans ExtraBold"/>
                <a:cs typeface="Plus Jakarta Sans ExtraBold"/>
                <a:sym typeface="Plus Jakarta Sans ExtraBold"/>
              </a:rPr>
              <a:t>¡Gracias por </a:t>
            </a:r>
            <a:r>
              <a:rPr b="0" i="0" lang="es" sz="4900" u="none" cap="none" strike="noStrike">
                <a:solidFill>
                  <a:srgbClr val="FDAB2E"/>
                </a:solidFill>
                <a:latin typeface="Plus Jakarta Sans ExtraBold"/>
                <a:ea typeface="Plus Jakarta Sans ExtraBold"/>
                <a:cs typeface="Plus Jakarta Sans ExtraBold"/>
                <a:sym typeface="Plus Jakarta Sans ExtraBold"/>
              </a:rPr>
              <a:t>estudiar </a:t>
            </a:r>
            <a:r>
              <a:rPr b="0" i="0" lang="es" sz="4900" u="none" cap="none" strike="noStrike">
                <a:solidFill>
                  <a:srgbClr val="F8F2E8"/>
                </a:solidFill>
                <a:latin typeface="Plus Jakarta Sans ExtraBold"/>
                <a:ea typeface="Plus Jakarta Sans ExtraBold"/>
                <a:cs typeface="Plus Jakarta Sans ExtraBold"/>
                <a:sym typeface="Plus Jakarta Sans ExtraBold"/>
              </a:rPr>
              <a:t>con nosotros!</a:t>
            </a:r>
            <a:endParaRPr b="0" i="0" sz="49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463" name="Google Shape;463;p37"/>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F8F2E8"/>
              </a:solidFill>
              <a:latin typeface="Plus Jakarta Sans"/>
              <a:ea typeface="Plus Jakarta Sans"/>
              <a:cs typeface="Plus Jakarta Sans"/>
              <a:sym typeface="Plus Jakarta Sans"/>
            </a:endParaRPr>
          </a:p>
        </p:txBody>
      </p:sp>
      <p:pic>
        <p:nvPicPr>
          <p:cNvPr id="464" name="Google Shape;464;p37" title="Group 1321317428.png"/>
          <p:cNvPicPr preferRelativeResize="0"/>
          <p:nvPr/>
        </p:nvPicPr>
        <p:blipFill rotWithShape="1">
          <a:blip r:embed="rId3">
            <a:alphaModFix/>
          </a:blip>
          <a:srcRect b="0" l="0" r="0" t="0"/>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